
<file path=[Content_Types].xml><?xml version="1.0" encoding="utf-8"?>
<Types xmlns="http://schemas.openxmlformats.org/package/2006/content-types">
  <Default Extension="xml" ContentType="application/xml"/>
  <Default Extension="xls" ContentType="application/vnd.ms-exce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26.xml" ContentType="application/vnd.openxmlformats-officedocument.presentationml.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8.xml" ContentType="application/vnd.openxmlformats-officedocument.presentationml.slideLayout+xml"/>
  <Override PartName="/docProps/core.xml" ContentType="application/vnd.openxmlformats-package.core-properties+xml"/>
  <Override PartName="/ppt/charts/chart1.xml" ContentType="application/vnd.openxmlformats-officedocument.drawingml.chart+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charts/colors1.xml" ContentType="application/vnd.ms-office.chartcolorstyle+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viewProps.xml" ContentType="application/vnd.openxmlformats-officedocument.presentationml.viewProps+xml"/>
  <Override PartName="/ppt/slideMasters/slideMaster1.xml" ContentType="application/vnd.openxmlformats-officedocument.presentationml.slideMaster+xml"/>
  <Override PartName="/ppt/slides/slide2.xml" ContentType="application/vnd.openxmlformats-officedocument.presentationml.slide+xml"/>
  <Override PartName="/ppt/charts/style1.xml" ContentType="application/vnd.ms-office.chartstyl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3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2D5ABB26-0587-4C30-8999-92F81FD0307C}">
  <a:tblStyle styleId="{2D5ABB26-0587-4C30-8999-92F81FD0307C}" styleName="No Style, No Grid">
    <a:wholeTbl>
      <a:tcTxStyle>
        <a:fontRef idx="minor">
          <a:srgbClr val="000000"/>
        </a:fontRef>
        <a:schemeClr val="tx1"/>
      </a:tcTxStyle>
      <a:tcStyle>
        <a:tcBdr>
          <a:left>
            <a:ln w="12700">
              <a:noFill/>
            </a:ln>
          </a:left>
          <a:right>
            <a:ln w="12700">
              <a:noFill/>
            </a:ln>
          </a:right>
          <a:top>
            <a:ln w="12700">
              <a:noFill/>
            </a:ln>
          </a:top>
          <a:bottom>
            <a:ln w="12700">
              <a:noFill/>
            </a:ln>
          </a:bottom>
          <a:insideH>
            <a:ln w="12700">
              <a:noFill/>
            </a:ln>
          </a:insideH>
          <a:insideV>
            <a:ln w="12700">
              <a:noFill/>
            </a:ln>
          </a:insideV>
        </a:tcBdr>
        <a:fill>
          <a:no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49" d="100"/>
          <a:sy n="49" d="100"/>
        </p:scale>
        <p:origin x="485" y="29"/>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notesMaster" Target="notesMasters/notesMaster1.xml"/><Relationship Id="rId31" Type="http://schemas.openxmlformats.org/officeDocument/2006/relationships/presProps" Target="presProps.xml" /><Relationship Id="rId32" Type="http://schemas.openxmlformats.org/officeDocument/2006/relationships/tableStyles" Target="tableStyles.xml" /><Relationship Id="rId33"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oleObject" Target="/home/chriss/Desktop/Engineering_For_Sustainability/Fundamentals_of_Personal_and_Social_Competences/week_1/day_2/tasks/28177_HOFSTEDE.xls" TargetMode="External"/><Relationship Id="rId2" Type="http://schemas.microsoft.com/office/2011/relationships/chartStyle" Target="style1.xml" /><Relationship Id="rId3"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de-DE"/>
  <c:roundedCorners val="0"/>
  <mc:AlternateContent>
    <mc:Choice Requires="c14">
      <c14:style val="102"/>
    </mc:Choice>
    <mc:Fallback>
      <c:style val="2"/>
    </mc:Fallback>
  </mc:AlternateContent>
  <c:chart>
    <c:title>
      <c:tx>
        <c:rich>
          <a:bodyPr rot="0" spcFirstLastPara="1" vertOverflow="ellipsis" vert="horz" wrap="square" anchor="ctr" anchorCtr="1"/>
          <a:lstStyle/>
          <a:p>
            <a:pPr>
              <a:defRPr sz="1400" b="0" i="0" u="none" strike="noStrike" spc="0">
                <a:solidFill>
                  <a:schemeClr val="tx1">
                    <a:lumMod val="65000"/>
                    <a:lumOff val="35000"/>
                  </a:schemeClr>
                </a:solidFill>
                <a:latin typeface="+mn-lt"/>
                <a:ea typeface="+mn-ea"/>
                <a:cs typeface="+mn-cs"/>
              </a:defRPr>
            </a:pPr>
            <a:r>
              <a:rPr lang="en-GB"/>
              <a:t>Culutural Perceptions </a:t>
            </a:r>
            <a:endParaRPr/>
          </a:p>
        </c:rich>
      </c:tx>
      <c:layout/>
      <c:overlay val="0"/>
      <c:spPr bwMode="auto">
        <a:prstGeom prst="rect">
          <a:avLst/>
        </a:prstGeom>
        <a:noFill/>
        <a:ln>
          <a:noFill/>
        </a:ln>
        <a:effectLst/>
      </c:spPr>
      <c:txPr>
        <a:bodyPr rot="0" spcFirstLastPara="1" vertOverflow="ellipsis" vert="horz" wrap="square" anchor="ctr" anchorCtr="1"/>
        <a:lstStyle/>
        <a:p>
          <a:pPr>
            <a:defRPr sz="1400" b="0" i="0" u="none" strike="noStrike" spc="0">
              <a:solidFill>
                <a:schemeClr val="tx1">
                  <a:lumMod val="65000"/>
                  <a:lumOff val="35000"/>
                </a:schemeClr>
              </a:solidFill>
              <a:latin typeface="+mn-lt"/>
              <a:ea typeface="+mn-ea"/>
              <a:cs typeface="+mn-cs"/>
            </a:defRPr>
          </a:pPr>
          <a:endParaRPr lang="de-DE"/>
        </a:p>
      </c:txPr>
    </c:title>
    <c:autoTitleDeleted val="0"/>
    <c:plotArea>
      <c:layout/>
      <c:barChart>
        <c:barDir val="col"/>
        <c:grouping val="clustered"/>
        <c:varyColors val="0"/>
        <c:ser>
          <c:idx val="0"/>
          <c:order val="0"/>
          <c:tx>
            <c:strRef>
              <c:f>Tabelle1!$S$39</c:f>
              <c:strCache>
                <c:ptCount val="1"/>
                <c:pt idx="0">
                  <c:v>Cameroon</c:v>
                </c:pt>
              </c:strCache>
            </c:strRef>
          </c:tx>
          <c:spPr bwMode="auto">
            <a:prstGeom prst="rect">
              <a:avLst/>
            </a:prstGeom>
            <a:solidFill>
              <a:srgbClr val="C00000"/>
            </a:solidFill>
            <a:ln>
              <a:noFill/>
            </a:ln>
            <a:effectLst/>
          </c:spPr>
          <c:invertIfNegative val="0"/>
          <c:val>
            <c:numRef>
              <c:f>Tabelle1!$S$40:$S$43</c:f>
              <c:numCache>
                <c:formatCode>General</c:formatCode>
                <c:ptCount val="4"/>
                <c:pt idx="0">
                  <c:v>80</c:v>
                </c:pt>
                <c:pt idx="1">
                  <c:v>30</c:v>
                </c:pt>
                <c:pt idx="2">
                  <c:v>20</c:v>
                </c:pt>
                <c:pt idx="3">
                  <c:v>60</c:v>
                </c:pt>
              </c:numCache>
            </c:numRef>
          </c:val>
        </c:ser>
        <c:ser>
          <c:idx val="1"/>
          <c:order val="1"/>
          <c:tx>
            <c:strRef>
              <c:f>Tabelle1!$T$39</c:f>
              <c:strCache>
                <c:ptCount val="1"/>
                <c:pt idx="0">
                  <c:v>HSRW</c:v>
                </c:pt>
              </c:strCache>
            </c:strRef>
          </c:tx>
          <c:spPr bwMode="auto">
            <a:prstGeom prst="rect">
              <a:avLst/>
            </a:prstGeom>
            <a:solidFill>
              <a:schemeClr val="accent1"/>
            </a:solidFill>
            <a:ln>
              <a:noFill/>
            </a:ln>
            <a:effectLst/>
          </c:spPr>
          <c:invertIfNegative val="0"/>
          <c:val>
            <c:numRef>
              <c:f>Tabelle1!$T$40:$T$43</c:f>
              <c:numCache>
                <c:formatCode>General</c:formatCode>
                <c:ptCount val="4"/>
                <c:pt idx="0">
                  <c:v>40</c:v>
                </c:pt>
                <c:pt idx="1">
                  <c:v>80</c:v>
                </c:pt>
                <c:pt idx="2">
                  <c:v>90</c:v>
                </c:pt>
                <c:pt idx="3">
                  <c:v>60</c:v>
                </c:pt>
              </c:numCache>
            </c:numRef>
          </c:val>
        </c:ser>
        <c:ser>
          <c:idx val="2"/>
          <c:order val="2"/>
          <c:tx>
            <c:strRef>
              <c:f>Tabelle1!$U$39</c:f>
              <c:strCache>
                <c:ptCount val="1"/>
                <c:pt idx="0">
                  <c:v>Me</c:v>
                </c:pt>
              </c:strCache>
            </c:strRef>
          </c:tx>
          <c:spPr bwMode="auto">
            <a:prstGeom prst="rect">
              <a:avLst/>
            </a:prstGeom>
            <a:solidFill>
              <a:schemeClr val="accent3"/>
            </a:solidFill>
            <a:ln>
              <a:noFill/>
            </a:ln>
            <a:effectLst/>
          </c:spPr>
          <c:invertIfNegative val="0"/>
          <c:val>
            <c:numRef>
              <c:f>Tabelle1!$U$40:$U$43</c:f>
              <c:numCache>
                <c:formatCode>General</c:formatCode>
                <c:ptCount val="4"/>
                <c:pt idx="0">
                  <c:v>0</c:v>
                </c:pt>
                <c:pt idx="1">
                  <c:v>0</c:v>
                </c:pt>
                <c:pt idx="2">
                  <c:v>0</c:v>
                </c:pt>
                <c:pt idx="3">
                  <c:v>0</c:v>
                </c:pt>
              </c:numCache>
            </c:numRef>
          </c:val>
        </c:ser>
        <c:dLbls>
          <c:showBubbleSize val="0"/>
          <c:showCatName val="0"/>
          <c:showLeaderLines val="0"/>
          <c:showLegendKey val="0"/>
          <c:showPercent val="0"/>
          <c:showSerName val="0"/>
          <c:showVal val="0"/>
        </c:dLbls>
        <c:gapWidth val="219"/>
        <c:overlap val="-26"/>
        <c:axId val="533057979"/>
        <c:axId val="533057980"/>
      </c:barChart>
      <c:catAx>
        <c:axId val="533057979"/>
        <c:scaling>
          <c:orientation val="minMax"/>
        </c:scaling>
        <c:delete val="0"/>
        <c:axPos val="b"/>
        <c:numFmt formatCode="General" sourceLinked="1"/>
        <c:majorTickMark val="none"/>
        <c:minorTickMark val="none"/>
        <c:tickLblPos val="nextTo"/>
        <c:spPr bwMode="auto">
          <a:prstGeom prst="rect">
            <a:avLst/>
          </a:prstGeom>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a:solidFill>
                  <a:schemeClr val="tx1">
                    <a:lumMod val="65000"/>
                    <a:lumOff val="35000"/>
                  </a:schemeClr>
                </a:solidFill>
                <a:latin typeface="Calibri"/>
                <a:ea typeface="Arial"/>
                <a:cs typeface="Arial"/>
              </a:defRPr>
            </a:pPr>
            <a:endParaRPr lang="de-DE"/>
          </a:p>
        </c:txPr>
        <c:crossAx val="533057980"/>
        <c:crosses val="autoZero"/>
        <c:auto val="1"/>
        <c:lblAlgn val="ctr"/>
        <c:lblOffset val="100"/>
        <c:noMultiLvlLbl val="0"/>
      </c:catAx>
      <c:valAx>
        <c:axId val="533057980"/>
        <c:scaling>
          <c:orientation val="minMax"/>
          <c:max val="100.000000"/>
        </c:scaling>
        <c:delete val="0"/>
        <c:axPos val="l"/>
        <c:majorGridlines>
          <c:spPr bwMode="auto">
            <a:prstGeom prst="rect">
              <a:avLst/>
            </a:prstGeom>
            <a:ln w="9525" cap="flat" cmpd="sng" algn="ctr">
              <a:solidFill>
                <a:schemeClr val="tx1">
                  <a:lumMod val="15000"/>
                  <a:lumOff val="85000"/>
                </a:schemeClr>
              </a:solidFill>
              <a:round/>
            </a:ln>
            <a:effectLst/>
          </c:spPr>
        </c:majorGridlines>
        <c:numFmt formatCode="General" sourceLinked="1"/>
        <c:majorTickMark val="none"/>
        <c:minorTickMark val="none"/>
        <c:tickLblPos val="nextTo"/>
        <c:spPr bwMode="auto">
          <a:prstGeom prst="rect">
            <a:avLst/>
          </a:prstGeom>
          <a:noFill/>
          <a:ln>
            <a:noFill/>
          </a:ln>
          <a:effectLst/>
        </c:spPr>
        <c:txPr>
          <a:bodyPr rot="-60000000" spcFirstLastPara="1" vertOverflow="ellipsis" vert="horz" wrap="square" anchor="ctr" anchorCtr="1"/>
          <a:lstStyle/>
          <a:p>
            <a:pPr>
              <a:defRPr sz="900" b="0" i="0" u="none" strike="noStrike">
                <a:solidFill>
                  <a:schemeClr val="tx1">
                    <a:lumMod val="65000"/>
                    <a:lumOff val="35000"/>
                  </a:schemeClr>
                </a:solidFill>
                <a:latin typeface="Calibri"/>
                <a:ea typeface="Arial"/>
                <a:cs typeface="Arial"/>
              </a:defRPr>
            </a:pPr>
            <a:endParaRPr lang="de-DE"/>
          </a:p>
        </c:txPr>
        <c:crossAx val="533057979"/>
        <c:crosses val="autoZero"/>
        <c:crossBetween val="between"/>
      </c:valAx>
      <c:spPr bwMode="auto">
        <a:prstGeom prst="rect">
          <a:avLst/>
        </a:prstGeom>
        <a:noFill/>
        <a:ln>
          <a:noFill/>
        </a:ln>
        <a:effectLst/>
      </c:spPr>
    </c:plotArea>
    <c:legend>
      <c:legendPos val="b"/>
      <c:layout>
        <c:manualLayout>
          <c:xMode val="edge"/>
          <c:yMode val="edge"/>
          <c:x val="0.430510"/>
          <c:y val="0.897160"/>
          <c:w val="0.308550"/>
          <c:h val="0.102200"/>
        </c:manualLayout>
      </c:layout>
      <c:overlay val="0"/>
      <c:spPr bwMode="auto">
        <a:prstGeom prst="rect">
          <a:avLst/>
        </a:prstGeom>
        <a:noFill/>
        <a:ln>
          <a:noFill/>
        </a:ln>
        <a:effectLst/>
      </c:spPr>
      <c:txPr>
        <a:bodyPr rot="0" spcFirstLastPara="1" vertOverflow="ellipsis" vert="horz" wrap="square" anchor="ctr" anchorCtr="1"/>
        <a:lstStyle/>
        <a:p>
          <a:pPr>
            <a:defRPr sz="1650" b="0" i="0" u="none" strike="noStrike">
              <a:solidFill>
                <a:schemeClr val="tx1">
                  <a:lumMod val="65000"/>
                  <a:lumOff val="35000"/>
                </a:schemeClr>
              </a:solidFill>
              <a:latin typeface="+mn-lt"/>
              <a:ea typeface="+mn-ea"/>
              <a:cs typeface="+mn-cs"/>
            </a:defRPr>
          </a:pPr>
          <a:endParaRPr lang="de-DE"/>
        </a:p>
      </c:txPr>
    </c:legend>
    <c:plotVisOnly val="1"/>
    <c:dispBlanksAs val="gap"/>
    <c:showDLblsOverMax val="0"/>
  </c:chart>
  <c:spPr bwMode="auto">
    <a:xfrm rot="0">
      <a:off x="7381503" y="2394124"/>
      <a:ext cx="9557492" cy="6464953"/>
    </a:xfrm>
    <a:prstGeom prst="rect">
      <a:avLst/>
    </a:prstGeom>
    <a:solidFill>
      <a:schemeClr val="bg1"/>
    </a:solidFill>
    <a:ln w="9525" cap="flat" cmpd="sng" algn="ctr">
      <a:solidFill>
        <a:schemeClr val="tx1">
          <a:lumMod val="15000"/>
          <a:lumOff val="85000"/>
        </a:schemeClr>
      </a:solidFill>
      <a:round/>
    </a:ln>
    <a:effectLst/>
  </c:spPr>
  <c:txPr>
    <a:bodyPr/>
    <a:lstStyle/>
    <a:p>
      <a:pPr>
        <a:defRPr/>
      </a:pPr>
      <a:endParaRPr lang="de-DE"/>
    </a:p>
  </c:txPr>
  <c:externalData r:id="rId1"/>
  <c:printSettings>
    <c:headerFooter/>
    <c:pageMargins l="0.69999999999999996" r="0.69999999999999996" t="0.78739999999999999" b="0.78739999999999999" header="0.29999999999999999" footer="0.29999999999999999"/>
    <c:pageSetup/>
  </c:printSettings>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cs:axisTitle>
  <cs:categoryAxis>
    <cs:lnRef idx="0"/>
    <cs:fillRef idx="0"/>
    <cs:effectRef idx="0"/>
    <cs:fontRef idx="minor">
      <a:schemeClr val="tx1">
        <a:lumMod val="65000"/>
        <a:lumOff val="35000"/>
      </a:schemeClr>
    </cs:fontRef>
    <cs:spPr bwMode="auto">
      <a:prstGeom prst="rect">
        <a:avLst/>
      </a:prstGeom>
      <a:ln w="9525" cap="flat" cmpd="sng" algn="ctr">
        <a:solidFill>
          <a:schemeClr val="tx1">
            <a:lumMod val="15000"/>
            <a:lumOff val="85000"/>
          </a:schemeClr>
        </a:solidFill>
        <a:round/>
      </a:ln>
    </cs:spPr>
    <cs:defRPr sz="900"/>
  </cs:categoryAxis>
  <cs:chartArea>
    <cs:lnRef idx="0"/>
    <cs:fillRef idx="0"/>
    <cs:effectRef idx="0"/>
    <cs:fontRef idx="minor">
      <a:schemeClr val="tx1"/>
    </cs:fontRef>
    <cs:spPr bwMode="auto">
      <a:prstGeom prst="rect">
        <a:avLst/>
      </a:prstGeom>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75000"/>
        <a:lumOff val="25000"/>
      </a:schemeClr>
    </cs:fontRef>
    <cs:defRPr sz="900"/>
  </cs:dataLabel>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bwMode="auto">
      <a:prstGeom prst="rect">
        <a:avLst/>
      </a:prstGeom>
      <a:ln w="28575" cap="rnd">
        <a:solidFill>
          <a:schemeClr val="phClr"/>
        </a:solidFill>
        <a:round/>
      </a:ln>
    </cs:spPr>
  </cs:dataPointLine>
  <cs:dataPointMarker>
    <cs:lnRef idx="0">
      <cs:styleClr val="auto"/>
    </cs:lnRef>
    <cs:fillRef idx="1">
      <cs:styleClr val="auto"/>
    </cs:fillRef>
    <cs:effectRef idx="0"/>
    <cs:fontRef idx="minor">
      <a:schemeClr val="tx1"/>
    </cs:fontRef>
    <cs:spPr bwMode="auto">
      <a:prstGeom prst="rect">
        <a:avLst/>
      </a:prstGeom>
      <a:ln w="9525">
        <a:solidFill>
          <a:schemeClr val="phClr"/>
        </a:solidFill>
      </a:ln>
    </cs:spPr>
  </cs:dataPointMarker>
  <cs:dataPointWireframe>
    <cs:lnRef idx="0">
      <cs:styleClr val="auto"/>
    </cs:lnRef>
    <cs:fillRef idx="1"/>
    <cs:effectRef idx="0"/>
    <cs:fontRef idx="minor">
      <a:schemeClr val="tx1"/>
    </cs:fontRef>
    <cs:spPr bwMode="auto">
      <a:prstGeom prst="rect">
        <a:avLst/>
      </a:prstGeom>
      <a:ln w="9525" cap="rnd">
        <a:solidFill>
          <a:schemeClr val="phClr"/>
        </a:solidFill>
        <a:round/>
      </a:ln>
    </cs:spPr>
  </cs:dataPointWireframe>
  <cs:dataTable>
    <cs:lnRef idx="0"/>
    <cs:fillRef idx="0"/>
    <cs:effectRef idx="0"/>
    <cs:fontRef idx="minor">
      <a:schemeClr val="tx1">
        <a:lumMod val="65000"/>
        <a:lumOff val="35000"/>
      </a:schemeClr>
    </cs:fontRef>
    <cs:spPr bwMode="auto">
      <a:prstGeom prst="rect">
        <a:avLst/>
      </a:prstGeom>
      <a:noFill/>
      <a:ln w="9525" cap="flat" cmpd="sng" algn="ctr">
        <a:solidFill>
          <a:schemeClr val="tx1">
            <a:lumMod val="15000"/>
            <a:lumOff val="85000"/>
          </a:schemeClr>
        </a:solidFill>
        <a:round/>
      </a:ln>
    </cs:spPr>
    <cs:defRPr sz="900"/>
  </cs:dataTable>
  <cs:downBar>
    <cs:lnRef idx="0"/>
    <cs:fillRef idx="0"/>
    <cs:effectRef idx="0"/>
    <cs:fontRef idx="minor">
      <a:schemeClr val="dk1"/>
    </cs:fontRef>
    <cs:spPr bwMode="auto">
      <a:prstGeom prst="rect">
        <a:avLst/>
      </a:prstGeom>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dropLine>
  <cs:errorBar>
    <cs:lnRef idx="0"/>
    <cs:fillRef idx="0"/>
    <cs:effectRef idx="0"/>
    <cs:fontRef idx="minor">
      <a:schemeClr val="tx1"/>
    </cs:fontRef>
    <cs:spPr bwMode="auto">
      <a:prstGeom prst="rect">
        <a:avLst/>
      </a:prstGeom>
      <a:ln w="9525" cap="flat" cmpd="sng" algn="ctr">
        <a:solidFill>
          <a:schemeClr val="tx1">
            <a:lumMod val="65000"/>
            <a:lumOff val="35000"/>
          </a:schemeClr>
        </a:solidFill>
        <a:round/>
      </a:ln>
    </cs:spPr>
  </cs:errorBar>
  <cs:floor>
    <cs:lnRef idx="0"/>
    <cs:fillRef idx="0"/>
    <cs:effectRef idx="0"/>
    <cs:fontRef idx="minor">
      <a:schemeClr val="tx1"/>
    </cs:fontRef>
    <cs:spPr bwMode="auto">
      <a:prstGeom prst="rect">
        <a:avLst/>
      </a:prstGeom>
      <a:noFill/>
      <a:ln>
        <a:noFill/>
      </a:ln>
    </cs:spPr>
  </cs:floor>
  <cs:gridlineMajor>
    <cs:lnRef idx="0"/>
    <cs:fillRef idx="0"/>
    <cs:effectRef idx="0"/>
    <cs:fontRef idx="minor">
      <a:schemeClr val="tx1"/>
    </cs:fontRef>
    <cs:spPr bwMode="auto">
      <a:prstGeom prst="rect">
        <a:avLst/>
      </a:prstGeom>
      <a:ln w="9525" cap="flat" cmpd="sng" algn="ctr">
        <a:solidFill>
          <a:schemeClr val="tx1">
            <a:lumMod val="15000"/>
            <a:lumOff val="85000"/>
          </a:schemeClr>
        </a:solidFill>
        <a:round/>
      </a:ln>
    </cs:spPr>
  </cs:gridlineMajor>
  <cs:gridlineMinor>
    <cs:lnRef idx="0"/>
    <cs:fillRef idx="0"/>
    <cs:effectRef idx="0"/>
    <cs:fontRef idx="minor">
      <a:schemeClr val="tx1"/>
    </cs:fontRef>
    <cs:spPr bwMode="auto">
      <a:prstGeom prst="rect">
        <a:avLst/>
      </a:prstGeom>
      <a:ln w="9525" cap="flat" cmpd="sng" algn="ctr">
        <a:solidFill>
          <a:schemeClr val="tx1">
            <a:lumMod val="5000"/>
            <a:lumOff val="95000"/>
          </a:schemeClr>
        </a:solidFill>
        <a:round/>
      </a:ln>
    </cs:spPr>
  </cs:gridlineMinor>
  <cs:hiLoLine>
    <cs:lnRef idx="0"/>
    <cs:fillRef idx="0"/>
    <cs:effectRef idx="0"/>
    <cs:fontRef idx="minor">
      <a:schemeClr val="tx1"/>
    </cs:fontRef>
    <cs:spPr bwMode="auto">
      <a:prstGeom prst="rect">
        <a:avLst/>
      </a:prstGeom>
      <a:ln w="9525" cap="flat" cmpd="sng" algn="ctr">
        <a:solidFill>
          <a:schemeClr val="tx1">
            <a:lumMod val="75000"/>
            <a:lumOff val="25000"/>
          </a:schemeClr>
        </a:solidFill>
        <a:round/>
      </a:ln>
    </cs:spPr>
  </cs:hiLoLine>
  <cs:leader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900"/>
  </cs:seriesAxis>
  <cs:seriesLine>
    <cs:lnRef idx="0"/>
    <cs:fillRef idx="0"/>
    <cs:effectRef idx="0"/>
    <cs:fontRef idx="minor">
      <a:schemeClr val="tx1"/>
    </cs:fontRef>
    <cs:spPr bwMode="auto">
      <a:prstGeom prst="rect">
        <a:avLst/>
      </a:prstGeom>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spc="0"/>
  </cs:title>
  <cs:trendline>
    <cs:lnRef idx="0">
      <cs:styleClr val="auto"/>
    </cs:lnRef>
    <cs:fillRef idx="0"/>
    <cs:effectRef idx="0"/>
    <cs:fontRef idx="minor">
      <a:schemeClr val="tx1"/>
    </cs:fontRef>
    <cs:spPr bwMode="auto">
      <a:prstGeom prst="rect">
        <a:avLst/>
      </a:prstGeom>
      <a:ln w="19050" cap="rnd">
        <a:solidFill>
          <a:schemeClr val="phClr"/>
        </a:solidFill>
        <a:prstDash val="sysDot"/>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bwMode="auto">
      <a:prstGeom prst="rect">
        <a:avLst/>
      </a:prstGeom>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spPr bwMode="auto">
      <a:prstGeom prst="rect">
        <a:avLst/>
      </a:prstGeom>
      <a:noFill/>
      <a:ln>
        <a:noFill/>
      </a:ln>
    </cs:spPr>
  </cs:wall>
  <cs:dataPointMarkerLayout symbol="circle" size="5"/>
</cs:chartStyle>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94084251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25723105"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FF222ACD-9D71-4131-A4FD-780FE7B6859D}" type="datetimeFigureOut">
              <a:rPr lang="en-US"/>
              <a:t>5/28/2026</a:t>
            </a:fld>
            <a:endParaRPr lang="en-US"/>
          </a:p>
        </p:txBody>
      </p:sp>
      <p:sp>
        <p:nvSpPr>
          <p:cNvPr id="1111323145"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234124680"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8992950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28979044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2C0BBFA-4FEA-400D-84E0-3B6344236DE1}"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3584482" name="Slide Image Placeholder 1"/>
          <p:cNvSpPr>
            <a:spLocks noChangeAspect="1" noGrp="1" noRot="1"/>
          </p:cNvSpPr>
          <p:nvPr>
            <p:ph type="sldImg"/>
          </p:nvPr>
        </p:nvSpPr>
        <p:spPr bwMode="auto"/>
      </p:sp>
      <p:sp>
        <p:nvSpPr>
          <p:cNvPr id="1823852159" name="Notes Placeholder 2"/>
          <p:cNvSpPr>
            <a:spLocks noGrp="1"/>
          </p:cNvSpPr>
          <p:nvPr>
            <p:ph type="body" idx="1"/>
          </p:nvPr>
        </p:nvSpPr>
        <p:spPr bwMode="auto"/>
        <p:txBody>
          <a:bodyPr/>
          <a:lstStyle/>
          <a:p>
            <a:pPr>
              <a:defRPr/>
            </a:pPr>
            <a:r>
              <a:rPr lang="en-US" sz="1200">
                <a:solidFill>
                  <a:schemeClr val="tx1"/>
                </a:solidFill>
                <a:latin typeface="+mn-lt"/>
                <a:ea typeface="+mn-ea"/>
                <a:cs typeface="+mn-cs"/>
              </a:rPr>
              <a:t>Good morning everyone,</a:t>
            </a:r>
            <a:endParaRPr/>
          </a:p>
          <a:p>
            <a:pPr>
              <a:defRPr/>
            </a:pPr>
            <a:r>
              <a:rPr lang="en-US" sz="1200">
                <a:solidFill>
                  <a:schemeClr val="tx1"/>
                </a:solidFill>
                <a:latin typeface="+mn-lt"/>
                <a:ea typeface="+mn-ea"/>
                <a:cs typeface="+mn-cs"/>
              </a:rPr>
              <a:t>Welcome to our presentation about intercultural cooperation, cultural differences, and sustainability perspectives between Sri Lankan and Cameroonian cultures.</a:t>
            </a:r>
            <a:endParaRPr/>
          </a:p>
          <a:p>
            <a:pPr>
              <a:defRPr/>
            </a:pPr>
            <a:r>
              <a:rPr lang="en-US"/>
              <a:t>Today, we will explore how cultural values influence communication, teamwork, leadership, and sustainable development in international environments.</a:t>
            </a:r>
            <a:endParaRPr/>
          </a:p>
          <a:p>
            <a:pPr>
              <a:defRPr/>
            </a:pPr>
            <a:r>
              <a:rPr lang="en-US"/>
              <a:t>These are the names of team members who contributed to the task.</a:t>
            </a:r>
            <a:endParaRPr/>
          </a:p>
        </p:txBody>
      </p:sp>
      <p:sp>
        <p:nvSpPr>
          <p:cNvPr id="526269684" name="Slide Number Placeholder 3"/>
          <p:cNvSpPr>
            <a:spLocks noGrp="1"/>
          </p:cNvSpPr>
          <p:nvPr>
            <p:ph type="sldNum" sz="quarter" idx="10"/>
          </p:nvPr>
        </p:nvSpPr>
        <p:spPr bwMode="auto"/>
        <p:txBody>
          <a:bodyPr/>
          <a:lstStyle/>
          <a:p>
            <a:pPr>
              <a:defRPr/>
            </a:pPr>
            <a:fld id="{22C0BBFA-4FEA-400D-84E0-3B6344236DE1}"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5266400" name="Slide Image Placeholder 1"/>
          <p:cNvSpPr>
            <a:spLocks noChangeAspect="1" noGrp="1" noRot="1"/>
          </p:cNvSpPr>
          <p:nvPr>
            <p:ph type="sldImg"/>
          </p:nvPr>
        </p:nvSpPr>
        <p:spPr bwMode="auto"/>
      </p:sp>
      <p:sp>
        <p:nvSpPr>
          <p:cNvPr id="840919530" name="Notes Placeholder 2"/>
          <p:cNvSpPr>
            <a:spLocks noGrp="1"/>
          </p:cNvSpPr>
          <p:nvPr>
            <p:ph type="body" idx="1"/>
          </p:nvPr>
        </p:nvSpPr>
        <p:spPr bwMode="auto"/>
        <p:txBody>
          <a:bodyPr/>
          <a:lstStyle/>
          <a:p>
            <a:pPr marL="0" indent="0">
              <a:buFont typeface="Arial"/>
              <a:buNone/>
              <a:defRPr/>
            </a:pPr>
            <a:r>
              <a:rPr lang="en-US" b="1"/>
              <a:t>Before we begin, let me briefly guide you through the structure of today’s presentation.</a:t>
            </a:r>
            <a:endParaRPr/>
          </a:p>
          <a:p>
            <a:pPr marL="171450" indent="-171450">
              <a:buFont typeface="Arial"/>
              <a:buChar char="•"/>
              <a:defRPr/>
            </a:pPr>
            <a:r>
              <a:rPr lang="en-US"/>
              <a:t>First, we will introduce Sri Lanka and Cameroon by exploring their cultural backgrounds, traditions, and communication styles.</a:t>
            </a:r>
            <a:endParaRPr/>
          </a:p>
          <a:p>
            <a:pPr marL="171450" indent="-171450">
              <a:buFont typeface="Arial"/>
              <a:buChar char="•"/>
              <a:defRPr/>
            </a:pPr>
            <a:r>
              <a:rPr lang="en-US"/>
              <a:t>Second, we will analyze four Hofstede cultural dimensions and compare how they influence teamwork and professional cooperation.</a:t>
            </a:r>
            <a:endParaRPr/>
          </a:p>
          <a:p>
            <a:pPr marL="171450" indent="-171450">
              <a:buFont typeface="Arial"/>
              <a:buChar char="•"/>
              <a:defRPr/>
            </a:pPr>
            <a:r>
              <a:rPr lang="en-US"/>
              <a:t>Third, we will connect cultural values with sustainability and selected Sustainable Development Goals.</a:t>
            </a:r>
            <a:endParaRPr/>
          </a:p>
          <a:p>
            <a:pPr marL="171450" indent="-171450">
              <a:buFont typeface="Arial"/>
              <a:buChar char="•"/>
              <a:defRPr/>
            </a:pPr>
            <a:r>
              <a:rPr lang="en-US"/>
              <a:t>After that, we will present short intercultural video scenarios.</a:t>
            </a:r>
            <a:endParaRPr/>
          </a:p>
          <a:p>
            <a:pPr marL="171450" indent="-171450">
              <a:buFont typeface="Arial"/>
              <a:buChar char="•"/>
              <a:defRPr/>
            </a:pPr>
            <a:r>
              <a:rPr lang="en-US"/>
              <a:t>Finally, we will summarize our findings and open the floor for discussion.</a:t>
            </a:r>
            <a:endParaRPr/>
          </a:p>
        </p:txBody>
      </p:sp>
      <p:sp>
        <p:nvSpPr>
          <p:cNvPr id="2138102957" name="Slide Number Placeholder 3"/>
          <p:cNvSpPr>
            <a:spLocks noGrp="1"/>
          </p:cNvSpPr>
          <p:nvPr>
            <p:ph type="sldNum" sz="quarter" idx="10"/>
          </p:nvPr>
        </p:nvSpPr>
        <p:spPr bwMode="auto"/>
        <p:txBody>
          <a:bodyPr/>
          <a:lstStyle/>
          <a:p>
            <a:pPr>
              <a:defRPr/>
            </a:pPr>
            <a:fld id="{22C0BBFA-4FEA-400D-84E0-3B6344236DE1}"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4954693" name="Slide Image Placeholder 1"/>
          <p:cNvSpPr>
            <a:spLocks noChangeAspect="1" noGrp="1" noRot="1"/>
          </p:cNvSpPr>
          <p:nvPr>
            <p:ph type="sldImg"/>
          </p:nvPr>
        </p:nvSpPr>
        <p:spPr bwMode="auto"/>
      </p:sp>
      <p:sp>
        <p:nvSpPr>
          <p:cNvPr id="2126998853" name="Notes Placeholder 2"/>
          <p:cNvSpPr>
            <a:spLocks noGrp="1"/>
          </p:cNvSpPr>
          <p:nvPr>
            <p:ph type="body" idx="1"/>
          </p:nvPr>
        </p:nvSpPr>
        <p:spPr bwMode="auto"/>
        <p:txBody>
          <a:bodyPr/>
          <a:lstStyle/>
          <a:p>
            <a:pPr marL="171450" indent="-171450">
              <a:buFont typeface="Arial"/>
              <a:buChar char="•"/>
              <a:defRPr/>
            </a:pPr>
            <a:r>
              <a:rPr lang="en-US" sz="1200">
                <a:solidFill>
                  <a:schemeClr val="tx1"/>
                </a:solidFill>
                <a:latin typeface="+mn-lt"/>
                <a:ea typeface="+mn-ea"/>
                <a:cs typeface="+mn-cs"/>
              </a:rPr>
              <a:t>In today’s globalized world, people from different cultural backgrounds increasingly work and study together.</a:t>
            </a:r>
            <a:endParaRPr/>
          </a:p>
          <a:p>
            <a:pPr marL="171450" indent="-171450">
              <a:buFont typeface="Arial"/>
              <a:buChar char="•"/>
              <a:defRPr/>
            </a:pPr>
            <a:r>
              <a:rPr lang="en-US" sz="1200">
                <a:solidFill>
                  <a:schemeClr val="tx1"/>
                </a:solidFill>
                <a:latin typeface="+mn-lt"/>
                <a:ea typeface="+mn-ea"/>
                <a:cs typeface="+mn-cs"/>
              </a:rPr>
              <a:t>While diversity creates opportunities for innovation and learning, it can also create misunderstandings in communication, leadership expectations, teamwork behavior, and decision-making.</a:t>
            </a:r>
            <a:endParaRPr/>
          </a:p>
          <a:p>
            <a:pPr marL="171450" indent="-171450">
              <a:buFont typeface="Arial"/>
              <a:buChar char="•"/>
              <a:defRPr/>
            </a:pPr>
            <a:r>
              <a:rPr lang="en-US" sz="1200">
                <a:solidFill>
                  <a:schemeClr val="tx1"/>
                </a:solidFill>
                <a:latin typeface="+mn-lt"/>
                <a:ea typeface="+mn-ea"/>
                <a:cs typeface="+mn-cs"/>
              </a:rPr>
              <a:t>Therefore, our presentation focuses on how cultural differences affect professional cooperation and how intercultural understanding can support sustainability.</a:t>
            </a:r>
            <a:endParaRPr/>
          </a:p>
          <a:p>
            <a:pPr marL="171450" indent="-171450">
              <a:buFont typeface="Arial"/>
              <a:buChar char="•"/>
              <a:defRPr/>
            </a:pPr>
            <a:r>
              <a:rPr lang="en-US" sz="1200">
                <a:solidFill>
                  <a:schemeClr val="tx1"/>
                </a:solidFill>
                <a:latin typeface="+mn-lt"/>
                <a:ea typeface="+mn-ea"/>
                <a:cs typeface="+mn-cs"/>
              </a:rPr>
              <a:t>Now, let us begin with the country and cultural background comparison.</a:t>
            </a:r>
            <a:endParaRPr lang="en-US" sz="1200">
              <a:solidFill>
                <a:schemeClr val="tx1"/>
              </a:solidFill>
              <a:latin typeface="+mn-lt"/>
              <a:ea typeface="+mn-ea"/>
              <a:cs typeface="+mn-cs"/>
            </a:endParaRPr>
          </a:p>
        </p:txBody>
      </p:sp>
      <p:sp>
        <p:nvSpPr>
          <p:cNvPr id="1825138718" name="Slide Number Placeholder 3"/>
          <p:cNvSpPr>
            <a:spLocks noGrp="1"/>
          </p:cNvSpPr>
          <p:nvPr>
            <p:ph type="sldNum" sz="quarter" idx="10"/>
          </p:nvPr>
        </p:nvSpPr>
        <p:spPr bwMode="auto"/>
        <p:txBody>
          <a:bodyPr/>
          <a:lstStyle/>
          <a:p>
            <a:pPr>
              <a:defRPr/>
            </a:pPr>
            <a:fld id="{22C0BBFA-4FEA-400D-84E0-3B6344236DE1}"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6955187" name="Slide Image Placeholder 1"/>
          <p:cNvSpPr>
            <a:spLocks noChangeAspect="1" noGrp="1" noRot="1"/>
          </p:cNvSpPr>
          <p:nvPr>
            <p:ph type="sldImg"/>
          </p:nvPr>
        </p:nvSpPr>
        <p:spPr bwMode="auto"/>
      </p:sp>
      <p:sp>
        <p:nvSpPr>
          <p:cNvPr id="1467861441"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sz="1200" b="1">
                <a:latin typeface="Roca Two"/>
                <a:ea typeface="Roca Two"/>
                <a:cs typeface="Roca Two"/>
              </a:rPr>
              <a:t>Do you have any idea about how were the earlier houses in Sri Lanka? </a:t>
            </a:r>
            <a:endParaRPr/>
          </a:p>
          <a:p>
            <a:pPr marL="0" marR="0" lvl="0" indent="0" algn="l" defTabSz="914400" rtl="0">
              <a:lnSpc>
                <a:spcPct val="100000"/>
              </a:lnSpc>
              <a:spcBef>
                <a:spcPts val="0"/>
              </a:spcBef>
              <a:spcAft>
                <a:spcPts val="0"/>
              </a:spcAft>
              <a:buClrTx/>
              <a:buSzTx/>
              <a:buFontTx/>
              <a:buNone/>
              <a:defRPr/>
            </a:pPr>
            <a:r>
              <a:rPr lang="en-US" sz="1200" b="1">
                <a:latin typeface="Roca Two"/>
                <a:ea typeface="Roca Two"/>
                <a:cs typeface="Roca Two"/>
              </a:rPr>
              <a:t>Still these are in practice in many rural areas.</a:t>
            </a:r>
            <a:endParaRPr/>
          </a:p>
          <a:p>
            <a:pPr marL="171450" marR="0" lvl="0" indent="-171450" algn="l" defTabSz="914400" rtl="0">
              <a:lnSpc>
                <a:spcPct val="100000"/>
              </a:lnSpc>
              <a:spcBef>
                <a:spcPts val="0"/>
              </a:spcBef>
              <a:spcAft>
                <a:spcPts val="0"/>
              </a:spcAft>
              <a:buClrTx/>
              <a:buSzTx/>
              <a:buFont typeface="Arial"/>
              <a:buChar char="•"/>
              <a:defRPr/>
            </a:pPr>
            <a:r>
              <a:rPr lang="en-US" sz="1200"/>
              <a:t>The walls are made of wattle and mixture of clay mud and cow dung.</a:t>
            </a:r>
            <a:endParaRPr/>
          </a:p>
          <a:p>
            <a:pPr marL="171450" marR="0" lvl="0" indent="-171450" algn="l" defTabSz="914400" rtl="0">
              <a:lnSpc>
                <a:spcPct val="100000"/>
              </a:lnSpc>
              <a:spcBef>
                <a:spcPts val="0"/>
              </a:spcBef>
              <a:spcAft>
                <a:spcPts val="0"/>
              </a:spcAft>
              <a:buClrTx/>
              <a:buSzTx/>
              <a:buFont typeface="Arial"/>
              <a:buChar char="•"/>
              <a:defRPr/>
            </a:pPr>
            <a:r>
              <a:rPr lang="en-US" sz="1200"/>
              <a:t>The roofs are thatched with palm leaves.</a:t>
            </a:r>
            <a:endParaRPr/>
          </a:p>
        </p:txBody>
      </p:sp>
      <p:sp>
        <p:nvSpPr>
          <p:cNvPr id="717045761" name="Slide Number Placeholder 3"/>
          <p:cNvSpPr>
            <a:spLocks noGrp="1"/>
          </p:cNvSpPr>
          <p:nvPr>
            <p:ph type="sldNum" sz="quarter" idx="10"/>
          </p:nvPr>
        </p:nvSpPr>
        <p:spPr bwMode="auto"/>
        <p:txBody>
          <a:bodyPr/>
          <a:lstStyle/>
          <a:p>
            <a:pPr>
              <a:defRPr/>
            </a:pPr>
            <a:fld id="{22C0BBFA-4FEA-400D-84E0-3B6344236DE1}"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0077797" name="Slide Image Placeholder 1"/>
          <p:cNvSpPr>
            <a:spLocks noChangeAspect="1" noGrp="1" noRot="1"/>
          </p:cNvSpPr>
          <p:nvPr>
            <p:ph type="sldImg"/>
          </p:nvPr>
        </p:nvSpPr>
        <p:spPr bwMode="auto"/>
      </p:sp>
      <p:sp>
        <p:nvSpPr>
          <p:cNvPr id="1302654916"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sz="1200" b="1">
                <a:solidFill>
                  <a:schemeClr val="tx1"/>
                </a:solidFill>
                <a:latin typeface="+mn-lt"/>
                <a:ea typeface="+mn-ea"/>
                <a:cs typeface="+mn-cs"/>
              </a:rPr>
              <a:t>How were the earlier houses and households in Cameroon? </a:t>
            </a:r>
            <a:endParaRPr/>
          </a:p>
          <a:p>
            <a:pPr marL="171450" marR="0" lvl="0" indent="-171450" algn="l" defTabSz="914400" rtl="0">
              <a:lnSpc>
                <a:spcPct val="100000"/>
              </a:lnSpc>
              <a:spcBef>
                <a:spcPts val="0"/>
              </a:spcBef>
              <a:spcAft>
                <a:spcPts val="0"/>
              </a:spcAft>
              <a:buClrTx/>
              <a:buSzTx/>
              <a:buFont typeface="Arial"/>
              <a:buChar char="•"/>
              <a:defRPr/>
            </a:pPr>
            <a:r>
              <a:rPr lang="en-US"/>
              <a:t>Main Wall Material: Sun-dried clay mud (North)</a:t>
            </a:r>
            <a:r>
              <a:rPr lang="en-US"/>
              <a:t> and</a:t>
            </a:r>
            <a:r>
              <a:rPr lang="en-US"/>
              <a:t> Bamboo/Raffia palm (South/West)</a:t>
            </a:r>
            <a:endParaRPr/>
          </a:p>
          <a:p>
            <a:pPr marL="171450" marR="0" lvl="0" indent="-171450" algn="l" defTabSz="914400" rtl="0">
              <a:lnSpc>
                <a:spcPct val="100000"/>
              </a:lnSpc>
              <a:spcBef>
                <a:spcPts val="0"/>
              </a:spcBef>
              <a:spcAft>
                <a:spcPts val="0"/>
              </a:spcAft>
              <a:buClrTx/>
              <a:buSzTx/>
              <a:buFont typeface="Arial"/>
              <a:buChar char="•"/>
              <a:defRPr/>
            </a:pPr>
            <a:r>
              <a:rPr lang="en-US"/>
              <a:t>Roof Style: Conical mud domes, or steep, dramatic bamboo/thatch pyramids</a:t>
            </a:r>
            <a:endParaRPr/>
          </a:p>
        </p:txBody>
      </p:sp>
      <p:sp>
        <p:nvSpPr>
          <p:cNvPr id="1701977284" name="Slide Number Placeholder 3"/>
          <p:cNvSpPr>
            <a:spLocks noGrp="1"/>
          </p:cNvSpPr>
          <p:nvPr>
            <p:ph type="sldNum" sz="quarter" idx="10"/>
          </p:nvPr>
        </p:nvSpPr>
        <p:spPr bwMode="auto"/>
        <p:txBody>
          <a:bodyPr/>
          <a:lstStyle/>
          <a:p>
            <a:pPr>
              <a:defRPr/>
            </a:pPr>
            <a:fld id="{22C0BBFA-4FEA-400D-84E0-3B6344236DE1}"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0032698" name="Slide Image Placeholder 1"/>
          <p:cNvSpPr>
            <a:spLocks noChangeAspect="1" noGrp="1" noRot="1"/>
          </p:cNvSpPr>
          <p:nvPr>
            <p:ph type="sldImg"/>
          </p:nvPr>
        </p:nvSpPr>
        <p:spPr bwMode="auto"/>
      </p:sp>
      <p:sp>
        <p:nvSpPr>
          <p:cNvPr id="386766656" name="Notes Placeholder 2"/>
          <p:cNvSpPr>
            <a:spLocks noGrp="1"/>
          </p:cNvSpPr>
          <p:nvPr>
            <p:ph type="body" idx="1"/>
          </p:nvPr>
        </p:nvSpPr>
        <p:spPr bwMode="auto"/>
        <p:txBody>
          <a:bodyPr/>
          <a:lstStyle/>
          <a:p>
            <a:pPr>
              <a:defRPr/>
            </a:pPr>
            <a:r>
              <a:rPr lang="en-US" b="1"/>
              <a:t>Sri Lanka</a:t>
            </a:r>
            <a:endParaRPr/>
          </a:p>
          <a:p>
            <a:pPr marL="171450" indent="-171450">
              <a:buFont typeface="Arial"/>
              <a:buChar char="•"/>
              <a:defRPr/>
            </a:pPr>
            <a:r>
              <a:rPr lang="en-US"/>
              <a:t>South Asia</a:t>
            </a:r>
            <a:endParaRPr/>
          </a:p>
          <a:p>
            <a:pPr marL="171450" indent="-171450">
              <a:buFont typeface="Arial"/>
              <a:buChar char="•"/>
              <a:defRPr/>
            </a:pPr>
            <a:r>
              <a:rPr lang="en-US"/>
              <a:t>Population ~22 million</a:t>
            </a:r>
            <a:endParaRPr/>
          </a:p>
          <a:p>
            <a:pPr marL="171450" indent="-171450">
              <a:buFont typeface="Arial"/>
              <a:buChar char="•"/>
              <a:defRPr/>
            </a:pPr>
            <a:r>
              <a:rPr lang="en-US"/>
              <a:t>Sinhala &amp; Tamil</a:t>
            </a:r>
            <a:endParaRPr/>
          </a:p>
          <a:p>
            <a:pPr marL="171450" indent="-171450">
              <a:buFont typeface="Arial"/>
              <a:buChar char="•"/>
              <a:defRPr/>
            </a:pPr>
            <a:r>
              <a:rPr lang="en-US"/>
              <a:t>Island nation also called “</a:t>
            </a:r>
            <a:r>
              <a:rPr lang="en-US" sz="1200" b="0" i="0">
                <a:solidFill>
                  <a:schemeClr val="tx1"/>
                </a:solidFill>
                <a:latin typeface="+mn-lt"/>
                <a:ea typeface="+mn-ea"/>
                <a:cs typeface="+mn-cs"/>
              </a:rPr>
              <a:t>The </a:t>
            </a:r>
            <a:r>
              <a:rPr lang="en-US" sz="1200" b="1" i="0">
                <a:solidFill>
                  <a:schemeClr val="tx1"/>
                </a:solidFill>
                <a:latin typeface="+mn-lt"/>
                <a:ea typeface="+mn-ea"/>
                <a:cs typeface="+mn-cs"/>
              </a:rPr>
              <a:t>Pearl of the Indian Ocean</a:t>
            </a:r>
            <a:r>
              <a:rPr lang="en-US"/>
              <a:t>”</a:t>
            </a:r>
            <a:endParaRPr lang="en-US"/>
          </a:p>
          <a:p>
            <a:pPr marL="0" indent="0">
              <a:buFont typeface="Arial"/>
              <a:buNone/>
              <a:defRPr/>
            </a:pPr>
            <a:endParaRPr lang="en-US" b="1"/>
          </a:p>
          <a:p>
            <a:pPr marL="0" indent="0">
              <a:buFont typeface="Arial"/>
              <a:buNone/>
              <a:defRPr/>
            </a:pPr>
            <a:r>
              <a:rPr lang="en-US" b="1"/>
              <a:t>Cameroon</a:t>
            </a:r>
            <a:endParaRPr/>
          </a:p>
          <a:p>
            <a:pPr marL="171450" indent="-171450">
              <a:buFont typeface="Arial"/>
              <a:buChar char="•"/>
              <a:defRPr/>
            </a:pPr>
            <a:r>
              <a:rPr lang="en-US"/>
              <a:t>Central Africa</a:t>
            </a:r>
            <a:endParaRPr/>
          </a:p>
          <a:p>
            <a:pPr marL="171450" indent="-171450">
              <a:buFont typeface="Arial"/>
              <a:buChar char="•"/>
              <a:defRPr/>
            </a:pPr>
            <a:r>
              <a:rPr lang="en-US"/>
              <a:t>Population ~29 million</a:t>
            </a:r>
            <a:endParaRPr/>
          </a:p>
          <a:p>
            <a:pPr marL="171450" indent="-171450">
              <a:buFont typeface="Arial"/>
              <a:buChar char="•"/>
              <a:defRPr/>
            </a:pPr>
            <a:r>
              <a:rPr lang="en-US"/>
              <a:t>English &amp; French</a:t>
            </a:r>
            <a:endParaRPr/>
          </a:p>
          <a:p>
            <a:pPr marL="171450" marR="0" lvl="0" indent="-171450" algn="l" defTabSz="914400" rtl="0">
              <a:lnSpc>
                <a:spcPct val="100000"/>
              </a:lnSpc>
              <a:spcBef>
                <a:spcPts val="0"/>
              </a:spcBef>
              <a:spcAft>
                <a:spcPts val="0"/>
              </a:spcAft>
              <a:buClrTx/>
              <a:buSzTx/>
              <a:buFont typeface="Arial"/>
              <a:buChar char="•"/>
              <a:defRPr/>
            </a:pPr>
            <a:r>
              <a:rPr lang="en-US"/>
              <a:t>“</a:t>
            </a:r>
            <a:r>
              <a:rPr lang="en-US" b="1"/>
              <a:t>Africa in miniature</a:t>
            </a:r>
            <a:r>
              <a:rPr lang="en-US"/>
              <a:t>”</a:t>
            </a:r>
            <a:endParaRPr/>
          </a:p>
          <a:p>
            <a:pPr marL="171450" marR="0" lvl="0" indent="-171450" algn="l" defTabSz="914400" rtl="0">
              <a:lnSpc>
                <a:spcPct val="100000"/>
              </a:lnSpc>
              <a:spcBef>
                <a:spcPts val="0"/>
              </a:spcBef>
              <a:spcAft>
                <a:spcPts val="0"/>
              </a:spcAft>
              <a:buClrTx/>
              <a:buSzTx/>
              <a:buFont typeface="Arial"/>
              <a:buChar char="•"/>
              <a:defRPr/>
            </a:pPr>
            <a:endParaRPr lang="en-US"/>
          </a:p>
          <a:p>
            <a:pPr marL="0" marR="0" lvl="0" indent="0" algn="l" defTabSz="914400" rtl="0">
              <a:lnSpc>
                <a:spcPct val="100000"/>
              </a:lnSpc>
              <a:spcBef>
                <a:spcPts val="0"/>
              </a:spcBef>
              <a:spcAft>
                <a:spcPts val="0"/>
              </a:spcAft>
              <a:buClrTx/>
              <a:buSzTx/>
              <a:buFont typeface="Arial"/>
              <a:buNone/>
              <a:defRPr/>
            </a:pPr>
            <a:r>
              <a:rPr lang="en-US"/>
              <a:t>Common thing is both</a:t>
            </a:r>
            <a:r>
              <a:rPr lang="en-US"/>
              <a:t> countries are situated almost similarly above and close to equator.</a:t>
            </a:r>
            <a:endParaRPr lang="en-US"/>
          </a:p>
        </p:txBody>
      </p:sp>
      <p:sp>
        <p:nvSpPr>
          <p:cNvPr id="1921993308" name="Slide Number Placeholder 3"/>
          <p:cNvSpPr>
            <a:spLocks noGrp="1"/>
          </p:cNvSpPr>
          <p:nvPr>
            <p:ph type="sldNum" sz="quarter" idx="10"/>
          </p:nvPr>
        </p:nvSpPr>
        <p:spPr bwMode="auto"/>
        <p:txBody>
          <a:bodyPr/>
          <a:lstStyle/>
          <a:p>
            <a:pPr>
              <a:defRPr/>
            </a:pPr>
            <a:fld id="{22C0BBFA-4FEA-400D-84E0-3B6344236DE1}"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7856748" name="Slide Image Placeholder 1"/>
          <p:cNvSpPr>
            <a:spLocks noChangeAspect="1" noGrp="1" noRot="1"/>
          </p:cNvSpPr>
          <p:nvPr>
            <p:ph type="sldImg"/>
          </p:nvPr>
        </p:nvSpPr>
        <p:spPr bwMode="auto"/>
      </p:sp>
      <p:sp>
        <p:nvSpPr>
          <p:cNvPr id="598261182" name="Notes Placeholder 2"/>
          <p:cNvSpPr>
            <a:spLocks noGrp="1"/>
          </p:cNvSpPr>
          <p:nvPr>
            <p:ph type="body" idx="1"/>
          </p:nvPr>
        </p:nvSpPr>
        <p:spPr bwMode="auto"/>
        <p:txBody>
          <a:bodyPr/>
          <a:lstStyle/>
          <a:p>
            <a:pPr>
              <a:defRPr/>
            </a:pPr>
            <a:endParaRPr/>
          </a:p>
        </p:txBody>
      </p:sp>
      <p:sp>
        <p:nvSpPr>
          <p:cNvPr id="654637583" name="Slide Number Placeholder 3"/>
          <p:cNvSpPr>
            <a:spLocks noGrp="1"/>
          </p:cNvSpPr>
          <p:nvPr>
            <p:ph type="sldNum" sz="quarter" idx="10"/>
          </p:nvPr>
        </p:nvSpPr>
        <p:spPr bwMode="auto"/>
        <p:txBody>
          <a:bodyPr/>
          <a:lstStyle/>
          <a:p>
            <a:pPr>
              <a:defRPr/>
            </a:pPr>
            <a:fld id="{03471ACD-C31A-6A71-4701-5BC8A4E74D94}"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156050" name="Slide Image Placeholder 1"/>
          <p:cNvSpPr>
            <a:spLocks noChangeAspect="1" noGrp="1" noRot="1"/>
          </p:cNvSpPr>
          <p:nvPr>
            <p:ph type="sldImg"/>
          </p:nvPr>
        </p:nvSpPr>
        <p:spPr bwMode="auto"/>
      </p:sp>
      <p:sp>
        <p:nvSpPr>
          <p:cNvPr id="1492677276" name="Notes Placeholder 2"/>
          <p:cNvSpPr>
            <a:spLocks noGrp="1"/>
          </p:cNvSpPr>
          <p:nvPr>
            <p:ph type="body" idx="1"/>
          </p:nvPr>
        </p:nvSpPr>
        <p:spPr bwMode="auto"/>
        <p:txBody>
          <a:bodyPr/>
          <a:lstStyle/>
          <a:p>
            <a:pPr>
              <a:defRPr/>
            </a:pPr>
            <a:endParaRPr/>
          </a:p>
        </p:txBody>
      </p:sp>
      <p:sp>
        <p:nvSpPr>
          <p:cNvPr id="290440253" name="Slide Number Placeholder 3"/>
          <p:cNvSpPr>
            <a:spLocks noGrp="1"/>
          </p:cNvSpPr>
          <p:nvPr>
            <p:ph type="sldNum" sz="quarter" idx="10"/>
          </p:nvPr>
        </p:nvSpPr>
        <p:spPr bwMode="auto"/>
        <p:txBody>
          <a:bodyPr/>
          <a:lstStyle/>
          <a:p>
            <a:pPr>
              <a:defRPr/>
            </a:pPr>
            <a:fld id="{D8BF1854-3E0F-73B2-AC52-3E1B22D8AC1D}"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1082250" name="Slide Image Placeholder 1"/>
          <p:cNvSpPr>
            <a:spLocks noChangeAspect="1" noGrp="1" noRot="1"/>
          </p:cNvSpPr>
          <p:nvPr>
            <p:ph type="sldImg"/>
          </p:nvPr>
        </p:nvSpPr>
        <p:spPr bwMode="auto"/>
      </p:sp>
      <p:sp>
        <p:nvSpPr>
          <p:cNvPr id="862513634" name="Notes Placeholder 2"/>
          <p:cNvSpPr>
            <a:spLocks noGrp="1"/>
          </p:cNvSpPr>
          <p:nvPr>
            <p:ph type="body" idx="1"/>
          </p:nvPr>
        </p:nvSpPr>
        <p:spPr bwMode="auto"/>
        <p:txBody>
          <a:bodyPr/>
          <a:lstStyle/>
          <a:p>
            <a:pPr>
              <a:defRPr/>
            </a:pPr>
            <a:endParaRPr/>
          </a:p>
        </p:txBody>
      </p:sp>
      <p:sp>
        <p:nvSpPr>
          <p:cNvPr id="274788682" name="Slide Number Placeholder 3"/>
          <p:cNvSpPr>
            <a:spLocks noGrp="1"/>
          </p:cNvSpPr>
          <p:nvPr>
            <p:ph type="sldNum" sz="quarter" idx="10"/>
          </p:nvPr>
        </p:nvSpPr>
        <p:spPr bwMode="auto"/>
        <p:txBody>
          <a:bodyPr/>
          <a:lstStyle/>
          <a:p>
            <a:pPr>
              <a:defRPr/>
            </a:pPr>
            <a:fld id="{E79E4162-EC49-1C3C-A958-428288C4CD6D}"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7860731" name="Slide Image Placeholder 1"/>
          <p:cNvSpPr>
            <a:spLocks noChangeAspect="1" noGrp="1" noRot="1"/>
          </p:cNvSpPr>
          <p:nvPr>
            <p:ph type="sldImg"/>
          </p:nvPr>
        </p:nvSpPr>
        <p:spPr bwMode="auto"/>
      </p:sp>
      <p:sp>
        <p:nvSpPr>
          <p:cNvPr id="659872805" name="Notes Placeholder 2"/>
          <p:cNvSpPr>
            <a:spLocks noGrp="1"/>
          </p:cNvSpPr>
          <p:nvPr>
            <p:ph type="body" idx="1"/>
          </p:nvPr>
        </p:nvSpPr>
        <p:spPr bwMode="auto"/>
        <p:txBody>
          <a:bodyPr/>
          <a:lstStyle/>
          <a:p>
            <a:pPr>
              <a:defRPr/>
            </a:pPr>
            <a:endParaRPr/>
          </a:p>
        </p:txBody>
      </p:sp>
      <p:sp>
        <p:nvSpPr>
          <p:cNvPr id="544870633" name="Slide Number Placeholder 3"/>
          <p:cNvSpPr>
            <a:spLocks noGrp="1"/>
          </p:cNvSpPr>
          <p:nvPr>
            <p:ph type="sldNum" sz="quarter" idx="10"/>
          </p:nvPr>
        </p:nvSpPr>
        <p:spPr bwMode="auto"/>
        <p:txBody>
          <a:bodyPr/>
          <a:lstStyle/>
          <a:p>
            <a:pPr>
              <a:defRPr/>
            </a:pPr>
            <a:fld id="{610CC323-507A-0F89-901F-3A3491FA76D0}"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5414799" name="Slide Image Placeholder 1"/>
          <p:cNvSpPr>
            <a:spLocks noChangeAspect="1" noGrp="1" noRot="1"/>
          </p:cNvSpPr>
          <p:nvPr>
            <p:ph type="sldImg"/>
          </p:nvPr>
        </p:nvSpPr>
        <p:spPr bwMode="auto"/>
      </p:sp>
      <p:sp>
        <p:nvSpPr>
          <p:cNvPr id="1073313168" name="Notes Placeholder 2"/>
          <p:cNvSpPr>
            <a:spLocks noGrp="1"/>
          </p:cNvSpPr>
          <p:nvPr>
            <p:ph type="body" idx="1"/>
          </p:nvPr>
        </p:nvSpPr>
        <p:spPr bwMode="auto"/>
        <p:txBody>
          <a:bodyPr/>
          <a:lstStyle/>
          <a:p>
            <a:pPr>
              <a:defRPr/>
            </a:pPr>
            <a:endParaRPr/>
          </a:p>
        </p:txBody>
      </p:sp>
      <p:sp>
        <p:nvSpPr>
          <p:cNvPr id="1421016414" name="Slide Number Placeholder 3"/>
          <p:cNvSpPr>
            <a:spLocks noGrp="1"/>
          </p:cNvSpPr>
          <p:nvPr>
            <p:ph type="sldNum" sz="quarter" idx="10"/>
          </p:nvPr>
        </p:nvSpPr>
        <p:spPr bwMode="auto"/>
        <p:txBody>
          <a:bodyPr/>
          <a:lstStyle/>
          <a:p>
            <a:pPr>
              <a:defRPr/>
            </a:pPr>
            <a:fld id="{DED0F166-216B-C8FD-16CF-244B2B6D7286}"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7239800" name="Slide Image Placeholder 1"/>
          <p:cNvSpPr>
            <a:spLocks noChangeAspect="1" noGrp="1" noRot="1"/>
          </p:cNvSpPr>
          <p:nvPr>
            <p:ph type="sldImg"/>
          </p:nvPr>
        </p:nvSpPr>
        <p:spPr bwMode="auto"/>
      </p:sp>
      <p:sp>
        <p:nvSpPr>
          <p:cNvPr id="762512971" name="Notes Placeholder 2"/>
          <p:cNvSpPr>
            <a:spLocks noGrp="1"/>
          </p:cNvSpPr>
          <p:nvPr>
            <p:ph type="body" idx="1"/>
          </p:nvPr>
        </p:nvSpPr>
        <p:spPr bwMode="auto"/>
        <p:txBody>
          <a:bodyPr/>
          <a:lstStyle/>
          <a:p>
            <a:pPr>
              <a:defRPr/>
            </a:pPr>
            <a:endParaRPr/>
          </a:p>
        </p:txBody>
      </p:sp>
      <p:sp>
        <p:nvSpPr>
          <p:cNvPr id="1851763105" name="Slide Number Placeholder 3"/>
          <p:cNvSpPr>
            <a:spLocks noGrp="1"/>
          </p:cNvSpPr>
          <p:nvPr>
            <p:ph type="sldNum" sz="quarter" idx="10"/>
          </p:nvPr>
        </p:nvSpPr>
        <p:spPr bwMode="auto"/>
        <p:txBody>
          <a:bodyPr/>
          <a:lstStyle/>
          <a:p>
            <a:pPr>
              <a:defRPr/>
            </a:pPr>
            <a:fld id="{8936E9EE-7B5D-36CF-C85A-341D9E353184}"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687900" name="Slide Image Placeholder 1"/>
          <p:cNvSpPr>
            <a:spLocks noChangeAspect="1" noGrp="1" noRot="1"/>
          </p:cNvSpPr>
          <p:nvPr>
            <p:ph type="sldImg"/>
          </p:nvPr>
        </p:nvSpPr>
        <p:spPr bwMode="auto"/>
      </p:sp>
      <p:sp>
        <p:nvSpPr>
          <p:cNvPr id="752547110" name="Notes Placeholder 2"/>
          <p:cNvSpPr>
            <a:spLocks noGrp="1"/>
          </p:cNvSpPr>
          <p:nvPr>
            <p:ph type="body" idx="1"/>
          </p:nvPr>
        </p:nvSpPr>
        <p:spPr bwMode="auto"/>
        <p:txBody>
          <a:bodyPr/>
          <a:lstStyle/>
          <a:p>
            <a:pPr>
              <a:defRPr/>
            </a:pPr>
            <a:endParaRPr/>
          </a:p>
        </p:txBody>
      </p:sp>
      <p:sp>
        <p:nvSpPr>
          <p:cNvPr id="170315837" name="Slide Number Placeholder 3"/>
          <p:cNvSpPr>
            <a:spLocks noGrp="1"/>
          </p:cNvSpPr>
          <p:nvPr>
            <p:ph type="sldNum" sz="quarter" idx="10"/>
          </p:nvPr>
        </p:nvSpPr>
        <p:spPr bwMode="auto"/>
        <p:txBody>
          <a:bodyPr/>
          <a:lstStyle/>
          <a:p>
            <a:pPr>
              <a:defRPr/>
            </a:pPr>
            <a:fld id="{DD2ACB90-3519-62DC-8DAB-36ACC2C2431C}"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3490371" name="Slide Image Placeholder 1"/>
          <p:cNvSpPr>
            <a:spLocks noChangeAspect="1" noGrp="1" noRot="1"/>
          </p:cNvSpPr>
          <p:nvPr>
            <p:ph type="sldImg"/>
          </p:nvPr>
        </p:nvSpPr>
        <p:spPr bwMode="auto"/>
      </p:sp>
      <p:sp>
        <p:nvSpPr>
          <p:cNvPr id="810339445" name="Notes Placeholder 2"/>
          <p:cNvSpPr>
            <a:spLocks noGrp="1"/>
          </p:cNvSpPr>
          <p:nvPr>
            <p:ph type="body" idx="1"/>
          </p:nvPr>
        </p:nvSpPr>
        <p:spPr bwMode="auto"/>
        <p:txBody>
          <a:bodyPr/>
          <a:lstStyle/>
          <a:p>
            <a:pPr>
              <a:defRPr/>
            </a:pPr>
            <a:endParaRPr/>
          </a:p>
        </p:txBody>
      </p:sp>
      <p:sp>
        <p:nvSpPr>
          <p:cNvPr id="1802881931" name="Slide Number Placeholder 3"/>
          <p:cNvSpPr>
            <a:spLocks noGrp="1"/>
          </p:cNvSpPr>
          <p:nvPr>
            <p:ph type="sldNum" sz="quarter" idx="10"/>
          </p:nvPr>
        </p:nvSpPr>
        <p:spPr bwMode="auto"/>
        <p:txBody>
          <a:bodyPr/>
          <a:lstStyle/>
          <a:p>
            <a:pPr>
              <a:defRPr/>
            </a:pPr>
            <a:fld id="{14B2F911-3E34-4892-8353-E910B4067B7B}"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9916955" name="Slide Image Placeholder 1"/>
          <p:cNvSpPr>
            <a:spLocks noChangeAspect="1" noGrp="1" noRot="1"/>
          </p:cNvSpPr>
          <p:nvPr>
            <p:ph type="sldImg"/>
          </p:nvPr>
        </p:nvSpPr>
        <p:spPr bwMode="auto"/>
      </p:sp>
      <p:sp>
        <p:nvSpPr>
          <p:cNvPr id="904481502" name="Notes Placeholder 2"/>
          <p:cNvSpPr>
            <a:spLocks noGrp="1"/>
          </p:cNvSpPr>
          <p:nvPr>
            <p:ph type="body" idx="1"/>
          </p:nvPr>
        </p:nvSpPr>
        <p:spPr bwMode="auto"/>
        <p:txBody>
          <a:bodyPr/>
          <a:lstStyle/>
          <a:p>
            <a:pPr>
              <a:defRPr/>
            </a:pPr>
            <a:endParaRPr/>
          </a:p>
        </p:txBody>
      </p:sp>
      <p:sp>
        <p:nvSpPr>
          <p:cNvPr id="478008298" name="Slide Number Placeholder 3"/>
          <p:cNvSpPr>
            <a:spLocks noGrp="1"/>
          </p:cNvSpPr>
          <p:nvPr>
            <p:ph type="sldNum" sz="quarter" idx="10"/>
          </p:nvPr>
        </p:nvSpPr>
        <p:spPr bwMode="auto"/>
        <p:txBody>
          <a:bodyPr/>
          <a:lstStyle/>
          <a:p>
            <a:pPr>
              <a:defRPr/>
            </a:pPr>
            <a:fld id="{4212F2BC-2F48-BA94-E248-69B0CDEE767D}"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6419531" name="Slide Image Placeholder 1"/>
          <p:cNvSpPr>
            <a:spLocks noChangeAspect="1" noGrp="1" noRot="1"/>
          </p:cNvSpPr>
          <p:nvPr>
            <p:ph type="sldImg"/>
          </p:nvPr>
        </p:nvSpPr>
        <p:spPr bwMode="auto"/>
      </p:sp>
      <p:sp>
        <p:nvSpPr>
          <p:cNvPr id="1663053056" name="Notes Placeholder 2"/>
          <p:cNvSpPr>
            <a:spLocks noGrp="1"/>
          </p:cNvSpPr>
          <p:nvPr>
            <p:ph type="body" idx="1"/>
          </p:nvPr>
        </p:nvSpPr>
        <p:spPr bwMode="auto"/>
        <p:txBody>
          <a:bodyPr/>
          <a:lstStyle/>
          <a:p>
            <a:pPr>
              <a:defRPr/>
            </a:pPr>
            <a:endParaRPr/>
          </a:p>
        </p:txBody>
      </p:sp>
      <p:sp>
        <p:nvSpPr>
          <p:cNvPr id="2131762224" name="Slide Number Placeholder 3"/>
          <p:cNvSpPr>
            <a:spLocks noGrp="1"/>
          </p:cNvSpPr>
          <p:nvPr>
            <p:ph type="sldNum" sz="quarter" idx="10"/>
          </p:nvPr>
        </p:nvSpPr>
        <p:spPr bwMode="auto"/>
        <p:txBody>
          <a:bodyPr/>
          <a:lstStyle/>
          <a:p>
            <a:pPr>
              <a:defRPr/>
            </a:pPr>
            <a:fld id="{7A09FE36-7A16-48D1-96D4-6195F850D90B}"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8527045" name="Slide Image Placeholder 1"/>
          <p:cNvSpPr>
            <a:spLocks noChangeAspect="1" noGrp="1" noRot="1"/>
          </p:cNvSpPr>
          <p:nvPr>
            <p:ph type="sldImg"/>
          </p:nvPr>
        </p:nvSpPr>
        <p:spPr bwMode="auto"/>
      </p:sp>
      <p:sp>
        <p:nvSpPr>
          <p:cNvPr id="1783128232" name="Notes Placeholder 2"/>
          <p:cNvSpPr>
            <a:spLocks noGrp="1"/>
          </p:cNvSpPr>
          <p:nvPr>
            <p:ph type="body" idx="1"/>
          </p:nvPr>
        </p:nvSpPr>
        <p:spPr bwMode="auto"/>
        <p:txBody>
          <a:bodyPr/>
          <a:lstStyle/>
          <a:p>
            <a:pPr>
              <a:defRPr/>
            </a:pPr>
            <a:endParaRPr/>
          </a:p>
        </p:txBody>
      </p:sp>
      <p:sp>
        <p:nvSpPr>
          <p:cNvPr id="147574827" name="Slide Number Placeholder 3"/>
          <p:cNvSpPr>
            <a:spLocks noGrp="1"/>
          </p:cNvSpPr>
          <p:nvPr>
            <p:ph type="sldNum" sz="quarter" idx="10"/>
          </p:nvPr>
        </p:nvSpPr>
        <p:spPr bwMode="auto"/>
        <p:txBody>
          <a:bodyPr/>
          <a:lstStyle/>
          <a:p>
            <a:pPr>
              <a:defRPr/>
            </a:pPr>
            <a:fld id="{A5AB2A07-F2FD-43B2-ABCB-C32551F8550C}"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5231308" name="Slide Image Placeholder 1"/>
          <p:cNvSpPr>
            <a:spLocks noChangeAspect="1" noGrp="1" noRot="1"/>
          </p:cNvSpPr>
          <p:nvPr>
            <p:ph type="sldImg"/>
          </p:nvPr>
        </p:nvSpPr>
        <p:spPr bwMode="auto"/>
      </p:sp>
      <p:sp>
        <p:nvSpPr>
          <p:cNvPr id="355382501" name="Notes Placeholder 2"/>
          <p:cNvSpPr>
            <a:spLocks noGrp="1"/>
          </p:cNvSpPr>
          <p:nvPr>
            <p:ph type="body" idx="1"/>
          </p:nvPr>
        </p:nvSpPr>
        <p:spPr bwMode="auto"/>
        <p:txBody>
          <a:bodyPr/>
          <a:lstStyle/>
          <a:p>
            <a:pPr>
              <a:defRPr/>
            </a:pPr>
            <a:endParaRPr/>
          </a:p>
        </p:txBody>
      </p:sp>
      <p:sp>
        <p:nvSpPr>
          <p:cNvPr id="500915694" name="Slide Number Placeholder 3"/>
          <p:cNvSpPr>
            <a:spLocks noGrp="1"/>
          </p:cNvSpPr>
          <p:nvPr>
            <p:ph type="sldNum" sz="quarter" idx="10"/>
          </p:nvPr>
        </p:nvSpPr>
        <p:spPr bwMode="auto"/>
        <p:txBody>
          <a:bodyPr/>
          <a:lstStyle/>
          <a:p>
            <a:pPr>
              <a:defRPr/>
            </a:pPr>
            <a:fld id="{30BF3502-FADF-D335-8507-A1FD65DEBF03}"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5721911" name="Slide Image Placeholder 1"/>
          <p:cNvSpPr>
            <a:spLocks noChangeAspect="1" noGrp="1" noRot="1"/>
          </p:cNvSpPr>
          <p:nvPr>
            <p:ph type="sldImg"/>
          </p:nvPr>
        </p:nvSpPr>
        <p:spPr bwMode="auto"/>
      </p:sp>
      <p:sp>
        <p:nvSpPr>
          <p:cNvPr id="55903917" name="Notes Placeholder 2"/>
          <p:cNvSpPr>
            <a:spLocks noGrp="1"/>
          </p:cNvSpPr>
          <p:nvPr>
            <p:ph type="body" idx="1"/>
          </p:nvPr>
        </p:nvSpPr>
        <p:spPr bwMode="auto"/>
        <p:txBody>
          <a:bodyPr/>
          <a:lstStyle/>
          <a:p>
            <a:pPr>
              <a:defRPr/>
            </a:pPr>
            <a:endParaRPr/>
          </a:p>
        </p:txBody>
      </p:sp>
      <p:sp>
        <p:nvSpPr>
          <p:cNvPr id="1783357367" name="Slide Number Placeholder 3"/>
          <p:cNvSpPr>
            <a:spLocks noGrp="1"/>
          </p:cNvSpPr>
          <p:nvPr>
            <p:ph type="sldNum" sz="quarter" idx="10"/>
          </p:nvPr>
        </p:nvSpPr>
        <p:spPr bwMode="auto"/>
        <p:txBody>
          <a:bodyPr/>
          <a:lstStyle/>
          <a:p>
            <a:pPr>
              <a:defRPr/>
            </a:pPr>
            <a:fld id="{CFCF921B-AF51-FA05-AD68-5D9095C60346}"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5723421" name="Slide Image Placeholder 1"/>
          <p:cNvSpPr>
            <a:spLocks noChangeAspect="1" noGrp="1" noRot="1"/>
          </p:cNvSpPr>
          <p:nvPr>
            <p:ph type="sldImg"/>
          </p:nvPr>
        </p:nvSpPr>
        <p:spPr bwMode="auto"/>
      </p:sp>
      <p:sp>
        <p:nvSpPr>
          <p:cNvPr id="920864844" name="Notes Placeholder 2"/>
          <p:cNvSpPr>
            <a:spLocks noGrp="1"/>
          </p:cNvSpPr>
          <p:nvPr>
            <p:ph type="body" idx="1"/>
          </p:nvPr>
        </p:nvSpPr>
        <p:spPr bwMode="auto"/>
        <p:txBody>
          <a:bodyPr/>
          <a:lstStyle/>
          <a:p>
            <a:pPr>
              <a:defRPr/>
            </a:pPr>
            <a:endParaRPr/>
          </a:p>
        </p:txBody>
      </p:sp>
      <p:sp>
        <p:nvSpPr>
          <p:cNvPr id="1678234462" name="Slide Number Placeholder 3"/>
          <p:cNvSpPr>
            <a:spLocks noGrp="1"/>
          </p:cNvSpPr>
          <p:nvPr>
            <p:ph type="sldNum" sz="quarter" idx="10"/>
          </p:nvPr>
        </p:nvSpPr>
        <p:spPr bwMode="auto"/>
        <p:txBody>
          <a:bodyPr/>
          <a:lstStyle/>
          <a:p>
            <a:pPr>
              <a:defRPr/>
            </a:pPr>
            <a:fld id="{BF9C84D2-188C-BD5F-6EEA-4DDD545015F5}"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9003352" name="Slide Image Placeholder 1"/>
          <p:cNvSpPr>
            <a:spLocks noChangeAspect="1" noGrp="1" noRot="1"/>
          </p:cNvSpPr>
          <p:nvPr>
            <p:ph type="sldImg"/>
          </p:nvPr>
        </p:nvSpPr>
        <p:spPr bwMode="auto"/>
      </p:sp>
      <p:sp>
        <p:nvSpPr>
          <p:cNvPr id="1509582920" name="Notes Placeholder 2"/>
          <p:cNvSpPr>
            <a:spLocks noGrp="1"/>
          </p:cNvSpPr>
          <p:nvPr>
            <p:ph type="body" idx="1"/>
          </p:nvPr>
        </p:nvSpPr>
        <p:spPr bwMode="auto"/>
        <p:txBody>
          <a:bodyPr/>
          <a:lstStyle/>
          <a:p>
            <a:pPr>
              <a:defRPr/>
            </a:pPr>
            <a:endParaRPr/>
          </a:p>
        </p:txBody>
      </p:sp>
      <p:sp>
        <p:nvSpPr>
          <p:cNvPr id="726527326" name="Slide Number Placeholder 3"/>
          <p:cNvSpPr>
            <a:spLocks noGrp="1"/>
          </p:cNvSpPr>
          <p:nvPr>
            <p:ph type="sldNum" sz="quarter" idx="10"/>
          </p:nvPr>
        </p:nvSpPr>
        <p:spPr bwMode="auto"/>
        <p:txBody>
          <a:bodyPr/>
          <a:lstStyle/>
          <a:p>
            <a:pPr>
              <a:defRPr/>
            </a:pPr>
            <a:fld id="{D13F67F4-CAFB-6865-46ED-946A57B28E05}"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776164" name="Slide Image Placeholder 1"/>
          <p:cNvSpPr>
            <a:spLocks noChangeAspect="1" noGrp="1" noRot="1"/>
          </p:cNvSpPr>
          <p:nvPr>
            <p:ph type="sldImg"/>
          </p:nvPr>
        </p:nvSpPr>
        <p:spPr bwMode="auto"/>
      </p:sp>
      <p:sp>
        <p:nvSpPr>
          <p:cNvPr id="1545533292" name="Notes Placeholder 2"/>
          <p:cNvSpPr>
            <a:spLocks noGrp="1"/>
          </p:cNvSpPr>
          <p:nvPr>
            <p:ph type="body" idx="1"/>
          </p:nvPr>
        </p:nvSpPr>
        <p:spPr bwMode="auto"/>
        <p:txBody>
          <a:bodyPr/>
          <a:lstStyle/>
          <a:p>
            <a:pPr>
              <a:defRPr/>
            </a:pPr>
            <a:endParaRPr/>
          </a:p>
        </p:txBody>
      </p:sp>
      <p:sp>
        <p:nvSpPr>
          <p:cNvPr id="600932433" name="Slide Number Placeholder 3"/>
          <p:cNvSpPr>
            <a:spLocks noGrp="1"/>
          </p:cNvSpPr>
          <p:nvPr>
            <p:ph type="sldNum" sz="quarter" idx="10"/>
          </p:nvPr>
        </p:nvSpPr>
        <p:spPr bwMode="auto"/>
        <p:txBody>
          <a:bodyPr/>
          <a:lstStyle/>
          <a:p>
            <a:pPr>
              <a:defRPr/>
            </a:pPr>
            <a:fld id="{EFA7C0BC-2F95-FF8F-9BF6-8053C432E9F3}"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4419020" name="Slide Image Placeholder 1"/>
          <p:cNvSpPr>
            <a:spLocks noChangeAspect="1" noGrp="1" noRot="1"/>
          </p:cNvSpPr>
          <p:nvPr>
            <p:ph type="sldImg"/>
          </p:nvPr>
        </p:nvSpPr>
        <p:spPr bwMode="auto"/>
      </p:sp>
      <p:sp>
        <p:nvSpPr>
          <p:cNvPr id="1465960076" name="Notes Placeholder 2"/>
          <p:cNvSpPr>
            <a:spLocks noGrp="1"/>
          </p:cNvSpPr>
          <p:nvPr>
            <p:ph type="body" idx="1"/>
          </p:nvPr>
        </p:nvSpPr>
        <p:spPr bwMode="auto"/>
        <p:txBody>
          <a:bodyPr/>
          <a:lstStyle/>
          <a:p>
            <a:pPr>
              <a:defRPr/>
            </a:pPr>
            <a:endParaRPr/>
          </a:p>
        </p:txBody>
      </p:sp>
      <p:sp>
        <p:nvSpPr>
          <p:cNvPr id="477224646" name="Slide Number Placeholder 3"/>
          <p:cNvSpPr>
            <a:spLocks noGrp="1"/>
          </p:cNvSpPr>
          <p:nvPr>
            <p:ph type="sldNum" sz="quarter" idx="10"/>
          </p:nvPr>
        </p:nvSpPr>
        <p:spPr bwMode="auto"/>
        <p:txBody>
          <a:bodyPr/>
          <a:lstStyle/>
          <a:p>
            <a:pPr>
              <a:defRPr/>
            </a:pPr>
            <a:fld id="{E6529CA5-4B96-F3C1-3F30-9714A8A9FC73}"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9546548" name="Slide Image Placeholder 1"/>
          <p:cNvSpPr>
            <a:spLocks noChangeAspect="1" noGrp="1" noRot="1"/>
          </p:cNvSpPr>
          <p:nvPr>
            <p:ph type="sldImg"/>
          </p:nvPr>
        </p:nvSpPr>
        <p:spPr bwMode="auto"/>
      </p:sp>
      <p:sp>
        <p:nvSpPr>
          <p:cNvPr id="1393279733" name="Notes Placeholder 2"/>
          <p:cNvSpPr>
            <a:spLocks noGrp="1"/>
          </p:cNvSpPr>
          <p:nvPr>
            <p:ph type="body" idx="1"/>
          </p:nvPr>
        </p:nvSpPr>
        <p:spPr bwMode="auto"/>
        <p:txBody>
          <a:bodyPr/>
          <a:lstStyle/>
          <a:p>
            <a:pPr marL="171450" indent="-171450">
              <a:buFont typeface="Arial"/>
              <a:buChar char="•"/>
              <a:defRPr/>
            </a:pPr>
            <a:r>
              <a:rPr lang="en-US" sz="1200">
                <a:solidFill>
                  <a:schemeClr val="tx1"/>
                </a:solidFill>
                <a:latin typeface="+mn-lt"/>
                <a:ea typeface="+mn-ea"/>
                <a:cs typeface="+mn-cs"/>
              </a:rPr>
              <a:t>To conclude our presentation, we can clearly see that culture strongly influences the way people communicate, cooperate, solve problems, and make decisions.</a:t>
            </a:r>
            <a:endParaRPr/>
          </a:p>
          <a:p>
            <a:pPr marL="171450" indent="-171450">
              <a:buFont typeface="Arial"/>
              <a:buChar char="•"/>
              <a:defRPr/>
            </a:pPr>
            <a:r>
              <a:rPr lang="en-US" sz="1200">
                <a:solidFill>
                  <a:schemeClr val="tx1"/>
                </a:solidFill>
                <a:latin typeface="+mn-lt"/>
                <a:ea typeface="+mn-ea"/>
                <a:cs typeface="+mn-cs"/>
              </a:rPr>
              <a:t>Through the comparison between Sri Lankan and Cameroonian cultures, we identified both similarities and differences in areas such as hierarchy, teamwork, communication style, and social values.</a:t>
            </a:r>
            <a:endParaRPr/>
          </a:p>
          <a:p>
            <a:pPr marL="171450" indent="-171450">
              <a:buFont typeface="Arial"/>
              <a:buChar char="•"/>
              <a:defRPr/>
            </a:pPr>
            <a:r>
              <a:rPr lang="en-US" sz="1200">
                <a:solidFill>
                  <a:schemeClr val="tx1"/>
                </a:solidFill>
                <a:latin typeface="+mn-lt"/>
                <a:ea typeface="+mn-ea"/>
                <a:cs typeface="+mn-cs"/>
              </a:rPr>
              <a:t>Using Hofstede’s cultural dimensions, we learned that cultural expectations can shape behavior in universities, workplaces, and international teams. For example, differences in power distance may affect how people interact with leaders, while collectivist values may influence teamwork and group responsibility.</a:t>
            </a:r>
            <a:endParaRPr/>
          </a:p>
          <a:p>
            <a:pPr marL="171450" indent="-171450">
              <a:buFont typeface="Arial"/>
              <a:buChar char="•"/>
              <a:defRPr/>
            </a:pPr>
            <a:r>
              <a:rPr lang="en-US" sz="1200">
                <a:solidFill>
                  <a:schemeClr val="tx1"/>
                </a:solidFill>
                <a:latin typeface="+mn-lt"/>
                <a:ea typeface="+mn-ea"/>
                <a:cs typeface="+mn-cs"/>
              </a:rPr>
              <a:t>At the same time, we also understood that cultural diversity should not be viewed as a barrier. Instead, it can become a strength when people develop intercultural awareness, empathy, and respect.</a:t>
            </a:r>
            <a:endParaRPr/>
          </a:p>
          <a:p>
            <a:pPr marL="171450" indent="-171450">
              <a:buFont typeface="Arial"/>
              <a:buChar char="•"/>
              <a:defRPr/>
            </a:pPr>
            <a:r>
              <a:rPr lang="en-US" sz="1200">
                <a:solidFill>
                  <a:schemeClr val="tx1"/>
                </a:solidFill>
                <a:latin typeface="+mn-lt"/>
                <a:ea typeface="+mn-ea"/>
                <a:cs typeface="+mn-cs"/>
              </a:rPr>
              <a:t>Another important lesson from our research is the connection between culture and sustainability. Cultural values can either support or slow progress toward Sustainable Development Goals such as education, gender equality, and responsible consumption.</a:t>
            </a:r>
            <a:endParaRPr/>
          </a:p>
          <a:p>
            <a:pPr marL="171450" indent="-171450">
              <a:buFont typeface="Arial"/>
              <a:buChar char="•"/>
              <a:defRPr/>
            </a:pPr>
            <a:r>
              <a:rPr lang="en-US" sz="1200">
                <a:solidFill>
                  <a:schemeClr val="tx1"/>
                </a:solidFill>
                <a:latin typeface="+mn-lt"/>
                <a:ea typeface="+mn-ea"/>
                <a:cs typeface="+mn-cs"/>
              </a:rPr>
              <a:t>Therefore, achieving sustainability is not only a technological or economic challenge. It is also a cultural challenge.</a:t>
            </a:r>
            <a:endParaRPr/>
          </a:p>
          <a:p>
            <a:pPr marL="171450" indent="-171450">
              <a:buFont typeface="Arial"/>
              <a:buChar char="•"/>
              <a:defRPr/>
            </a:pPr>
            <a:r>
              <a:rPr lang="en-US" sz="1200">
                <a:solidFill>
                  <a:schemeClr val="tx1"/>
                </a:solidFill>
                <a:latin typeface="+mn-lt"/>
                <a:ea typeface="+mn-ea"/>
                <a:cs typeface="+mn-cs"/>
              </a:rPr>
              <a:t>For international students like us at </a:t>
            </a:r>
            <a:r>
              <a:rPr lang="en-US" sz="1200">
                <a:solidFill>
                  <a:schemeClr val="tx1"/>
                </a:solidFill>
                <a:latin typeface="+mn-lt"/>
                <a:ea typeface="+mn-ea"/>
                <a:cs typeface="+mn-cs"/>
              </a:rPr>
              <a:t>Hochschule</a:t>
            </a:r>
            <a:r>
              <a:rPr lang="en-US" sz="1200">
                <a:solidFill>
                  <a:schemeClr val="tx1"/>
                </a:solidFill>
                <a:latin typeface="+mn-lt"/>
                <a:ea typeface="+mn-ea"/>
                <a:cs typeface="+mn-cs"/>
              </a:rPr>
              <a:t> </a:t>
            </a:r>
            <a:r>
              <a:rPr lang="en-US" sz="1200">
                <a:solidFill>
                  <a:schemeClr val="tx1"/>
                </a:solidFill>
                <a:latin typeface="+mn-lt"/>
                <a:ea typeface="+mn-ea"/>
                <a:cs typeface="+mn-cs"/>
              </a:rPr>
              <a:t>Rhein</a:t>
            </a:r>
            <a:r>
              <a:rPr lang="en-US" sz="1200">
                <a:solidFill>
                  <a:schemeClr val="tx1"/>
                </a:solidFill>
                <a:latin typeface="+mn-lt"/>
                <a:ea typeface="+mn-ea"/>
                <a:cs typeface="+mn-cs"/>
              </a:rPr>
              <a:t>-Waal, intercultural competence is becoming increasingly important. In multicultural environments, successful cooperation depends on open-mindedness, adaptability, and mutual understanding.</a:t>
            </a:r>
            <a:endParaRPr/>
          </a:p>
          <a:p>
            <a:pPr marL="171450" indent="-171450">
              <a:buFont typeface="Arial"/>
              <a:buChar char="•"/>
              <a:defRPr/>
            </a:pPr>
            <a:r>
              <a:rPr lang="en-US" sz="1200">
                <a:solidFill>
                  <a:schemeClr val="tx1"/>
                </a:solidFill>
                <a:latin typeface="+mn-lt"/>
                <a:ea typeface="+mn-ea"/>
                <a:cs typeface="+mn-cs"/>
              </a:rPr>
              <a:t>Finally, our presentation highlights that sustainable global cooperation requires more than knowledge alone. It requires the ability to understand and respect different cultural perspectives.</a:t>
            </a:r>
            <a:endParaRPr/>
          </a:p>
        </p:txBody>
      </p:sp>
      <p:sp>
        <p:nvSpPr>
          <p:cNvPr id="1069399162" name="Slide Number Placeholder 3"/>
          <p:cNvSpPr>
            <a:spLocks noGrp="1"/>
          </p:cNvSpPr>
          <p:nvPr>
            <p:ph type="sldNum" sz="quarter" idx="10"/>
          </p:nvPr>
        </p:nvSpPr>
        <p:spPr bwMode="auto"/>
        <p:txBody>
          <a:bodyPr/>
          <a:lstStyle/>
          <a:p>
            <a:pPr>
              <a:defRPr/>
            </a:pPr>
            <a:fld id="{22C0BBFA-4FEA-400D-84E0-3B6344236DE1}" type="slidenum">
              <a:rPr lang="en-US"/>
              <a:t>19</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7308905" name="Slide Image Placeholder 1"/>
          <p:cNvSpPr>
            <a:spLocks noChangeAspect="1" noGrp="1" noRot="1"/>
          </p:cNvSpPr>
          <p:nvPr>
            <p:ph type="sldImg"/>
          </p:nvPr>
        </p:nvSpPr>
        <p:spPr bwMode="auto"/>
      </p:sp>
      <p:sp>
        <p:nvSpPr>
          <p:cNvPr id="1766108050"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sz="1200">
                <a:solidFill>
                  <a:schemeClr val="tx1"/>
                </a:solidFill>
                <a:latin typeface="+mn-lt"/>
                <a:ea typeface="+mn-ea"/>
                <a:cs typeface="+mn-cs"/>
              </a:rPr>
              <a:t>Thank you very much for your attention.</a:t>
            </a:r>
            <a:endParaRPr/>
          </a:p>
        </p:txBody>
      </p:sp>
      <p:sp>
        <p:nvSpPr>
          <p:cNvPr id="135039406" name="Slide Number Placeholder 3"/>
          <p:cNvSpPr>
            <a:spLocks noGrp="1"/>
          </p:cNvSpPr>
          <p:nvPr>
            <p:ph type="sldNum" sz="quarter" idx="10"/>
          </p:nvPr>
        </p:nvSpPr>
        <p:spPr bwMode="auto"/>
        <p:txBody>
          <a:bodyPr/>
          <a:lstStyle/>
          <a:p>
            <a:pPr>
              <a:defRPr/>
            </a:pPr>
            <a:fld id="{22C0BBFA-4FEA-400D-84E0-3B6344236DE1}" type="slidenum">
              <a:rPr lang="en-US"/>
              <a:t>20</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6596893" name="Slide Image Placeholder 1"/>
          <p:cNvSpPr>
            <a:spLocks noChangeAspect="1" noGrp="1" noRot="1"/>
          </p:cNvSpPr>
          <p:nvPr>
            <p:ph type="sldImg"/>
          </p:nvPr>
        </p:nvSpPr>
        <p:spPr bwMode="auto"/>
      </p:sp>
      <p:sp>
        <p:nvSpPr>
          <p:cNvPr id="503984312" name="Notes Placeholder 2"/>
          <p:cNvSpPr>
            <a:spLocks noGrp="1"/>
          </p:cNvSpPr>
          <p:nvPr>
            <p:ph type="body" idx="1"/>
          </p:nvPr>
        </p:nvSpPr>
        <p:spPr bwMode="auto"/>
        <p:txBody>
          <a:bodyPr/>
          <a:lstStyle/>
          <a:p>
            <a:pPr marL="0" marR="0" lvl="0" indent="0" algn="l" defTabSz="914400" rtl="0">
              <a:lnSpc>
                <a:spcPct val="100000"/>
              </a:lnSpc>
              <a:spcBef>
                <a:spcPts val="0"/>
              </a:spcBef>
              <a:spcAft>
                <a:spcPts val="0"/>
              </a:spcAft>
              <a:buClrTx/>
              <a:buSzTx/>
              <a:buFontTx/>
              <a:buNone/>
              <a:defRPr/>
            </a:pPr>
            <a:r>
              <a:rPr lang="en-US" sz="1200">
                <a:solidFill>
                  <a:schemeClr val="tx1"/>
                </a:solidFill>
                <a:latin typeface="+mn-lt"/>
                <a:ea typeface="+mn-ea"/>
                <a:cs typeface="+mn-cs"/>
              </a:rPr>
              <a:t>We are now ready for your questions and discussion.</a:t>
            </a:r>
            <a:endParaRPr/>
          </a:p>
        </p:txBody>
      </p:sp>
      <p:sp>
        <p:nvSpPr>
          <p:cNvPr id="687724549" name="Slide Number Placeholder 3"/>
          <p:cNvSpPr>
            <a:spLocks noGrp="1"/>
          </p:cNvSpPr>
          <p:nvPr>
            <p:ph type="sldNum" sz="quarter" idx="10"/>
          </p:nvPr>
        </p:nvSpPr>
        <p:spPr bwMode="auto"/>
        <p:txBody>
          <a:bodyPr/>
          <a:lstStyle/>
          <a:p>
            <a:pPr>
              <a:defRPr/>
            </a:pPr>
            <a:fld id="{22C0BBFA-4FEA-400D-84E0-3B6344236DE1}" type="slidenum">
              <a:rPr lang="en-US"/>
              <a:t>21</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618110095"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387723018"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336040805" name="Date Placeholder 3"/>
          <p:cNvSpPr>
            <a:spLocks noGrp="1"/>
          </p:cNvSpPr>
          <p:nvPr>
            <p:ph type="dt" sz="half" idx="10"/>
          </p:nvPr>
        </p:nvSpPr>
        <p:spPr bwMode="auto"/>
        <p:txBody>
          <a:bodyPr/>
          <a:lstStyle/>
          <a:p>
            <a:pPr>
              <a:defRPr/>
            </a:pPr>
            <a:fld id="{AF0834E6-659C-4C2E-BF06-5A18502E06E2}" type="datetime1">
              <a:rPr lang="en-US"/>
              <a:t>5/28/2026</a:t>
            </a:fld>
            <a:endParaRPr lang="en-US"/>
          </a:p>
        </p:txBody>
      </p:sp>
      <p:sp>
        <p:nvSpPr>
          <p:cNvPr id="54037189" name="Footer Placeholder 4"/>
          <p:cNvSpPr>
            <a:spLocks noGrp="1"/>
          </p:cNvSpPr>
          <p:nvPr>
            <p:ph type="ftr" sz="quarter" idx="11"/>
          </p:nvPr>
        </p:nvSpPr>
        <p:spPr bwMode="auto"/>
        <p:txBody>
          <a:bodyPr/>
          <a:lstStyle/>
          <a:p>
            <a:pPr>
              <a:defRPr/>
            </a:pPr>
            <a:endParaRPr lang="en-US"/>
          </a:p>
        </p:txBody>
      </p:sp>
      <p:sp>
        <p:nvSpPr>
          <p:cNvPr id="15178775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855064590" name="Title 1"/>
          <p:cNvSpPr>
            <a:spLocks noGrp="1"/>
          </p:cNvSpPr>
          <p:nvPr>
            <p:ph type="title"/>
          </p:nvPr>
        </p:nvSpPr>
        <p:spPr bwMode="auto"/>
        <p:txBody>
          <a:bodyPr/>
          <a:lstStyle/>
          <a:p>
            <a:pPr>
              <a:defRPr/>
            </a:pPr>
            <a:r>
              <a:rPr lang="en-US"/>
              <a:t>Click to edit Master title style</a:t>
            </a:r>
            <a:endParaRPr lang="en-US"/>
          </a:p>
        </p:txBody>
      </p:sp>
      <p:sp>
        <p:nvSpPr>
          <p:cNvPr id="2031409272"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93404660" name="Date Placeholder 3"/>
          <p:cNvSpPr>
            <a:spLocks noGrp="1"/>
          </p:cNvSpPr>
          <p:nvPr>
            <p:ph type="dt" sz="half" idx="10"/>
          </p:nvPr>
        </p:nvSpPr>
        <p:spPr bwMode="auto"/>
        <p:txBody>
          <a:bodyPr/>
          <a:lstStyle/>
          <a:p>
            <a:pPr>
              <a:defRPr/>
            </a:pPr>
            <a:fld id="{9D4F45B3-749A-4A4C-85F5-11A0DA383D20}" type="datetime1">
              <a:rPr lang="en-US"/>
              <a:t>5/28/2026</a:t>
            </a:fld>
            <a:endParaRPr lang="en-US"/>
          </a:p>
        </p:txBody>
      </p:sp>
      <p:sp>
        <p:nvSpPr>
          <p:cNvPr id="1775800524" name="Footer Placeholder 4"/>
          <p:cNvSpPr>
            <a:spLocks noGrp="1"/>
          </p:cNvSpPr>
          <p:nvPr>
            <p:ph type="ftr" sz="quarter" idx="11"/>
          </p:nvPr>
        </p:nvSpPr>
        <p:spPr bwMode="auto"/>
        <p:txBody>
          <a:bodyPr/>
          <a:lstStyle/>
          <a:p>
            <a:pPr>
              <a:defRPr/>
            </a:pPr>
            <a:endParaRPr lang="en-US"/>
          </a:p>
        </p:txBody>
      </p:sp>
      <p:sp>
        <p:nvSpPr>
          <p:cNvPr id="957693412"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165215496"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705159928"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663596243" name="Date Placeholder 3"/>
          <p:cNvSpPr>
            <a:spLocks noGrp="1"/>
          </p:cNvSpPr>
          <p:nvPr>
            <p:ph type="dt" sz="half" idx="10"/>
          </p:nvPr>
        </p:nvSpPr>
        <p:spPr bwMode="auto"/>
        <p:txBody>
          <a:bodyPr/>
          <a:lstStyle/>
          <a:p>
            <a:pPr>
              <a:defRPr/>
            </a:pPr>
            <a:fld id="{7E060546-1D60-47E9-AA0D-12E73E8DA898}" type="datetime1">
              <a:rPr lang="en-US"/>
              <a:t>5/28/2026</a:t>
            </a:fld>
            <a:endParaRPr lang="en-US"/>
          </a:p>
        </p:txBody>
      </p:sp>
      <p:sp>
        <p:nvSpPr>
          <p:cNvPr id="1656525437" name="Footer Placeholder 4"/>
          <p:cNvSpPr>
            <a:spLocks noGrp="1"/>
          </p:cNvSpPr>
          <p:nvPr>
            <p:ph type="ftr" sz="quarter" idx="11"/>
          </p:nvPr>
        </p:nvSpPr>
        <p:spPr bwMode="auto"/>
        <p:txBody>
          <a:bodyPr/>
          <a:lstStyle/>
          <a:p>
            <a:pPr>
              <a:defRPr/>
            </a:pPr>
            <a:endParaRPr lang="en-US"/>
          </a:p>
        </p:txBody>
      </p:sp>
      <p:sp>
        <p:nvSpPr>
          <p:cNvPr id="1131546324"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93110120" name="Title 1"/>
          <p:cNvSpPr>
            <a:spLocks noGrp="1"/>
          </p:cNvSpPr>
          <p:nvPr>
            <p:ph type="title"/>
          </p:nvPr>
        </p:nvSpPr>
        <p:spPr bwMode="auto"/>
        <p:txBody>
          <a:bodyPr/>
          <a:lstStyle/>
          <a:p>
            <a:pPr>
              <a:defRPr/>
            </a:pPr>
            <a:r>
              <a:rPr lang="en-US"/>
              <a:t>Click to edit Master title style</a:t>
            </a:r>
            <a:endParaRPr lang="en-US"/>
          </a:p>
        </p:txBody>
      </p:sp>
      <p:sp>
        <p:nvSpPr>
          <p:cNvPr id="2109364972"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18239838"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16279834" name="Date Placeholder 4"/>
          <p:cNvSpPr>
            <a:spLocks noGrp="1"/>
          </p:cNvSpPr>
          <p:nvPr>
            <p:ph type="dt" sz="half" idx="10"/>
          </p:nvPr>
        </p:nvSpPr>
        <p:spPr bwMode="auto"/>
        <p:txBody>
          <a:bodyPr/>
          <a:lstStyle/>
          <a:p>
            <a:pPr>
              <a:defRPr/>
            </a:pPr>
            <a:fld id="{2FBF3A8C-3DCF-462D-9617-2EE92AC36F57}" type="datetime1">
              <a:rPr lang="en-US"/>
              <a:t>5/28/2026</a:t>
            </a:fld>
            <a:endParaRPr lang="en-US"/>
          </a:p>
        </p:txBody>
      </p:sp>
      <p:sp>
        <p:nvSpPr>
          <p:cNvPr id="1262795548" name="Footer Placeholder 5"/>
          <p:cNvSpPr>
            <a:spLocks noGrp="1"/>
          </p:cNvSpPr>
          <p:nvPr>
            <p:ph type="ftr" sz="quarter" idx="11"/>
          </p:nvPr>
        </p:nvSpPr>
        <p:spPr bwMode="auto"/>
        <p:txBody>
          <a:bodyPr/>
          <a:lstStyle/>
          <a:p>
            <a:pPr>
              <a:defRPr/>
            </a:pPr>
            <a:endParaRPr lang="en-US"/>
          </a:p>
        </p:txBody>
      </p:sp>
      <p:sp>
        <p:nvSpPr>
          <p:cNvPr id="1432446903"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178751050"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294042583"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94793100"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5662369"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265440579"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85182014" name="Date Placeholder 6"/>
          <p:cNvSpPr>
            <a:spLocks noGrp="1"/>
          </p:cNvSpPr>
          <p:nvPr>
            <p:ph type="dt" sz="half" idx="10"/>
          </p:nvPr>
        </p:nvSpPr>
        <p:spPr bwMode="auto"/>
        <p:txBody>
          <a:bodyPr/>
          <a:lstStyle/>
          <a:p>
            <a:pPr>
              <a:defRPr/>
            </a:pPr>
            <a:fld id="{AEA8A6C2-1DCC-4182-9988-23BD29DD82AA}" type="datetime1">
              <a:rPr lang="en-US"/>
              <a:t>5/28/2026</a:t>
            </a:fld>
            <a:endParaRPr lang="en-US"/>
          </a:p>
        </p:txBody>
      </p:sp>
      <p:sp>
        <p:nvSpPr>
          <p:cNvPr id="1680982205" name="Footer Placeholder 7"/>
          <p:cNvSpPr>
            <a:spLocks noGrp="1"/>
          </p:cNvSpPr>
          <p:nvPr>
            <p:ph type="ftr" sz="quarter" idx="11"/>
          </p:nvPr>
        </p:nvSpPr>
        <p:spPr bwMode="auto"/>
        <p:txBody>
          <a:bodyPr/>
          <a:lstStyle/>
          <a:p>
            <a:pPr>
              <a:defRPr/>
            </a:pPr>
            <a:endParaRPr lang="en-US"/>
          </a:p>
        </p:txBody>
      </p:sp>
      <p:sp>
        <p:nvSpPr>
          <p:cNvPr id="1597831429"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332305604" name="Title 1"/>
          <p:cNvSpPr>
            <a:spLocks noGrp="1"/>
          </p:cNvSpPr>
          <p:nvPr>
            <p:ph type="title"/>
          </p:nvPr>
        </p:nvSpPr>
        <p:spPr bwMode="auto"/>
        <p:txBody>
          <a:bodyPr/>
          <a:lstStyle/>
          <a:p>
            <a:pPr>
              <a:defRPr/>
            </a:pPr>
            <a:r>
              <a:rPr lang="en-US"/>
              <a:t>Click to edit Master title style</a:t>
            </a:r>
            <a:endParaRPr lang="en-US"/>
          </a:p>
        </p:txBody>
      </p:sp>
      <p:sp>
        <p:nvSpPr>
          <p:cNvPr id="1695945459" name="Date Placeholder 2"/>
          <p:cNvSpPr>
            <a:spLocks noGrp="1"/>
          </p:cNvSpPr>
          <p:nvPr>
            <p:ph type="dt" sz="half" idx="10"/>
          </p:nvPr>
        </p:nvSpPr>
        <p:spPr bwMode="auto"/>
        <p:txBody>
          <a:bodyPr/>
          <a:lstStyle/>
          <a:p>
            <a:pPr>
              <a:defRPr/>
            </a:pPr>
            <a:fld id="{60D23CB0-D39A-4342-9391-AB808763C906}" type="datetime1">
              <a:rPr lang="en-US"/>
              <a:t>5/28/2026</a:t>
            </a:fld>
            <a:endParaRPr lang="en-US"/>
          </a:p>
        </p:txBody>
      </p:sp>
      <p:sp>
        <p:nvSpPr>
          <p:cNvPr id="1190169965" name="Footer Placeholder 3"/>
          <p:cNvSpPr>
            <a:spLocks noGrp="1"/>
          </p:cNvSpPr>
          <p:nvPr>
            <p:ph type="ftr" sz="quarter" idx="11"/>
          </p:nvPr>
        </p:nvSpPr>
        <p:spPr bwMode="auto"/>
        <p:txBody>
          <a:bodyPr/>
          <a:lstStyle/>
          <a:p>
            <a:pPr>
              <a:defRPr/>
            </a:pPr>
            <a:endParaRPr lang="en-US"/>
          </a:p>
        </p:txBody>
      </p:sp>
      <p:sp>
        <p:nvSpPr>
          <p:cNvPr id="1800790097"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370372359" name="Date Placeholder 1"/>
          <p:cNvSpPr>
            <a:spLocks noGrp="1"/>
          </p:cNvSpPr>
          <p:nvPr>
            <p:ph type="dt" sz="half" idx="10"/>
          </p:nvPr>
        </p:nvSpPr>
        <p:spPr bwMode="auto"/>
        <p:txBody>
          <a:bodyPr/>
          <a:lstStyle/>
          <a:p>
            <a:pPr>
              <a:defRPr/>
            </a:pPr>
            <a:fld id="{0650CC3D-B984-4760-A84E-2CB133D326AE}" type="datetime1">
              <a:rPr lang="en-US"/>
              <a:t>5/28/2026</a:t>
            </a:fld>
            <a:endParaRPr lang="en-US"/>
          </a:p>
        </p:txBody>
      </p:sp>
      <p:sp>
        <p:nvSpPr>
          <p:cNvPr id="1939717085" name="Footer Placeholder 2"/>
          <p:cNvSpPr>
            <a:spLocks noGrp="1"/>
          </p:cNvSpPr>
          <p:nvPr>
            <p:ph type="ftr" sz="quarter" idx="11"/>
          </p:nvPr>
        </p:nvSpPr>
        <p:spPr bwMode="auto"/>
        <p:txBody>
          <a:bodyPr/>
          <a:lstStyle/>
          <a:p>
            <a:pPr>
              <a:defRPr/>
            </a:pPr>
            <a:endParaRPr lang="en-US"/>
          </a:p>
        </p:txBody>
      </p:sp>
      <p:sp>
        <p:nvSpPr>
          <p:cNvPr id="1409482642"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737898278"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2026587971"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20147086"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361348528" name="Date Placeholder 4"/>
          <p:cNvSpPr>
            <a:spLocks noGrp="1"/>
          </p:cNvSpPr>
          <p:nvPr>
            <p:ph type="dt" sz="half" idx="10"/>
          </p:nvPr>
        </p:nvSpPr>
        <p:spPr bwMode="auto"/>
        <p:txBody>
          <a:bodyPr/>
          <a:lstStyle/>
          <a:p>
            <a:pPr>
              <a:defRPr/>
            </a:pPr>
            <a:fld id="{AE7C4DF6-7CE0-4405-9208-B5710E7B2DE3}" type="datetime1">
              <a:rPr lang="en-US"/>
              <a:t>5/28/2026</a:t>
            </a:fld>
            <a:endParaRPr lang="en-US"/>
          </a:p>
        </p:txBody>
      </p:sp>
      <p:sp>
        <p:nvSpPr>
          <p:cNvPr id="509853583" name="Footer Placeholder 5"/>
          <p:cNvSpPr>
            <a:spLocks noGrp="1"/>
          </p:cNvSpPr>
          <p:nvPr>
            <p:ph type="ftr" sz="quarter" idx="11"/>
          </p:nvPr>
        </p:nvSpPr>
        <p:spPr bwMode="auto"/>
        <p:txBody>
          <a:bodyPr/>
          <a:lstStyle/>
          <a:p>
            <a:pPr>
              <a:defRPr/>
            </a:pPr>
            <a:endParaRPr lang="en-US"/>
          </a:p>
        </p:txBody>
      </p:sp>
      <p:sp>
        <p:nvSpPr>
          <p:cNvPr id="2067295156"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773437395"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441976881"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796286932"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231134555" name="Date Placeholder 4"/>
          <p:cNvSpPr>
            <a:spLocks noGrp="1"/>
          </p:cNvSpPr>
          <p:nvPr>
            <p:ph type="dt" sz="half" idx="10"/>
          </p:nvPr>
        </p:nvSpPr>
        <p:spPr bwMode="auto"/>
        <p:txBody>
          <a:bodyPr/>
          <a:lstStyle/>
          <a:p>
            <a:pPr>
              <a:defRPr/>
            </a:pPr>
            <a:fld id="{C43379E4-7B91-4134-A293-48F7A7540332}" type="datetime1">
              <a:rPr lang="en-US"/>
              <a:t>5/28/2026</a:t>
            </a:fld>
            <a:endParaRPr lang="en-US"/>
          </a:p>
        </p:txBody>
      </p:sp>
      <p:sp>
        <p:nvSpPr>
          <p:cNvPr id="1522719949" name="Footer Placeholder 5"/>
          <p:cNvSpPr>
            <a:spLocks noGrp="1"/>
          </p:cNvSpPr>
          <p:nvPr>
            <p:ph type="ftr" sz="quarter" idx="11"/>
          </p:nvPr>
        </p:nvSpPr>
        <p:spPr bwMode="auto"/>
        <p:txBody>
          <a:bodyPr/>
          <a:lstStyle/>
          <a:p>
            <a:pPr>
              <a:defRPr/>
            </a:pPr>
            <a:endParaRPr lang="en-US"/>
          </a:p>
        </p:txBody>
      </p:sp>
      <p:sp>
        <p:nvSpPr>
          <p:cNvPr id="865111171"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431077992" name="Title 1"/>
          <p:cNvSpPr>
            <a:spLocks noGrp="1"/>
          </p:cNvSpPr>
          <p:nvPr>
            <p:ph type="title"/>
          </p:nvPr>
        </p:nvSpPr>
        <p:spPr bwMode="auto"/>
        <p:txBody>
          <a:bodyPr/>
          <a:lstStyle/>
          <a:p>
            <a:pPr>
              <a:defRPr/>
            </a:pPr>
            <a:r>
              <a:rPr lang="en-US"/>
              <a:t>Click to edit Master title style</a:t>
            </a:r>
            <a:endParaRPr lang="en-US"/>
          </a:p>
        </p:txBody>
      </p:sp>
      <p:sp>
        <p:nvSpPr>
          <p:cNvPr id="1383309990"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14399659" name="Date Placeholder 3"/>
          <p:cNvSpPr>
            <a:spLocks noGrp="1"/>
          </p:cNvSpPr>
          <p:nvPr>
            <p:ph type="dt" sz="half" idx="10"/>
          </p:nvPr>
        </p:nvSpPr>
        <p:spPr bwMode="auto"/>
        <p:txBody>
          <a:bodyPr/>
          <a:lstStyle/>
          <a:p>
            <a:pPr>
              <a:defRPr/>
            </a:pPr>
            <a:fld id="{22D57482-1DC7-4E1B-87FA-4FD91193C897}" type="datetime1">
              <a:rPr lang="en-US"/>
              <a:t>5/28/2026</a:t>
            </a:fld>
            <a:endParaRPr lang="en-US"/>
          </a:p>
        </p:txBody>
      </p:sp>
      <p:sp>
        <p:nvSpPr>
          <p:cNvPr id="1914015778" name="Footer Placeholder 4"/>
          <p:cNvSpPr>
            <a:spLocks noGrp="1"/>
          </p:cNvSpPr>
          <p:nvPr>
            <p:ph type="ftr" sz="quarter" idx="11"/>
          </p:nvPr>
        </p:nvSpPr>
        <p:spPr bwMode="auto"/>
        <p:txBody>
          <a:bodyPr/>
          <a:lstStyle/>
          <a:p>
            <a:pPr>
              <a:defRPr/>
            </a:pPr>
            <a:endParaRPr lang="en-US"/>
          </a:p>
        </p:txBody>
      </p:sp>
      <p:sp>
        <p:nvSpPr>
          <p:cNvPr id="212297587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4326089"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368700898"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23893694" name="Date Placeholder 3"/>
          <p:cNvSpPr>
            <a:spLocks noGrp="1"/>
          </p:cNvSpPr>
          <p:nvPr>
            <p:ph type="dt" sz="half" idx="10"/>
          </p:nvPr>
        </p:nvSpPr>
        <p:spPr bwMode="auto"/>
        <p:txBody>
          <a:bodyPr/>
          <a:lstStyle/>
          <a:p>
            <a:pPr>
              <a:defRPr/>
            </a:pPr>
            <a:fld id="{A7967993-606D-44C7-A246-2171055647C1}" type="datetime1">
              <a:rPr lang="en-US"/>
              <a:t>5/28/2026</a:t>
            </a:fld>
            <a:endParaRPr lang="en-US"/>
          </a:p>
        </p:txBody>
      </p:sp>
      <p:sp>
        <p:nvSpPr>
          <p:cNvPr id="1951232127" name="Footer Placeholder 4"/>
          <p:cNvSpPr>
            <a:spLocks noGrp="1"/>
          </p:cNvSpPr>
          <p:nvPr>
            <p:ph type="ftr" sz="quarter" idx="11"/>
          </p:nvPr>
        </p:nvSpPr>
        <p:spPr bwMode="auto"/>
        <p:txBody>
          <a:bodyPr/>
          <a:lstStyle/>
          <a:p>
            <a:pPr>
              <a:defRPr/>
            </a:pPr>
            <a:endParaRPr lang="en-US"/>
          </a:p>
        </p:txBody>
      </p:sp>
      <p:sp>
        <p:nvSpPr>
          <p:cNvPr id="84143596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972096799"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579222806"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73092389"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8C1212D-2EF4-4FBE-9F85-81BF7A81C6DE}" type="datetime1">
              <a:rPr lang="en-US"/>
              <a:t>5/28/2026</a:t>
            </a:fld>
            <a:endParaRPr lang="en-US"/>
          </a:p>
        </p:txBody>
      </p:sp>
      <p:sp>
        <p:nvSpPr>
          <p:cNvPr id="165356727"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779102237"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17.xml"/><Relationship Id="rId10" Type="http://schemas.openxmlformats.org/officeDocument/2006/relationships/slide" Target="slide19.xml"/><Relationship Id="rId11" Type="http://schemas.openxmlformats.org/officeDocument/2006/relationships/slide" Target="slide2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slide" Target="slide2.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slide" Target="slide2.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slide" Target="slide2.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jpg"/><Relationship Id="rId5" Type="http://schemas.openxmlformats.org/officeDocument/2006/relationships/slide" Target="slide2.xml"/><Relationship Id="rId6" Type="http://schemas.openxmlformats.org/officeDocument/2006/relationships/image" Target="../media/image9.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slide2.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2.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slide" Target="slide2.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2.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2.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slide" Target="slide2.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2.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image" Target="../media/image10.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slide" Target="slide2.xml"/><Relationship Id="rId4" Type="http://schemas.openxmlformats.org/officeDocument/2006/relationships/image" Target="../media/image11.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image" Target="../media/image11.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image" Target="../media/image12.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slide" Target="slide2.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2.xml"/><Relationship Id="rId4" Type="http://schemas.openxmlformats.org/officeDocument/2006/relationships/chart" Target="../charts/chart1.xml" /></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slide" Target="slide2.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slide" Target="slide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slide" Target="slide2.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3.jpg"/><Relationship Id="rId4" Type="http://schemas.openxmlformats.org/officeDocument/2006/relationships/image" Target="../media/image14.png"/><Relationship Id="rId5" Type="http://schemas.openxmlformats.org/officeDocument/2006/relationships/slide" Target="slide2.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5.jpg"/><Relationship Id="rId4" Type="http://schemas.openxmlformats.org/officeDocument/2006/relationships/slide" Target="slide2.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6.jpg"/><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accent6">
            <a:lumMod val="40000"/>
            <a:lumOff val="60000"/>
          </a:schemeClr>
        </a:solidFill>
      </p:bgPr>
    </p:bg>
    <p:spTree>
      <p:nvGrpSpPr>
        <p:cNvPr id="1" name=""/>
        <p:cNvGrpSpPr/>
        <p:nvPr/>
      </p:nvGrpSpPr>
      <p:grpSpPr bwMode="auto">
        <a:xfrm>
          <a:off x="0" y="0"/>
          <a:ext cx="0" cy="0"/>
          <a:chOff x="0" y="0"/>
          <a:chExt cx="0" cy="0"/>
        </a:xfrm>
      </p:grpSpPr>
      <p:sp>
        <p:nvSpPr>
          <p:cNvPr id="913197077" name="Rounded Rectangle 9"/>
          <p:cNvSpPr/>
          <p:nvPr/>
        </p:nvSpPr>
        <p:spPr bwMode="auto">
          <a:xfrm>
            <a:off x="762000" y="-1181099"/>
            <a:ext cx="17373600" cy="11125200"/>
          </a:xfrm>
          <a:prstGeom prst="roundRect">
            <a:avLst>
              <a:gd name="adj" fmla="val 119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41526456" name="TextBox 3"/>
          <p:cNvSpPr txBox="1"/>
          <p:nvPr/>
        </p:nvSpPr>
        <p:spPr bwMode="auto">
          <a:xfrm>
            <a:off x="685800" y="1337906"/>
            <a:ext cx="16306799" cy="203132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0" tIns="0" rIns="0" bIns="0" rtlCol="0" anchor="ctr">
            <a:spAutoFit/>
          </a:bodyPr>
          <a:lstStyle/>
          <a:p>
            <a:pPr algn="ctr">
              <a:spcBef>
                <a:spcPts val="0"/>
              </a:spcBef>
              <a:defRPr/>
            </a:pPr>
            <a:r>
              <a:rPr lang="en-US" sz="6600" b="1">
                <a:ln w="0"/>
                <a:solidFill>
                  <a:srgbClr val="EF8C07"/>
                </a:solidFill>
                <a:latin typeface="+mj-lt"/>
                <a:ea typeface="Philosopher"/>
                <a:cs typeface="Philosopher"/>
              </a:rPr>
              <a:t>Intercultural Cooperation, </a:t>
            </a:r>
            <a:r>
              <a:rPr lang="en-US" sz="6600" b="1">
                <a:ln w="0"/>
                <a:solidFill>
                  <a:srgbClr val="EF8C07"/>
                </a:solidFill>
                <a:latin typeface="+mj-lt"/>
                <a:ea typeface="Philosopher"/>
                <a:cs typeface="Philosopher"/>
              </a:rPr>
              <a:t>Cultural Diversity </a:t>
            </a:r>
            <a:r>
              <a:rPr lang="en-US" sz="6600" b="1">
                <a:ln w="0"/>
                <a:solidFill>
                  <a:srgbClr val="EF8C07"/>
                </a:solidFill>
                <a:latin typeface="+mj-lt"/>
                <a:ea typeface="Philosopher"/>
                <a:cs typeface="Philosopher"/>
              </a:rPr>
              <a:t>and Sustainability</a:t>
            </a:r>
            <a:endParaRPr lang="en-US" sz="6600" b="1">
              <a:ln w="0"/>
              <a:solidFill>
                <a:srgbClr val="EF8C07"/>
              </a:solidFill>
              <a:latin typeface="+mj-lt"/>
              <a:ea typeface="Philosopher"/>
              <a:cs typeface="Philosopher"/>
            </a:endParaRPr>
          </a:p>
        </p:txBody>
      </p:sp>
      <p:sp>
        <p:nvSpPr>
          <p:cNvPr id="1970330448" name="Oval 10"/>
          <p:cNvSpPr/>
          <p:nvPr/>
        </p:nvSpPr>
        <p:spPr bwMode="auto">
          <a:xfrm>
            <a:off x="17221200" y="-1102331"/>
            <a:ext cx="3886200" cy="2209800"/>
          </a:xfrm>
          <a:prstGeom prst="ellipse">
            <a:avLst/>
          </a:prstGeom>
          <a:solidFill>
            <a:srgbClr val="FFD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64975635" name="Oval 17"/>
          <p:cNvSpPr/>
          <p:nvPr/>
        </p:nvSpPr>
        <p:spPr bwMode="auto">
          <a:xfrm>
            <a:off x="4495800" y="-1638300"/>
            <a:ext cx="8686800" cy="2209800"/>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09090917" name="Oval 18"/>
          <p:cNvSpPr/>
          <p:nvPr/>
        </p:nvSpPr>
        <p:spPr bwMode="auto">
          <a:xfrm>
            <a:off x="2971800" y="-1894534"/>
            <a:ext cx="2209800" cy="220980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08780789" name="Oval 19"/>
          <p:cNvSpPr/>
          <p:nvPr/>
        </p:nvSpPr>
        <p:spPr bwMode="auto">
          <a:xfrm>
            <a:off x="12954000" y="-1638300"/>
            <a:ext cx="7162800" cy="2209800"/>
          </a:xfrm>
          <a:prstGeom prst="ellipse">
            <a:avLst/>
          </a:prstGeom>
          <a:solidFill>
            <a:srgbClr val="A8500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51912620" name="Oval 20"/>
          <p:cNvSpPr/>
          <p:nvPr/>
        </p:nvSpPr>
        <p:spPr bwMode="auto">
          <a:xfrm>
            <a:off x="-134471" y="-2028948"/>
            <a:ext cx="2209800" cy="22098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554136" name="Rectangle 14"/>
          <p:cNvSpPr/>
          <p:nvPr/>
        </p:nvSpPr>
        <p:spPr bwMode="auto">
          <a:xfrm>
            <a:off x="3505880" y="3804967"/>
            <a:ext cx="10666638" cy="2062103"/>
          </a:xfrm>
          <a:prstGeom prst="rect">
            <a:avLst/>
          </a:prstGeom>
        </p:spPr>
        <p:txBody>
          <a:bodyPr wrap="square">
            <a:spAutoFit/>
          </a:bodyPr>
          <a:lstStyle/>
          <a:p>
            <a:pPr algn="ctr">
              <a:defRPr/>
            </a:pPr>
            <a:r>
              <a:rPr lang="en-US" sz="3200" b="1">
                <a:solidFill>
                  <a:srgbClr val="A85008"/>
                </a:solidFill>
                <a:latin typeface="+mj-lt"/>
              </a:rPr>
              <a:t>2201 - Fundamentals </a:t>
            </a:r>
            <a:r>
              <a:rPr lang="en-US" sz="3200" b="1">
                <a:solidFill>
                  <a:srgbClr val="A85008"/>
                </a:solidFill>
                <a:latin typeface="+mj-lt"/>
              </a:rPr>
              <a:t>of Personal and Social </a:t>
            </a:r>
            <a:r>
              <a:rPr lang="en-US" sz="3200" b="1">
                <a:solidFill>
                  <a:srgbClr val="A85008"/>
                </a:solidFill>
                <a:latin typeface="+mj-lt"/>
              </a:rPr>
              <a:t>Competence</a:t>
            </a:r>
            <a:endParaRPr/>
          </a:p>
          <a:p>
            <a:pPr algn="ctr">
              <a:defRPr/>
            </a:pPr>
            <a:r>
              <a:rPr lang="en-US" sz="3200" b="1">
                <a:solidFill>
                  <a:srgbClr val="A85008"/>
                </a:solidFill>
                <a:latin typeface="+mj-lt"/>
              </a:rPr>
              <a:t>Engineering </a:t>
            </a:r>
            <a:r>
              <a:rPr lang="en-US" sz="3200" b="1">
                <a:solidFill>
                  <a:srgbClr val="A85008"/>
                </a:solidFill>
                <a:latin typeface="+mj-lt"/>
              </a:rPr>
              <a:t>for Sustainability (B.Sc</a:t>
            </a:r>
            <a:r>
              <a:rPr lang="en-US" sz="3200" b="1">
                <a:solidFill>
                  <a:srgbClr val="A85008"/>
                </a:solidFill>
                <a:latin typeface="+mj-lt"/>
              </a:rPr>
              <a:t>.)</a:t>
            </a:r>
            <a:endParaRPr lang="en-US" sz="3200" b="1">
              <a:solidFill>
                <a:srgbClr val="A85008"/>
              </a:solidFill>
            </a:endParaRPr>
          </a:p>
          <a:p>
            <a:pPr algn="ctr">
              <a:defRPr/>
            </a:pPr>
            <a:r>
              <a:rPr lang="en-US" sz="3200" b="1">
                <a:solidFill>
                  <a:srgbClr val="A85008"/>
                </a:solidFill>
              </a:rPr>
              <a:t>Faculty </a:t>
            </a:r>
            <a:r>
              <a:rPr lang="en-US" sz="3200" b="1">
                <a:solidFill>
                  <a:srgbClr val="A85008"/>
                </a:solidFill>
              </a:rPr>
              <a:t>of Technology and </a:t>
            </a:r>
            <a:r>
              <a:rPr lang="en-US" sz="3200" b="1">
                <a:solidFill>
                  <a:srgbClr val="A85008"/>
                </a:solidFill>
              </a:rPr>
              <a:t>Bionics</a:t>
            </a:r>
            <a:endParaRPr lang="en-US" sz="3200" b="1">
              <a:solidFill>
                <a:srgbClr val="A85008"/>
              </a:solidFill>
              <a:latin typeface="+mj-lt"/>
            </a:endParaRPr>
          </a:p>
          <a:p>
            <a:pPr algn="ctr">
              <a:defRPr/>
            </a:pPr>
            <a:r>
              <a:rPr lang="en-US" sz="3200" b="1">
                <a:solidFill>
                  <a:srgbClr val="A85008"/>
                </a:solidFill>
                <a:latin typeface="+mj-lt"/>
              </a:rPr>
              <a:t>Rhine-Waal </a:t>
            </a:r>
            <a:r>
              <a:rPr lang="en-US" sz="3200" b="1">
                <a:solidFill>
                  <a:srgbClr val="A85008"/>
                </a:solidFill>
                <a:latin typeface="+mj-lt"/>
              </a:rPr>
              <a:t>University of Applied Sciences</a:t>
            </a:r>
            <a:endParaRPr/>
          </a:p>
        </p:txBody>
      </p:sp>
      <p:grpSp>
        <p:nvGrpSpPr>
          <p:cNvPr id="1245282035" name="Group 29"/>
          <p:cNvGrpSpPr/>
          <p:nvPr/>
        </p:nvGrpSpPr>
        <p:grpSpPr bwMode="auto">
          <a:xfrm>
            <a:off x="2075329" y="6896100"/>
            <a:ext cx="14097000" cy="2554545"/>
            <a:chOff x="2057400" y="7156907"/>
            <a:chExt cx="14097000" cy="2554545"/>
          </a:xfrm>
        </p:grpSpPr>
        <p:sp>
          <p:nvSpPr>
            <p:cNvPr id="31" name="Rectangle 30"/>
            <p:cNvSpPr/>
            <p:nvPr/>
          </p:nvSpPr>
          <p:spPr bwMode="auto">
            <a:xfrm>
              <a:off x="2057400" y="7156907"/>
              <a:ext cx="4953000" cy="2554545"/>
            </a:xfrm>
            <a:prstGeom prst="rect">
              <a:avLst/>
            </a:prstGeom>
            <a:grpFill/>
          </p:spPr>
          <p:txBody>
            <a:bodyPr wrap="square">
              <a:spAutoFit/>
            </a:bodyPr>
            <a:lstStyle/>
            <a:p>
              <a:pPr marR="0" lvl="0">
                <a:defRPr/>
              </a:pPr>
              <a:r>
                <a:rPr lang="en-US" sz="3200">
                  <a:latin typeface="+mj-lt"/>
                  <a:ea typeface="Times New Roman"/>
                </a:rPr>
                <a:t>Tifang</a:t>
              </a:r>
              <a:r>
                <a:rPr lang="en-US" sz="3200">
                  <a:latin typeface="+mj-lt"/>
                  <a:ea typeface="Times New Roman"/>
                </a:rPr>
                <a:t> </a:t>
              </a:r>
              <a:r>
                <a:rPr lang="en-US" sz="3200">
                  <a:latin typeface="+mj-lt"/>
                  <a:ea typeface="Times New Roman"/>
                </a:rPr>
                <a:t>Ngan</a:t>
              </a:r>
              <a:r>
                <a:rPr lang="en-US" sz="3200">
                  <a:latin typeface="+mj-lt"/>
                  <a:ea typeface="Times New Roman"/>
                </a:rPr>
                <a:t> </a:t>
              </a:r>
              <a:r>
                <a:rPr lang="en-US" sz="3200">
                  <a:latin typeface="+mj-lt"/>
                  <a:ea typeface="Times New Roman"/>
                </a:rPr>
                <a:t>Tata</a:t>
              </a:r>
              <a:endParaRPr lang="en-US" sz="3200">
                <a:latin typeface="+mj-lt"/>
                <a:ea typeface="Times New Roman"/>
              </a:endParaRPr>
            </a:p>
            <a:p>
              <a:pPr marR="0" lvl="0">
                <a:defRPr/>
              </a:pPr>
              <a:r>
                <a:rPr lang="en-US" sz="3200">
                  <a:latin typeface="+mj-lt"/>
                  <a:ea typeface="Times New Roman"/>
                </a:rPr>
                <a:t>Tadouanla</a:t>
              </a:r>
              <a:r>
                <a:rPr lang="en-US" sz="3200">
                  <a:latin typeface="+mj-lt"/>
                  <a:ea typeface="Times New Roman"/>
                </a:rPr>
                <a:t> </a:t>
              </a:r>
              <a:r>
                <a:rPr lang="en-US" sz="3200">
                  <a:latin typeface="+mj-lt"/>
                  <a:ea typeface="Times New Roman"/>
                </a:rPr>
                <a:t>Guetchuin</a:t>
              </a:r>
              <a:r>
                <a:rPr lang="en-US" sz="3200">
                  <a:latin typeface="+mj-lt"/>
                  <a:ea typeface="Times New Roman"/>
                </a:rPr>
                <a:t> </a:t>
              </a:r>
              <a:r>
                <a:rPr lang="en-US" sz="3200">
                  <a:latin typeface="+mj-lt"/>
                  <a:ea typeface="Times New Roman"/>
                </a:rPr>
                <a:t>Billy</a:t>
              </a:r>
              <a:endParaRPr lang="en-US" sz="3200">
                <a:latin typeface="+mj-lt"/>
                <a:ea typeface="Times New Roman"/>
              </a:endParaRPr>
            </a:p>
            <a:p>
              <a:pPr marR="0" lvl="0">
                <a:defRPr/>
              </a:pPr>
              <a:r>
                <a:rPr lang="en-US" sz="3200">
                  <a:latin typeface="+mj-lt"/>
                  <a:ea typeface="Times New Roman"/>
                </a:rPr>
                <a:t>Vaseekaran</a:t>
              </a:r>
              <a:r>
                <a:rPr lang="en-US" sz="3200">
                  <a:latin typeface="+mj-lt"/>
                  <a:ea typeface="Times New Roman"/>
                </a:rPr>
                <a:t> </a:t>
              </a:r>
              <a:r>
                <a:rPr lang="en-US" sz="3200">
                  <a:latin typeface="+mj-lt"/>
                  <a:ea typeface="Times New Roman"/>
                </a:rPr>
                <a:t>Sivaramanan</a:t>
              </a:r>
              <a:endParaRPr lang="en-US" sz="3200">
                <a:latin typeface="+mj-lt"/>
                <a:ea typeface="Times New Roman"/>
              </a:endParaRPr>
            </a:p>
            <a:p>
              <a:pPr marR="0" lvl="0">
                <a:defRPr/>
              </a:pPr>
              <a:r>
                <a:rPr lang="en-US" sz="3200">
                  <a:latin typeface="+mj-lt"/>
                  <a:ea typeface="Times New Roman"/>
                </a:rPr>
                <a:t>Sinthujan Gnanaseelan</a:t>
              </a:r>
              <a:endParaRPr/>
            </a:p>
            <a:p>
              <a:pPr marR="0" lvl="0">
                <a:defRPr/>
              </a:pPr>
              <a:r>
                <a:rPr lang="en-US" sz="3200">
                  <a:latin typeface="+mj-lt"/>
                  <a:ea typeface="Times New Roman"/>
                </a:rPr>
                <a:t>Devon </a:t>
              </a:r>
              <a:r>
                <a:rPr lang="en-US" sz="3200">
                  <a:latin typeface="+mj-lt"/>
                  <a:ea typeface="Times New Roman"/>
                </a:rPr>
                <a:t>Ragel</a:t>
              </a:r>
              <a:endParaRPr lang="en-US" sz="3200">
                <a:latin typeface="+mj-lt"/>
                <a:ea typeface="Times New Roman"/>
              </a:endParaRPr>
            </a:p>
          </p:txBody>
        </p:sp>
        <p:sp>
          <p:nvSpPr>
            <p:cNvPr id="32" name="Rectangle 31"/>
            <p:cNvSpPr/>
            <p:nvPr/>
          </p:nvSpPr>
          <p:spPr bwMode="auto">
            <a:xfrm>
              <a:off x="7400125" y="7156907"/>
              <a:ext cx="1439075" cy="2554545"/>
            </a:xfrm>
            <a:prstGeom prst="rect">
              <a:avLst/>
            </a:prstGeom>
            <a:grpFill/>
          </p:spPr>
          <p:txBody>
            <a:bodyPr wrap="square">
              <a:spAutoFit/>
            </a:bodyPr>
            <a:lstStyle/>
            <a:p>
              <a:pPr marR="0" lvl="0">
                <a:defRPr/>
              </a:pPr>
              <a:r>
                <a:rPr lang="en-US" sz="3200">
                  <a:latin typeface="+mj-lt"/>
                  <a:ea typeface="Times New Roman"/>
                  <a:cs typeface="Times New Roman"/>
                </a:rPr>
                <a:t>38181</a:t>
              </a:r>
              <a:endParaRPr lang="en-US" sz="3200">
                <a:latin typeface="+mj-lt"/>
                <a:ea typeface="Times New Roman"/>
                <a:cs typeface="Times New Roman"/>
              </a:endParaRPr>
            </a:p>
            <a:p>
              <a:pPr marR="0" lvl="0">
                <a:defRPr/>
              </a:pPr>
              <a:r>
                <a:rPr lang="en-US" sz="3200">
                  <a:latin typeface="+mj-lt"/>
                  <a:ea typeface="Times New Roman"/>
                  <a:cs typeface="Times New Roman"/>
                </a:rPr>
                <a:t>28177</a:t>
              </a:r>
              <a:endParaRPr lang="en-US" sz="3200">
                <a:latin typeface="+mj-lt"/>
                <a:ea typeface="Times New Roman"/>
                <a:cs typeface="Times New Roman"/>
              </a:endParaRPr>
            </a:p>
            <a:p>
              <a:pPr marR="0" lvl="0">
                <a:defRPr/>
              </a:pPr>
              <a:r>
                <a:rPr lang="en-US" sz="3200">
                  <a:latin typeface="+mj-lt"/>
                  <a:ea typeface="Times New Roman"/>
                  <a:cs typeface="Times New Roman"/>
                </a:rPr>
                <a:t>38582</a:t>
              </a:r>
              <a:endParaRPr lang="en-US" sz="3200">
                <a:latin typeface="+mj-lt"/>
                <a:ea typeface="Times New Roman"/>
                <a:cs typeface="Times New Roman"/>
              </a:endParaRPr>
            </a:p>
            <a:p>
              <a:pPr marR="0" lvl="0">
                <a:defRPr/>
              </a:pPr>
              <a:r>
                <a:rPr lang="en-US" sz="3200">
                  <a:latin typeface="+mj-lt"/>
                  <a:ea typeface="Times New Roman"/>
                  <a:cs typeface="Times New Roman"/>
                </a:rPr>
                <a:t>38307</a:t>
              </a:r>
              <a:endParaRPr lang="en-US" sz="3200">
                <a:latin typeface="+mj-lt"/>
                <a:ea typeface="Times New Roman"/>
                <a:cs typeface="Times New Roman"/>
              </a:endParaRPr>
            </a:p>
            <a:p>
              <a:pPr marR="0" lvl="0">
                <a:defRPr/>
              </a:pPr>
              <a:r>
                <a:rPr lang="en-US" sz="3200">
                  <a:latin typeface="+mj-lt"/>
                  <a:ea typeface="Times New Roman"/>
                  <a:cs typeface="Times New Roman"/>
                </a:rPr>
                <a:t>37976</a:t>
              </a:r>
              <a:endParaRPr lang="en-US" sz="3200">
                <a:latin typeface="+mj-lt"/>
                <a:ea typeface="Times New Roman"/>
                <a:cs typeface="Times New Roman"/>
              </a:endParaRPr>
            </a:p>
          </p:txBody>
        </p:sp>
        <p:sp>
          <p:nvSpPr>
            <p:cNvPr id="33" name="Right Brace 32"/>
            <p:cNvSpPr/>
            <p:nvPr/>
          </p:nvSpPr>
          <p:spPr bwMode="auto">
            <a:xfrm>
              <a:off x="9563100" y="7334250"/>
              <a:ext cx="571500" cy="704850"/>
            </a:xfrm>
            <a:prstGeom prst="rightBrace">
              <a:avLst>
                <a:gd name="adj1" fmla="val 1166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p>
          </p:txBody>
        </p:sp>
        <p:sp>
          <p:nvSpPr>
            <p:cNvPr id="34" name="Right Brace 33"/>
            <p:cNvSpPr/>
            <p:nvPr/>
          </p:nvSpPr>
          <p:spPr bwMode="auto">
            <a:xfrm>
              <a:off x="9542929" y="8278654"/>
              <a:ext cx="667871" cy="1284446"/>
            </a:xfrm>
            <a:prstGeom prst="rightBrace">
              <a:avLst>
                <a:gd name="adj1" fmla="val 833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p>
          </p:txBody>
        </p:sp>
        <p:sp>
          <p:nvSpPr>
            <p:cNvPr id="35" name="TextBox 4"/>
            <p:cNvSpPr txBox="1"/>
            <p:nvPr/>
          </p:nvSpPr>
          <p:spPr bwMode="auto">
            <a:xfrm>
              <a:off x="10661516" y="7361992"/>
              <a:ext cx="5416684" cy="67710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0" tIns="0" rIns="0" bIns="0" rtlCol="0" anchor="ctr">
              <a:spAutoFit/>
            </a:bodyPr>
            <a:lstStyle/>
            <a:p>
              <a:pPr>
                <a:spcBef>
                  <a:spcPts val="0"/>
                </a:spcBef>
                <a:defRPr/>
              </a:pPr>
              <a:r>
                <a:rPr lang="en-US" sz="4400">
                  <a:ln w="0"/>
                  <a:solidFill>
                    <a:schemeClr val="tx1"/>
                  </a:solidFill>
                  <a:latin typeface="+mj-lt"/>
                  <a:ea typeface="Roboto Bold"/>
                  <a:cs typeface="Roboto Bold"/>
                </a:rPr>
                <a:t>Cameroonian Cultures</a:t>
              </a:r>
              <a:endParaRPr lang="en-US" sz="4400">
                <a:ln w="0"/>
                <a:solidFill>
                  <a:schemeClr val="tx1"/>
                </a:solidFill>
                <a:latin typeface="+mj-lt"/>
                <a:ea typeface="Roboto Bold"/>
                <a:cs typeface="Roboto Bold"/>
              </a:endParaRPr>
            </a:p>
          </p:txBody>
        </p:sp>
        <p:sp>
          <p:nvSpPr>
            <p:cNvPr id="36" name="TextBox 4"/>
            <p:cNvSpPr txBox="1"/>
            <p:nvPr/>
          </p:nvSpPr>
          <p:spPr bwMode="auto">
            <a:xfrm>
              <a:off x="10740959" y="8581192"/>
              <a:ext cx="5413441" cy="67710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0" tIns="0" rIns="0" bIns="0" rtlCol="0" anchor="ctr">
              <a:spAutoFit/>
            </a:bodyPr>
            <a:lstStyle/>
            <a:p>
              <a:pPr>
                <a:spcBef>
                  <a:spcPts val="0"/>
                </a:spcBef>
                <a:defRPr/>
              </a:pPr>
              <a:r>
                <a:rPr lang="en-US" sz="4400">
                  <a:ln w="0"/>
                  <a:solidFill>
                    <a:schemeClr val="tx1"/>
                  </a:solidFill>
                  <a:latin typeface="+mj-lt"/>
                  <a:ea typeface="Roboto Bold"/>
                  <a:cs typeface="Roboto Bold"/>
                </a:rPr>
                <a:t>Sri Lankan Cultures</a:t>
              </a:r>
              <a:endParaRPr lang="en-US" sz="4400">
                <a:ln w="0"/>
                <a:solidFill>
                  <a:schemeClr val="tx1"/>
                </a:solidFill>
                <a:latin typeface="+mj-lt"/>
                <a:ea typeface="Roboto Bold"/>
                <a:cs typeface="Roboto Bold"/>
              </a:endParaRPr>
            </a:p>
          </p:txBody>
        </p:sp>
      </p:grpSp>
      <p:sp>
        <p:nvSpPr>
          <p:cNvPr id="1942475971" name="Freeform 22"/>
          <p:cNvSpPr/>
          <p:nvPr/>
        </p:nvSpPr>
        <p:spPr bwMode="auto">
          <a:xfrm>
            <a:off x="12400356" y="7774300"/>
            <a:ext cx="1187872" cy="634971"/>
          </a:xfrm>
          <a:custGeom>
            <a:avLst/>
            <a:gdLst/>
            <a:ahLst/>
            <a:cxnLst/>
            <a:rect l="l" t="t" r="r" b="b"/>
            <a:pathLst>
              <a:path w="1187872" h="634971" fill="norm" stroke="1" extrusionOk="0">
                <a:moveTo>
                  <a:pt x="0" y="0"/>
                </a:moveTo>
                <a:lnTo>
                  <a:pt x="1187872" y="0"/>
                </a:lnTo>
                <a:lnTo>
                  <a:pt x="1187872" y="634972"/>
                </a:lnTo>
                <a:lnTo>
                  <a:pt x="0" y="634972"/>
                </a:lnTo>
                <a:lnTo>
                  <a:pt x="0" y="0"/>
                </a:lnTo>
                <a:close/>
              </a:path>
            </a:pathLst>
          </a:custGeom>
          <a:blipFill rotWithShape="1">
            <a:blip r:embed="rId3">
              <a:duotone>
                <a:schemeClr val="accent6">
                  <a:shade val="45000"/>
                  <a:satMod val="135000"/>
                </a:schemeClr>
                <a:prstClr val="white"/>
              </a:duotone>
            </a:blip>
            <a:stretch/>
          </a:blipFill>
        </p:spPr>
      </p:sp>
      <p:sp>
        <p:nvSpPr>
          <p:cNvPr id="409096939" name="TextBox 2"/>
          <p:cNvSpPr txBox="1"/>
          <p:nvPr/>
        </p:nvSpPr>
        <p:spPr bwMode="auto">
          <a:xfrm>
            <a:off x="2075329" y="6088222"/>
            <a:ext cx="7486650" cy="738664"/>
          </a:xfrm>
          <a:prstGeom prst="rect">
            <a:avLst/>
          </a:prstGeom>
        </p:spPr>
        <p:txBody>
          <a:bodyPr lIns="0" tIns="0" rIns="0" bIns="0" rtlCol="0" anchor="ctr">
            <a:spAutoFit/>
          </a:bodyPr>
          <a:lstStyle/>
          <a:p>
            <a:pPr algn="l">
              <a:defRPr/>
            </a:pPr>
            <a:r>
              <a:rPr lang="en-US" sz="4800" b="1">
                <a:solidFill>
                  <a:srgbClr val="A85008"/>
                </a:solidFill>
                <a:latin typeface="+mj-lt"/>
                <a:ea typeface="Roca Two"/>
                <a:cs typeface="Roca Two"/>
              </a:rPr>
              <a:t>Team 05</a:t>
            </a:r>
            <a:endParaRPr lang="en-US" sz="4800" b="1">
              <a:solidFill>
                <a:srgbClr val="A85008"/>
              </a:solidFill>
              <a:latin typeface="+mj-lt"/>
              <a:ea typeface="Roca Two"/>
              <a:cs typeface="Roca Tw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13197077"/>
                                        </p:tgtEl>
                                        <p:attrNameLst>
                                          <p:attrName>style.visibility</p:attrName>
                                        </p:attrNameLst>
                                      </p:cBhvr>
                                      <p:to>
                                        <p:strVal val="visible"/>
                                      </p:to>
                                    </p:set>
                                    <p:animEffect transition="in" filter="fade">
                                      <p:cBhvr>
                                        <p:cTn id="7" dur="500"/>
                                        <p:tgtEl>
                                          <p:spTgt spid="91319707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41526456"/>
                                        </p:tgtEl>
                                        <p:attrNameLst>
                                          <p:attrName>style.visibility</p:attrName>
                                        </p:attrNameLst>
                                      </p:cBhvr>
                                      <p:to>
                                        <p:strVal val="visible"/>
                                      </p:to>
                                    </p:set>
                                    <p:animEffect transition="in" filter="fade">
                                      <p:cBhvr>
                                        <p:cTn id="11" dur="500"/>
                                        <p:tgtEl>
                                          <p:spTgt spid="1341526456"/>
                                        </p:tgtEl>
                                      </p:cBhvr>
                                    </p:animEffect>
                                  </p:childTnLst>
                                </p:cTn>
                              </p:par>
                              <p:par>
                                <p:cTn id="12" presetID="6" presetClass="emph" presetSubtype="0" fill="hold" grpId="0" nodeType="withEffect">
                                  <p:stCondLst>
                                    <p:cond delay="0"/>
                                  </p:stCondLst>
                                  <p:childTnLst>
                                    <p:animScale>
                                      <p:cBhvr>
                                        <p:cTn id="13" dur="2000" fill="hold"/>
                                        <p:tgtEl>
                                          <p:spTgt spid="551912620"/>
                                        </p:tgtEl>
                                      </p:cBhvr>
                                      <p:by x="150000" y="150000"/>
                                    </p:animScale>
                                  </p:childTnLst>
                                </p:cTn>
                              </p:par>
                              <p:par>
                                <p:cTn id="14" presetID="31" presetClass="entr" presetSubtype="0" fill="hold" grpId="0" nodeType="withEffect">
                                  <p:stCondLst>
                                    <p:cond delay="0"/>
                                  </p:stCondLst>
                                  <p:childTnLst>
                                    <p:set>
                                      <p:cBhvr>
                                        <p:cTn id="15" dur="1" fill="hold">
                                          <p:stCondLst>
                                            <p:cond delay="0"/>
                                          </p:stCondLst>
                                        </p:cTn>
                                        <p:tgtEl>
                                          <p:spTgt spid="1409090917"/>
                                        </p:tgtEl>
                                        <p:attrNameLst>
                                          <p:attrName>style.visibility</p:attrName>
                                        </p:attrNameLst>
                                      </p:cBhvr>
                                      <p:to>
                                        <p:strVal val="visible"/>
                                      </p:to>
                                    </p:set>
                                    <p:anim calcmode="lin" valueType="num">
                                      <p:cBhvr>
                                        <p:cTn id="16" dur="1000" fill="hold"/>
                                        <p:tgtEl>
                                          <p:spTgt spid="1409090917"/>
                                        </p:tgtEl>
                                        <p:attrNameLst>
                                          <p:attrName>ppt_w</p:attrName>
                                        </p:attrNameLst>
                                      </p:cBhvr>
                                      <p:tavLst>
                                        <p:tav tm="0">
                                          <p:val>
                                            <p:fltVal val="0"/>
                                          </p:val>
                                        </p:tav>
                                        <p:tav tm="100000">
                                          <p:val>
                                            <p:strVal val="#ppt_w"/>
                                          </p:val>
                                        </p:tav>
                                      </p:tavLst>
                                    </p:anim>
                                    <p:anim calcmode="lin" valueType="num">
                                      <p:cBhvr>
                                        <p:cTn id="17" dur="1000" fill="hold"/>
                                        <p:tgtEl>
                                          <p:spTgt spid="1409090917"/>
                                        </p:tgtEl>
                                        <p:attrNameLst>
                                          <p:attrName>ppt_h</p:attrName>
                                        </p:attrNameLst>
                                      </p:cBhvr>
                                      <p:tavLst>
                                        <p:tav tm="0">
                                          <p:val>
                                            <p:fltVal val="0"/>
                                          </p:val>
                                        </p:tav>
                                        <p:tav tm="100000">
                                          <p:val>
                                            <p:strVal val="#ppt_h"/>
                                          </p:val>
                                        </p:tav>
                                      </p:tavLst>
                                    </p:anim>
                                    <p:anim calcmode="lin" valueType="num">
                                      <p:cBhvr>
                                        <p:cTn id="18" dur="1000" fill="hold"/>
                                        <p:tgtEl>
                                          <p:spTgt spid="1409090917"/>
                                        </p:tgtEl>
                                        <p:attrNameLst>
                                          <p:attrName>style.rotation</p:attrName>
                                        </p:attrNameLst>
                                      </p:cBhvr>
                                      <p:tavLst>
                                        <p:tav tm="0">
                                          <p:val>
                                            <p:fltVal val="90"/>
                                          </p:val>
                                        </p:tav>
                                        <p:tav tm="100000">
                                          <p:val>
                                            <p:fltVal val="0"/>
                                          </p:val>
                                        </p:tav>
                                      </p:tavLst>
                                    </p:anim>
                                    <p:animEffect transition="in" filter="fade">
                                      <p:cBhvr>
                                        <p:cTn id="19" dur="1000"/>
                                        <p:tgtEl>
                                          <p:spTgt spid="1409090917"/>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1364975635"/>
                                        </p:tgtEl>
                                        <p:attrNameLst>
                                          <p:attrName>style.visibility</p:attrName>
                                        </p:attrNameLst>
                                      </p:cBhvr>
                                      <p:to>
                                        <p:strVal val="visible"/>
                                      </p:to>
                                    </p:set>
                                    <p:animEffect transition="in" filter="wheel(1)">
                                      <p:cBhvr>
                                        <p:cTn id="22" dur="2000"/>
                                        <p:tgtEl>
                                          <p:spTgt spid="1364975635"/>
                                        </p:tgtEl>
                                      </p:cBhvr>
                                    </p:animEffect>
                                  </p:childTnLst>
                                </p:cTn>
                              </p:par>
                              <p:par>
                                <p:cTn id="23" presetID="32" presetClass="emph" presetSubtype="0" fill="hold" grpId="0" nodeType="withEffect">
                                  <p:stCondLst>
                                    <p:cond delay="0"/>
                                  </p:stCondLst>
                                  <p:childTnLst>
                                    <p:animRot by="120000">
                                      <p:cBhvr>
                                        <p:cTn id="24" dur="100" fill="hold">
                                          <p:stCondLst>
                                            <p:cond delay="0"/>
                                          </p:stCondLst>
                                        </p:cTn>
                                        <p:tgtEl>
                                          <p:spTgt spid="1308780789"/>
                                        </p:tgtEl>
                                        <p:attrNameLst>
                                          <p:attrName>r</p:attrName>
                                        </p:attrNameLst>
                                      </p:cBhvr>
                                    </p:animRot>
                                    <p:animRot by="-240000">
                                      <p:cBhvr>
                                        <p:cTn id="25" dur="200" fill="hold">
                                          <p:stCondLst>
                                            <p:cond delay="200"/>
                                          </p:stCondLst>
                                        </p:cTn>
                                        <p:tgtEl>
                                          <p:spTgt spid="1308780789"/>
                                        </p:tgtEl>
                                        <p:attrNameLst>
                                          <p:attrName>r</p:attrName>
                                        </p:attrNameLst>
                                      </p:cBhvr>
                                    </p:animRot>
                                    <p:animRot by="240000">
                                      <p:cBhvr>
                                        <p:cTn id="26" dur="200" fill="hold">
                                          <p:stCondLst>
                                            <p:cond delay="400"/>
                                          </p:stCondLst>
                                        </p:cTn>
                                        <p:tgtEl>
                                          <p:spTgt spid="1308780789"/>
                                        </p:tgtEl>
                                        <p:attrNameLst>
                                          <p:attrName>r</p:attrName>
                                        </p:attrNameLst>
                                      </p:cBhvr>
                                    </p:animRot>
                                    <p:animRot by="-240000">
                                      <p:cBhvr>
                                        <p:cTn id="27" dur="200" fill="hold">
                                          <p:stCondLst>
                                            <p:cond delay="600"/>
                                          </p:stCondLst>
                                        </p:cTn>
                                        <p:tgtEl>
                                          <p:spTgt spid="1308780789"/>
                                        </p:tgtEl>
                                        <p:attrNameLst>
                                          <p:attrName>r</p:attrName>
                                        </p:attrNameLst>
                                      </p:cBhvr>
                                    </p:animRot>
                                    <p:animRot by="120000">
                                      <p:cBhvr>
                                        <p:cTn id="28" dur="200" fill="hold">
                                          <p:stCondLst>
                                            <p:cond delay="800"/>
                                          </p:stCondLst>
                                        </p:cTn>
                                        <p:tgtEl>
                                          <p:spTgt spid="1308780789"/>
                                        </p:tgtEl>
                                        <p:attrNameLst>
                                          <p:attrName>r</p:attrName>
                                        </p:attrNameLst>
                                      </p:cBhvr>
                                    </p:animRot>
                                  </p:childTnLst>
                                </p:cTn>
                              </p:par>
                              <p:par>
                                <p:cTn id="29" presetID="1" presetClass="emph" presetSubtype="2" fill="hold" grpId="0" nodeType="withEffect">
                                  <p:stCondLst>
                                    <p:cond delay="0"/>
                                  </p:stCondLst>
                                  <p:childTnLst>
                                    <p:animClr clrSpc="rgb" dir="cw">
                                      <p:cBhvr>
                                        <p:cTn id="30" dur="2000" fill="hold"/>
                                        <p:tgtEl>
                                          <p:spTgt spid="1970330448"/>
                                        </p:tgtEl>
                                        <p:attrNameLst>
                                          <p:attrName>fillcolor</p:attrName>
                                        </p:attrNameLst>
                                      </p:cBhvr>
                                      <p:to>
                                        <a:schemeClr val="accent2"/>
                                      </p:to>
                                    </p:animClr>
                                    <p:set>
                                      <p:cBhvr>
                                        <p:cTn id="31" dur="2000" fill="hold"/>
                                        <p:tgtEl>
                                          <p:spTgt spid="1970330448"/>
                                        </p:tgtEl>
                                        <p:attrNameLst>
                                          <p:attrName>fill.type</p:attrName>
                                        </p:attrNameLst>
                                      </p:cBhvr>
                                      <p:to>
                                        <p:strVal val="solid"/>
                                      </p:to>
                                    </p:set>
                                    <p:set>
                                      <p:cBhvr>
                                        <p:cTn id="32" dur="2000" fill="hold"/>
                                        <p:tgtEl>
                                          <p:spTgt spid="1970330448"/>
                                        </p:tgtEl>
                                        <p:attrNameLst>
                                          <p:attrName>fill.on</p:attrName>
                                        </p:attrNameLst>
                                      </p:cBhvr>
                                      <p:to>
                                        <p:strVal val="true"/>
                                      </p:to>
                                    </p:se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8554136"/>
                                        </p:tgtEl>
                                        <p:attrNameLst>
                                          <p:attrName>style.visibility</p:attrName>
                                        </p:attrNameLst>
                                      </p:cBhvr>
                                      <p:to>
                                        <p:strVal val="visible"/>
                                      </p:to>
                                    </p:set>
                                    <p:animEffect transition="in" filter="fade">
                                      <p:cBhvr>
                                        <p:cTn id="36" dur="500"/>
                                        <p:tgtEl>
                                          <p:spTgt spid="8554136"/>
                                        </p:tgtEl>
                                      </p:cBhvr>
                                    </p:animEffect>
                                  </p:childTnLst>
                                </p:cTn>
                              </p:par>
                            </p:childTnLst>
                          </p:cTn>
                        </p:par>
                        <p:par>
                          <p:cTn id="37" fill="hold">
                            <p:stCondLst>
                              <p:cond delay="3000"/>
                            </p:stCondLst>
                            <p:childTnLst>
                              <p:par>
                                <p:cTn id="38" presetID="22" presetClass="entr" presetSubtype="8" fill="hold" nodeType="afterEffect">
                                  <p:stCondLst>
                                    <p:cond delay="250"/>
                                  </p:stCondLst>
                                  <p:childTnLst>
                                    <p:set>
                                      <p:cBhvr>
                                        <p:cTn id="39" dur="1" fill="hold">
                                          <p:stCondLst>
                                            <p:cond delay="0"/>
                                          </p:stCondLst>
                                        </p:cTn>
                                        <p:tgtEl>
                                          <p:spTgt spid="1245282035"/>
                                        </p:tgtEl>
                                        <p:attrNameLst>
                                          <p:attrName>style.visibility</p:attrName>
                                        </p:attrNameLst>
                                      </p:cBhvr>
                                      <p:to>
                                        <p:strVal val="visible"/>
                                      </p:to>
                                    </p:set>
                                    <p:animEffect transition="in" filter="wipe(left)">
                                      <p:cBhvr>
                                        <p:cTn id="40" dur="1000"/>
                                        <p:tgtEl>
                                          <p:spTgt spid="1245282035"/>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09096939"/>
                                        </p:tgtEl>
                                        <p:attrNameLst>
                                          <p:attrName>style.visibility</p:attrName>
                                        </p:attrNameLst>
                                      </p:cBhvr>
                                      <p:to>
                                        <p:strVal val="visible"/>
                                      </p:to>
                                    </p:set>
                                    <p:animEffect transition="in" filter="circle(in)">
                                      <p:cBhvr>
                                        <p:cTn id="43" dur="500"/>
                                        <p:tgtEl>
                                          <p:spTgt spid="409096939"/>
                                        </p:tgtEl>
                                      </p:cBhvr>
                                    </p:animEffect>
                                  </p:childTnLst>
                                </p:cTn>
                              </p:par>
                            </p:childTnLst>
                          </p:cTn>
                        </p:par>
                        <p:par>
                          <p:cTn id="44" fill="hold">
                            <p:stCondLst>
                              <p:cond delay="4250"/>
                            </p:stCondLst>
                            <p:childTnLst>
                              <p:par>
                                <p:cTn id="45" presetID="10" presetClass="entr" presetSubtype="0" fill="hold" nodeType="afterEffect">
                                  <p:stCondLst>
                                    <p:cond delay="0"/>
                                  </p:stCondLst>
                                  <p:childTnLst>
                                    <p:set>
                                      <p:cBhvr>
                                        <p:cTn id="46" dur="1" fill="hold">
                                          <p:stCondLst>
                                            <p:cond delay="0"/>
                                          </p:stCondLst>
                                        </p:cTn>
                                        <p:tgtEl>
                                          <p:spTgt spid="1942475971"/>
                                        </p:tgtEl>
                                        <p:attrNameLst>
                                          <p:attrName>style.visibility</p:attrName>
                                        </p:attrNameLst>
                                      </p:cBhvr>
                                      <p:to>
                                        <p:strVal val="visible"/>
                                      </p:to>
                                    </p:set>
                                    <p:animEffect transition="in" filter="fade">
                                      <p:cBhvr>
                                        <p:cTn id="47" dur="500"/>
                                        <p:tgtEl>
                                          <p:spTgt spid="1942475971"/>
                                        </p:tgtEl>
                                      </p:cBhvr>
                                    </p:animEffect>
                                  </p:childTnLst>
                                </p:cTn>
                              </p:par>
                              <p:par>
                                <p:cTn id="48" presetID="32" presetClass="emph" presetSubtype="0" fill="hold" nodeType="withEffect">
                                  <p:stCondLst>
                                    <p:cond delay="0"/>
                                  </p:stCondLst>
                                  <p:childTnLst>
                                    <p:animRot by="120000">
                                      <p:cBhvr>
                                        <p:cTn id="49" dur="100" fill="hold">
                                          <p:stCondLst>
                                            <p:cond delay="0"/>
                                          </p:stCondLst>
                                        </p:cTn>
                                        <p:tgtEl>
                                          <p:spTgt spid="1942475971"/>
                                        </p:tgtEl>
                                        <p:attrNameLst>
                                          <p:attrName>r</p:attrName>
                                        </p:attrNameLst>
                                      </p:cBhvr>
                                    </p:animRot>
                                    <p:animRot by="-240000">
                                      <p:cBhvr>
                                        <p:cTn id="50" dur="200" fill="hold">
                                          <p:stCondLst>
                                            <p:cond delay="200"/>
                                          </p:stCondLst>
                                        </p:cTn>
                                        <p:tgtEl>
                                          <p:spTgt spid="1942475971"/>
                                        </p:tgtEl>
                                        <p:attrNameLst>
                                          <p:attrName>r</p:attrName>
                                        </p:attrNameLst>
                                      </p:cBhvr>
                                    </p:animRot>
                                    <p:animRot by="240000">
                                      <p:cBhvr>
                                        <p:cTn id="51" dur="200" fill="hold">
                                          <p:stCondLst>
                                            <p:cond delay="400"/>
                                          </p:stCondLst>
                                        </p:cTn>
                                        <p:tgtEl>
                                          <p:spTgt spid="1942475971"/>
                                        </p:tgtEl>
                                        <p:attrNameLst>
                                          <p:attrName>r</p:attrName>
                                        </p:attrNameLst>
                                      </p:cBhvr>
                                    </p:animRot>
                                    <p:animRot by="-240000">
                                      <p:cBhvr>
                                        <p:cTn id="52" dur="200" fill="hold">
                                          <p:stCondLst>
                                            <p:cond delay="600"/>
                                          </p:stCondLst>
                                        </p:cTn>
                                        <p:tgtEl>
                                          <p:spTgt spid="1942475971"/>
                                        </p:tgtEl>
                                        <p:attrNameLst>
                                          <p:attrName>r</p:attrName>
                                        </p:attrNameLst>
                                      </p:cBhvr>
                                    </p:animRot>
                                    <p:animRot by="120000">
                                      <p:cBhvr>
                                        <p:cTn id="53" dur="200" fill="hold">
                                          <p:stCondLst>
                                            <p:cond delay="800"/>
                                          </p:stCondLst>
                                        </p:cTn>
                                        <p:tgtEl>
                                          <p:spTgt spid="194247597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197077" grpId="0" animBg="1"/>
      <p:bldP spid="1341526456" grpId="0"/>
      <p:bldP spid="1970330448" grpId="0" animBg="1"/>
      <p:bldP spid="1364975635" grpId="0" animBg="1"/>
      <p:bldP spid="1409090917" grpId="0" animBg="1"/>
      <p:bldP spid="1308780789" grpId="0" animBg="1"/>
      <p:bldP spid="551912620" grpId="0" animBg="1"/>
      <p:bldP spid="8554136" grpId="0"/>
      <p:bldP spid="409096939" grpId="0"/>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975450740" name="Group 2"/>
          <p:cNvGrpSpPr/>
          <p:nvPr/>
        </p:nvGrpSpPr>
        <p:grpSpPr bwMode="auto">
          <a:xfrm>
            <a:off x="370432" y="419100"/>
            <a:ext cx="17536568" cy="1651990"/>
            <a:chOff x="0" y="0"/>
            <a:chExt cx="4816593" cy="595820"/>
          </a:xfrm>
          <a:solidFill>
            <a:schemeClr val="accent6">
              <a:lumMod val="20000"/>
              <a:lumOff val="80000"/>
            </a:schemeClr>
          </a:solidFill>
        </p:grpSpPr>
        <p:sp>
          <p:nvSpPr>
            <p:cNvPr id="19" name="Freeform 3"/>
            <p:cNvSpPr/>
            <p:nvPr/>
          </p:nvSpPr>
          <p:spPr bwMode="auto">
            <a:xfrm>
              <a:off x="0" y="0"/>
              <a:ext cx="4816592" cy="595820"/>
            </a:xfrm>
            <a:prstGeom prst="roundRect">
              <a:avLst>
                <a:gd name="adj" fmla="val 16667"/>
              </a:avLst>
            </a:prstGeom>
            <a:grpFill/>
          </p:spPr>
        </p:sp>
        <p:sp>
          <p:nvSpPr>
            <p:cNvPr id="20" name="TextBox 4"/>
            <p:cNvSpPr txBox="1"/>
            <p:nvPr/>
          </p:nvSpPr>
          <p:spPr bwMode="auto">
            <a:xfrm>
              <a:off x="0" y="-47625"/>
              <a:ext cx="4816593" cy="643445"/>
            </a:xfrm>
            <a:prstGeom prst="roundRect">
              <a:avLst>
                <a:gd name="adj" fmla="val 16667"/>
              </a:avLst>
            </a:prstGeom>
            <a:grpFill/>
          </p:spPr>
          <p:txBody>
            <a:bodyPr lIns="50800" tIns="50800" rIns="50800" bIns="50800" rtlCol="0" anchor="ctr"/>
            <a:lstStyle/>
            <a:p>
              <a:pPr algn="ctr">
                <a:lnSpc>
                  <a:spcPts val="2800"/>
                </a:lnSpc>
                <a:defRPr/>
              </a:pPr>
              <a:endParaRPr/>
            </a:p>
          </p:txBody>
        </p:sp>
      </p:grpSp>
      <p:grpSp>
        <p:nvGrpSpPr>
          <p:cNvPr id="1997459688" name="Group 2"/>
          <p:cNvGrpSpPr/>
          <p:nvPr/>
        </p:nvGrpSpPr>
        <p:grpSpPr bwMode="auto">
          <a:xfrm>
            <a:off x="1274610" y="3268358"/>
            <a:ext cx="7498958" cy="6500840"/>
            <a:chOff x="0" y="0"/>
            <a:chExt cx="1442718" cy="1250691"/>
          </a:xfrm>
        </p:grpSpPr>
        <p:sp>
          <p:nvSpPr>
            <p:cNvPr id="3" name="Freeform 3"/>
            <p:cNvSpPr/>
            <p:nvPr/>
          </p:nvSpPr>
          <p:spPr bwMode="auto">
            <a:xfrm>
              <a:off x="0" y="0"/>
              <a:ext cx="1442718" cy="1250691"/>
            </a:xfrm>
            <a:custGeom>
              <a:avLst/>
              <a:gdLst/>
              <a:ahLst/>
              <a:cxnLst/>
              <a:rect l="l" t="t" r="r" b="b"/>
              <a:pathLst>
                <a:path w="1442718" h="1250691" fill="norm" stroke="1" extrusionOk="0">
                  <a:moveTo>
                    <a:pt x="62976" y="0"/>
                  </a:moveTo>
                  <a:lnTo>
                    <a:pt x="1379742" y="0"/>
                  </a:lnTo>
                  <a:cubicBezTo>
                    <a:pt x="1396444" y="0"/>
                    <a:pt x="1412462" y="6635"/>
                    <a:pt x="1424273" y="18445"/>
                  </a:cubicBezTo>
                  <a:cubicBezTo>
                    <a:pt x="1436083" y="30256"/>
                    <a:pt x="1442718" y="46274"/>
                    <a:pt x="1442718" y="62976"/>
                  </a:cubicBezTo>
                  <a:lnTo>
                    <a:pt x="1442718" y="1187715"/>
                  </a:lnTo>
                  <a:cubicBezTo>
                    <a:pt x="1442718" y="1204417"/>
                    <a:pt x="1436083" y="1220435"/>
                    <a:pt x="1424273" y="1232246"/>
                  </a:cubicBezTo>
                  <a:cubicBezTo>
                    <a:pt x="1412462" y="1244056"/>
                    <a:pt x="1396444" y="1250691"/>
                    <a:pt x="1379742" y="1250691"/>
                  </a:cubicBezTo>
                  <a:lnTo>
                    <a:pt x="62976" y="1250691"/>
                  </a:lnTo>
                  <a:cubicBezTo>
                    <a:pt x="46274" y="1250691"/>
                    <a:pt x="30256" y="1244056"/>
                    <a:pt x="18445" y="1232246"/>
                  </a:cubicBezTo>
                  <a:cubicBezTo>
                    <a:pt x="6635" y="1220435"/>
                    <a:pt x="0" y="1204417"/>
                    <a:pt x="0" y="1187715"/>
                  </a:cubicBezTo>
                  <a:lnTo>
                    <a:pt x="0" y="62976"/>
                  </a:lnTo>
                  <a:cubicBezTo>
                    <a:pt x="0" y="46274"/>
                    <a:pt x="6635" y="30256"/>
                    <a:pt x="18445" y="18445"/>
                  </a:cubicBezTo>
                  <a:cubicBezTo>
                    <a:pt x="30256" y="6635"/>
                    <a:pt x="46274" y="0"/>
                    <a:pt x="62976" y="0"/>
                  </a:cubicBezTo>
                  <a:close/>
                </a:path>
              </a:pathLst>
            </a:custGeom>
            <a:solidFill>
              <a:srgbClr val="FFFFFF"/>
            </a:solidFill>
            <a:ln cap="rnd">
              <a:noFill/>
              <a:prstDash val="solid"/>
              <a:round/>
            </a:ln>
          </p:spPr>
        </p:sp>
        <p:sp>
          <p:nvSpPr>
            <p:cNvPr id="4" name="TextBox 4"/>
            <p:cNvSpPr txBox="1"/>
            <p:nvPr/>
          </p:nvSpPr>
          <p:spPr bwMode="auto">
            <a:xfrm>
              <a:off x="0" y="-38100"/>
              <a:ext cx="1442718" cy="1288791"/>
            </a:xfrm>
            <a:prstGeom prst="rect">
              <a:avLst/>
            </a:prstGeom>
            <a:grpFill/>
          </p:spPr>
          <p:txBody>
            <a:bodyPr lIns="254000" tIns="254000" rIns="254000" bIns="254000" rtlCol="0" anchor="t"/>
            <a:lstStyle/>
            <a:p>
              <a:pPr marL="0" lvl="0" indent="0" algn="ctr">
                <a:lnSpc>
                  <a:spcPts val="3499"/>
                </a:lnSpc>
                <a:spcBef>
                  <a:spcPts val="0"/>
                </a:spcBef>
                <a:defRPr/>
              </a:pPr>
              <a:endParaRPr/>
            </a:p>
          </p:txBody>
        </p:sp>
      </p:grpSp>
      <p:graphicFrame>
        <p:nvGraphicFramePr>
          <p:cNvPr id="1924560929" name="Table 8"/>
          <p:cNvGraphicFramePr>
            <a:graphicFrameLocks xmlns:a="http://schemas.openxmlformats.org/drawingml/2006/main" noGrp="1"/>
          </p:cNvGraphicFramePr>
          <p:nvPr/>
        </p:nvGraphicFramePr>
        <p:xfrm rot="0">
          <a:off x="2699816" y="3161357"/>
          <a:ext cx="12616384" cy="6067425"/>
        </p:xfrm>
        <a:graphic>
          <a:graphicData uri="http://schemas.openxmlformats.org/drawingml/2006/table">
            <a:tbl>
              <a:tblPr firstRow="0" firstCol="0" lastRow="0" lastCol="0" bandRow="0" bandCol="0">
                <a:tableStyleId>{2D5ABB26-0587-4C30-8999-92F81FD0307C}</a:tableStyleId>
              </a:tblPr>
              <a:tblGrid>
                <a:gridCol w="1393220"/>
                <a:gridCol w="11223164"/>
              </a:tblGrid>
              <a:tr h="866775">
                <a:tc>
                  <a:txBody>
                    <a:bodyPr/>
                    <a:p>
                      <a:pPr algn="ctr">
                        <a:lnSpc>
                          <a:spcPts val="3080"/>
                        </a:lnSpc>
                        <a:defRPr/>
                      </a:pPr>
                      <a:r>
                        <a:rPr lang="en-US" sz="3600"/>
                        <a:t>3</a:t>
                      </a:r>
                      <a:endParaRPr lang="en-US" sz="1800"/>
                    </a:p>
                  </a:txBody>
                  <a:tcPr marL="190500" marR="190500" marT="190500" marB="190500" anchor="ctr">
                    <a:lnR w="12700" algn="ctr">
                      <a:solidFill>
                        <a:schemeClr val="tx1"/>
                      </a:solidFill>
                    </a:lnR>
                    <a:lnB w="12700" algn="ctr">
                      <a:solidFill>
                        <a:schemeClr val="tx1"/>
                      </a:solidFill>
                    </a:lnB>
                  </a:tcPr>
                </a:tc>
                <a:tc>
                  <a:txBody>
                    <a:bodyPr/>
                    <a:p>
                      <a:pPr algn="l">
                        <a:lnSpc>
                          <a:spcPts val="3080"/>
                        </a:lnSpc>
                        <a:defRPr/>
                      </a:pPr>
                      <a:r>
                        <a:rPr lang="en-US" sz="3600" u="sng">
                          <a:hlinkClick r:id="rId3" action="ppaction://hlinksldjump" tooltip=""/>
                        </a:rPr>
                        <a:t>Introduction</a:t>
                      </a:r>
                      <a:endParaRPr lang="en-US" sz="1800"/>
                    </a:p>
                  </a:txBody>
                  <a:tcPr marL="190500" marR="190500" marT="190500" marB="190500" anchor="ctr">
                    <a:lnL w="12700" algn="ctr">
                      <a:solidFill>
                        <a:schemeClr val="tx1"/>
                      </a:solidFill>
                    </a:lnL>
                    <a:lnB w="12700" algn="ctr">
                      <a:solidFill>
                        <a:schemeClr val="tx1"/>
                      </a:solidFill>
                    </a:lnB>
                  </a:tcPr>
                </a:tc>
              </a:tr>
              <a:tr h="866775">
                <a:tc>
                  <a:txBody>
                    <a:bodyPr/>
                    <a:p>
                      <a:pPr algn="ctr">
                        <a:lnSpc>
                          <a:spcPts val="3080"/>
                        </a:lnSpc>
                        <a:defRPr/>
                      </a:pPr>
                      <a:r>
                        <a:rPr lang="en-US" sz="3600"/>
                        <a:t>6</a:t>
                      </a:r>
                      <a:endParaRPr lang="en-US" sz="1800"/>
                    </a:p>
                  </a:txBody>
                  <a:tcPr marL="190500" marR="190500" marT="190500" marB="190500" anchor="ctr">
                    <a:lnR w="12700" algn="ctr">
                      <a:solidFill>
                        <a:schemeClr val="tx1"/>
                      </a:solidFill>
                    </a:lnR>
                    <a:lnT w="12700" algn="ctr">
                      <a:solidFill>
                        <a:schemeClr val="tx1"/>
                      </a:solidFill>
                    </a:lnT>
                    <a:lnB w="12700" algn="ctr">
                      <a:solidFill>
                        <a:schemeClr val="tx1"/>
                      </a:solidFill>
                    </a:lnB>
                  </a:tcPr>
                </a:tc>
                <a:tc>
                  <a:txBody>
                    <a:bodyPr/>
                    <a:p>
                      <a:pPr algn="l">
                        <a:lnSpc>
                          <a:spcPts val="3080"/>
                        </a:lnSpc>
                        <a:defRPr/>
                      </a:pPr>
                      <a:r>
                        <a:rPr lang="en-US" sz="3600" u="sng">
                          <a:hlinkClick r:id="rId4" action="ppaction://hlinksldjump" tooltip=""/>
                        </a:rPr>
                        <a:t>Countries</a:t>
                      </a:r>
                      <a:r>
                        <a:rPr lang="en-US" sz="3600"/>
                        <a:t> &amp; </a:t>
                      </a:r>
                      <a:r>
                        <a:rPr lang="en-US" sz="3600" u="sng">
                          <a:hlinkClick r:id="rId5" action="ppaction://hlinksldjump" tooltip=""/>
                        </a:rPr>
                        <a:t>Cultural Background</a:t>
                      </a:r>
                      <a:endParaRPr lang="en-US" sz="1800"/>
                    </a:p>
                  </a:txBody>
                  <a:tcPr marL="190500" marR="190500" marT="190500" marB="190500" anchor="ctr">
                    <a:lnL w="12700" algn="ctr">
                      <a:solidFill>
                        <a:schemeClr val="tx1"/>
                      </a:solidFill>
                    </a:lnL>
                    <a:lnT w="12700" algn="ctr">
                      <a:solidFill>
                        <a:schemeClr val="tx1"/>
                      </a:solidFill>
                    </a:lnT>
                    <a:lnB w="12700" algn="ctr">
                      <a:solidFill>
                        <a:schemeClr val="tx1"/>
                      </a:solidFill>
                    </a:lnB>
                  </a:tcPr>
                </a:tc>
              </a:tr>
              <a:tr h="866775">
                <a:tc>
                  <a:txBody>
                    <a:bodyPr/>
                    <a:p>
                      <a:pPr algn="ctr">
                        <a:lnSpc>
                          <a:spcPts val="3080"/>
                        </a:lnSpc>
                        <a:defRPr/>
                      </a:pPr>
                      <a:r>
                        <a:rPr lang="en-US" sz="3600"/>
                        <a:t>9</a:t>
                      </a:r>
                      <a:endParaRPr lang="en-US" sz="3600"/>
                    </a:p>
                  </a:txBody>
                  <a:tcPr marL="190500" marR="190500" marT="190500" marB="190500" anchor="ctr">
                    <a:lnR w="12700" algn="ctr">
                      <a:solidFill>
                        <a:schemeClr val="tx1"/>
                      </a:solidFill>
                    </a:lnR>
                    <a:lnT w="12700" algn="ctr">
                      <a:solidFill>
                        <a:schemeClr val="tx1"/>
                      </a:solidFill>
                    </a:lnT>
                    <a:lnB w="12700" algn="ctr">
                      <a:solidFill>
                        <a:schemeClr val="tx1"/>
                      </a:solidFill>
                    </a:lnB>
                  </a:tcPr>
                </a:tc>
                <a:tc>
                  <a:txBody>
                    <a:bodyPr/>
                    <a:p>
                      <a:pPr algn="l">
                        <a:lnSpc>
                          <a:spcPts val="3080"/>
                        </a:lnSpc>
                        <a:defRPr/>
                      </a:pPr>
                      <a:r>
                        <a:rPr lang="fr-FR" sz="3600" u="sng">
                          <a:hlinkClick r:id="rId6" action="ppaction://hlinksldjump" tooltip=""/>
                        </a:rPr>
                        <a:t>Visible vs Invisible Culture (Iceberg Model)</a:t>
                      </a:r>
                      <a:endParaRPr lang="fr-FR" sz="3600"/>
                    </a:p>
                  </a:txBody>
                  <a:tcPr marL="190500" marR="190500" marT="190500" marB="190500" anchor="ctr">
                    <a:lnL w="12700" algn="ctr">
                      <a:solidFill>
                        <a:schemeClr val="tx1"/>
                      </a:solidFill>
                    </a:lnL>
                    <a:lnT w="12700" algn="ctr">
                      <a:solidFill>
                        <a:schemeClr val="tx1"/>
                      </a:solidFill>
                    </a:lnT>
                    <a:lnB w="12700" algn="ctr">
                      <a:solidFill>
                        <a:schemeClr val="tx1"/>
                      </a:solidFill>
                    </a:lnB>
                  </a:tcPr>
                </a:tc>
              </a:tr>
              <a:tr h="866775">
                <a:tc>
                  <a:txBody>
                    <a:bodyPr/>
                    <a:p>
                      <a:pPr algn="ctr">
                        <a:lnSpc>
                          <a:spcPts val="3080"/>
                        </a:lnSpc>
                        <a:defRPr/>
                      </a:pPr>
                      <a:r>
                        <a:rPr lang="en-US" sz="3600"/>
                        <a:t>10</a:t>
                      </a:r>
                      <a:endParaRPr lang="en-US" sz="1800"/>
                    </a:p>
                  </a:txBody>
                  <a:tcPr marL="190500" marR="190500" marT="190500" marB="190500" anchor="ctr">
                    <a:lnR w="12700" algn="ctr">
                      <a:solidFill>
                        <a:schemeClr val="tx1"/>
                      </a:solidFill>
                    </a:lnR>
                    <a:lnT w="12700" algn="ctr">
                      <a:solidFill>
                        <a:schemeClr val="tx1"/>
                      </a:solidFill>
                    </a:lnT>
                    <a:lnB w="12700" algn="ctr">
                      <a:solidFill>
                        <a:schemeClr val="tx1"/>
                      </a:solidFill>
                    </a:lnB>
                  </a:tcPr>
                </a:tc>
                <a:tc>
                  <a:txBody>
                    <a:bodyPr/>
                    <a:p>
                      <a:pPr algn="l">
                        <a:lnSpc>
                          <a:spcPts val="3080"/>
                        </a:lnSpc>
                        <a:defRPr/>
                      </a:pPr>
                      <a:r>
                        <a:rPr lang="en-US" sz="3600" u="sng">
                          <a:hlinkClick r:id="rId7" action="ppaction://hlinksldjump" tooltip=""/>
                        </a:rPr>
                        <a:t>Hofstede Cultural Dimensions</a:t>
                      </a:r>
                      <a:endParaRPr lang="en-US" sz="1800"/>
                    </a:p>
                  </a:txBody>
                  <a:tcPr marL="190500" marR="190500" marT="190500" marB="190500" anchor="ctr">
                    <a:lnL w="12700" algn="ctr">
                      <a:solidFill>
                        <a:schemeClr val="tx1"/>
                      </a:solidFill>
                    </a:lnL>
                    <a:lnT w="12700" algn="ctr">
                      <a:solidFill>
                        <a:schemeClr val="tx1"/>
                      </a:solidFill>
                    </a:lnT>
                    <a:lnB w="12700" algn="ctr">
                      <a:solidFill>
                        <a:schemeClr val="tx1"/>
                      </a:solidFill>
                    </a:lnB>
                  </a:tcPr>
                </a:tc>
              </a:tr>
              <a:tr h="866775">
                <a:tc>
                  <a:txBody>
                    <a:bodyPr/>
                    <a:p>
                      <a:pPr algn="ctr">
                        <a:lnSpc>
                          <a:spcPts val="3080"/>
                        </a:lnSpc>
                        <a:defRPr/>
                      </a:pPr>
                      <a:r>
                        <a:rPr lang="en-US" sz="3600"/>
                        <a:t>16</a:t>
                      </a:r>
                      <a:endParaRPr lang="en-US" sz="1800"/>
                    </a:p>
                  </a:txBody>
                  <a:tcPr marL="190500" marR="190500" marT="190500" marB="190500" anchor="ctr">
                    <a:lnR w="12700" algn="ctr">
                      <a:solidFill>
                        <a:schemeClr val="tx1"/>
                      </a:solidFill>
                    </a:lnR>
                    <a:lnT w="12700" algn="ctr">
                      <a:solidFill>
                        <a:schemeClr val="tx1"/>
                      </a:solidFill>
                    </a:lnT>
                    <a:lnB w="12700" algn="ctr">
                      <a:solidFill>
                        <a:schemeClr val="tx1"/>
                      </a:solidFill>
                    </a:lnB>
                  </a:tcPr>
                </a:tc>
                <a:tc>
                  <a:txBody>
                    <a:bodyPr/>
                    <a:p>
                      <a:pPr algn="l">
                        <a:lnSpc>
                          <a:spcPts val="3080"/>
                        </a:lnSpc>
                        <a:defRPr/>
                      </a:pPr>
                      <a:r>
                        <a:rPr lang="en-US" sz="3600" u="sng">
                          <a:hlinkClick r:id="rId8" action="ppaction://hlinksldjump" tooltip=""/>
                        </a:rPr>
                        <a:t>SDGs &amp; Sustainability</a:t>
                      </a:r>
                      <a:endParaRPr lang="en-US" sz="1800"/>
                    </a:p>
                  </a:txBody>
                  <a:tcPr marL="190500" marR="190500" marT="190500" marB="190500" anchor="ctr">
                    <a:lnL w="12700" algn="ctr">
                      <a:solidFill>
                        <a:schemeClr val="tx1"/>
                      </a:solidFill>
                    </a:lnL>
                    <a:lnT w="12700" algn="ctr">
                      <a:solidFill>
                        <a:schemeClr val="tx1"/>
                      </a:solidFill>
                    </a:lnT>
                    <a:lnB w="12700" algn="ctr">
                      <a:solidFill>
                        <a:schemeClr val="tx1"/>
                      </a:solidFill>
                    </a:lnB>
                  </a:tcPr>
                </a:tc>
              </a:tr>
              <a:tr h="866775">
                <a:tc>
                  <a:txBody>
                    <a:bodyPr/>
                    <a:p>
                      <a:pPr algn="ctr">
                        <a:lnSpc>
                          <a:spcPts val="3080"/>
                        </a:lnSpc>
                        <a:defRPr/>
                      </a:pPr>
                      <a:r>
                        <a:rPr lang="en-US" sz="3600"/>
                        <a:t>17</a:t>
                      </a:r>
                      <a:endParaRPr lang="en-US" sz="1800"/>
                    </a:p>
                  </a:txBody>
                  <a:tcPr marL="190500" marR="190500" marT="190500" marB="190500" anchor="ctr">
                    <a:lnR w="12700" algn="ctr">
                      <a:solidFill>
                        <a:schemeClr val="tx1"/>
                      </a:solidFill>
                    </a:lnR>
                    <a:lnT w="12700" algn="ctr">
                      <a:solidFill>
                        <a:schemeClr val="tx1"/>
                      </a:solidFill>
                    </a:lnT>
                    <a:lnB w="12700" algn="ctr">
                      <a:solidFill>
                        <a:schemeClr val="tx1"/>
                      </a:solidFill>
                    </a:lnB>
                  </a:tcPr>
                </a:tc>
                <a:tc>
                  <a:txBody>
                    <a:bodyPr/>
                    <a:p>
                      <a:pPr algn="l">
                        <a:lnSpc>
                          <a:spcPts val="3080"/>
                        </a:lnSpc>
                        <a:defRPr/>
                      </a:pPr>
                      <a:r>
                        <a:rPr lang="en-US" sz="3600" u="sng">
                          <a:hlinkClick r:id="rId9" action="ppaction://hlinksldjump" tooltip=""/>
                        </a:rPr>
                        <a:t>Video Scenarios</a:t>
                      </a:r>
                      <a:endParaRPr lang="en-US" sz="1800"/>
                    </a:p>
                  </a:txBody>
                  <a:tcPr marL="190500" marR="190500" marT="190500" marB="190500" anchor="ctr">
                    <a:lnL w="12700" algn="ctr">
                      <a:solidFill>
                        <a:schemeClr val="tx1"/>
                      </a:solidFill>
                    </a:lnL>
                    <a:lnT w="12700" algn="ctr">
                      <a:solidFill>
                        <a:schemeClr val="tx1"/>
                      </a:solidFill>
                    </a:lnT>
                    <a:lnB w="12700" algn="ctr">
                      <a:solidFill>
                        <a:schemeClr val="tx1"/>
                      </a:solidFill>
                    </a:lnB>
                  </a:tcPr>
                </a:tc>
              </a:tr>
              <a:tr h="866775">
                <a:tc>
                  <a:txBody>
                    <a:bodyPr/>
                    <a:p>
                      <a:pPr algn="ctr">
                        <a:lnSpc>
                          <a:spcPts val="3080"/>
                        </a:lnSpc>
                        <a:defRPr/>
                      </a:pPr>
                      <a:r>
                        <a:rPr lang="en-US" sz="3600"/>
                        <a:t>19</a:t>
                      </a:r>
                      <a:endParaRPr lang="en-US" sz="1800"/>
                    </a:p>
                  </a:txBody>
                  <a:tcPr marL="190500" marR="190500" marT="190500" marB="190500" anchor="ctr">
                    <a:lnR w="12700" algn="ctr">
                      <a:solidFill>
                        <a:schemeClr val="tx1"/>
                      </a:solidFill>
                    </a:lnR>
                    <a:lnT w="12700" algn="ctr">
                      <a:solidFill>
                        <a:schemeClr val="tx1"/>
                      </a:solidFill>
                    </a:lnT>
                  </a:tcPr>
                </a:tc>
                <a:tc>
                  <a:txBody>
                    <a:bodyPr/>
                    <a:p>
                      <a:pPr algn="l">
                        <a:lnSpc>
                          <a:spcPts val="3080"/>
                        </a:lnSpc>
                        <a:defRPr/>
                      </a:pPr>
                      <a:r>
                        <a:rPr lang="en-US" sz="3600" u="sng">
                          <a:hlinkClick r:id="rId10" action="ppaction://hlinksldjump" tooltip=""/>
                        </a:rPr>
                        <a:t>Conclusion</a:t>
                      </a:r>
                      <a:r>
                        <a:rPr lang="en-US" sz="3600"/>
                        <a:t> &amp; </a:t>
                      </a:r>
                      <a:r>
                        <a:rPr lang="en-US" sz="3600" u="sng">
                          <a:hlinkClick r:id="rId11" action="ppaction://hlinksldjump" tooltip=""/>
                        </a:rPr>
                        <a:t>Discussion</a:t>
                      </a:r>
                      <a:endParaRPr lang="en-US" sz="1800"/>
                    </a:p>
                  </a:txBody>
                  <a:tcPr marL="190500" marR="190500" marT="190500" marB="190500" anchor="ctr">
                    <a:lnL w="12700" algn="ctr">
                      <a:solidFill>
                        <a:schemeClr val="tx1"/>
                      </a:solidFill>
                    </a:lnL>
                    <a:lnT w="12700" algn="ctr">
                      <a:solidFill>
                        <a:schemeClr val="tx1"/>
                      </a:solidFill>
                    </a:lnT>
                  </a:tcPr>
                </a:tc>
              </a:tr>
            </a:tbl>
          </a:graphicData>
        </a:graphic>
      </p:graphicFrame>
      <p:sp>
        <p:nvSpPr>
          <p:cNvPr id="775868217" name="TextBox 17"/>
          <p:cNvSpPr txBox="1"/>
          <p:nvPr/>
        </p:nvSpPr>
        <p:spPr bwMode="auto">
          <a:xfrm>
            <a:off x="2032838" y="1269525"/>
            <a:ext cx="10803890" cy="1184170"/>
          </a:xfrm>
          <a:prstGeom prst="rect">
            <a:avLst/>
          </a:prstGeom>
        </p:spPr>
        <p:txBody>
          <a:bodyPr wrap="square" lIns="0" tIns="0" rIns="0" bIns="0" rtlCol="0" anchor="t">
            <a:spAutoFit/>
          </a:bodyPr>
          <a:lstStyle/>
          <a:p>
            <a:pPr algn="l">
              <a:lnSpc>
                <a:spcPts val="10203"/>
              </a:lnSpc>
              <a:defRPr/>
            </a:pPr>
            <a:r>
              <a:rPr lang="en-US" sz="6000" b="1">
                <a:solidFill>
                  <a:srgbClr val="EF8C07"/>
                </a:solidFill>
                <a:latin typeface="+mj-lt"/>
                <a:ea typeface="Roca Two"/>
                <a:cs typeface="Roca Two"/>
              </a:rPr>
              <a:t>Table of contents</a:t>
            </a:r>
            <a:endParaRPr lang="en-US" sz="6000" b="1">
              <a:solidFill>
                <a:srgbClr val="EF8C07"/>
              </a:solidFill>
              <a:latin typeface="+mj-lt"/>
              <a:ea typeface="Roca Two"/>
              <a:cs typeface="Roca Two"/>
            </a:endParaRPr>
          </a:p>
        </p:txBody>
      </p:sp>
      <p:grpSp>
        <p:nvGrpSpPr>
          <p:cNvPr id="1021169394" name="Group 2"/>
          <p:cNvGrpSpPr/>
          <p:nvPr/>
        </p:nvGrpSpPr>
        <p:grpSpPr bwMode="auto">
          <a:xfrm>
            <a:off x="14867462" y="10124725"/>
            <a:ext cx="3048001" cy="614072"/>
            <a:chOff x="0" y="0"/>
            <a:chExt cx="4816593" cy="595820"/>
          </a:xfrm>
          <a:solidFill>
            <a:schemeClr val="accent6">
              <a:lumMod val="40000"/>
              <a:lumOff val="60000"/>
            </a:schemeClr>
          </a:solidFill>
        </p:grpSpPr>
        <p:sp>
          <p:nvSpPr>
            <p:cNvPr id="22" name="Freeform 3"/>
            <p:cNvSpPr/>
            <p:nvPr/>
          </p:nvSpPr>
          <p:spPr bwMode="auto">
            <a:xfrm>
              <a:off x="0" y="0"/>
              <a:ext cx="4816592" cy="595820"/>
            </a:xfrm>
            <a:prstGeom prst="roundRect">
              <a:avLst>
                <a:gd name="adj" fmla="val 16667"/>
              </a:avLst>
            </a:prstGeom>
            <a:grpFill/>
          </p:spPr>
        </p:sp>
        <p:sp>
          <p:nvSpPr>
            <p:cNvPr id="23" name="TextBox 4"/>
            <p:cNvSpPr txBox="1"/>
            <p:nvPr/>
          </p:nvSpPr>
          <p:spPr bwMode="auto">
            <a:xfrm>
              <a:off x="0" y="-47625"/>
              <a:ext cx="4816593" cy="643445"/>
            </a:xfrm>
            <a:prstGeom prst="roundRect">
              <a:avLst>
                <a:gd name="adj" fmla="val 16667"/>
              </a:avLst>
            </a:prstGeom>
            <a:grpFill/>
          </p:spPr>
          <p:txBody>
            <a:bodyPr lIns="50800" tIns="50800" rIns="50800" bIns="50800" rtlCol="0" anchor="ctr"/>
            <a:lstStyle/>
            <a:p>
              <a:pPr algn="ctr">
                <a:lnSpc>
                  <a:spcPts val="2800"/>
                </a:lnSpc>
                <a:defRPr/>
              </a:pPr>
              <a:endParaRPr/>
            </a:p>
          </p:txBody>
        </p:sp>
      </p:grpSp>
      <p:grpSp>
        <p:nvGrpSpPr>
          <p:cNvPr id="1721600141" name="Group 2"/>
          <p:cNvGrpSpPr/>
          <p:nvPr/>
        </p:nvGrpSpPr>
        <p:grpSpPr bwMode="auto">
          <a:xfrm>
            <a:off x="10515600" y="10020299"/>
            <a:ext cx="2971800" cy="614072"/>
            <a:chOff x="0" y="0"/>
            <a:chExt cx="4816593" cy="595820"/>
          </a:xfrm>
          <a:solidFill>
            <a:schemeClr val="accent6">
              <a:lumMod val="40000"/>
              <a:lumOff val="60000"/>
            </a:schemeClr>
          </a:solidFill>
        </p:grpSpPr>
        <p:sp>
          <p:nvSpPr>
            <p:cNvPr id="25" name="Freeform 3"/>
            <p:cNvSpPr/>
            <p:nvPr/>
          </p:nvSpPr>
          <p:spPr bwMode="auto">
            <a:xfrm>
              <a:off x="0" y="0"/>
              <a:ext cx="4816592" cy="595820"/>
            </a:xfrm>
            <a:prstGeom prst="roundRect">
              <a:avLst>
                <a:gd name="adj" fmla="val 16667"/>
              </a:avLst>
            </a:prstGeom>
            <a:grpFill/>
          </p:spPr>
        </p:sp>
        <p:sp>
          <p:nvSpPr>
            <p:cNvPr id="26" name="TextBox 4"/>
            <p:cNvSpPr txBox="1"/>
            <p:nvPr/>
          </p:nvSpPr>
          <p:spPr bwMode="auto">
            <a:xfrm>
              <a:off x="0" y="-47625"/>
              <a:ext cx="4816593" cy="643445"/>
            </a:xfrm>
            <a:prstGeom prst="roundRect">
              <a:avLst>
                <a:gd name="adj" fmla="val 16667"/>
              </a:avLst>
            </a:prstGeom>
            <a:grpFill/>
          </p:spPr>
          <p:txBody>
            <a:bodyPr lIns="50800" tIns="50800" rIns="50800" bIns="50800" rtlCol="0" anchor="ctr"/>
            <a:lstStyle/>
            <a:p>
              <a:pPr algn="ctr">
                <a:lnSpc>
                  <a:spcPts val="2800"/>
                </a:lnSpc>
                <a:defRPr/>
              </a:pPr>
              <a:endParaRPr/>
            </a:p>
          </p:txBody>
        </p:sp>
      </p:grpSp>
      <p:grpSp>
        <p:nvGrpSpPr>
          <p:cNvPr id="1121791762" name="Group 2"/>
          <p:cNvGrpSpPr/>
          <p:nvPr/>
        </p:nvGrpSpPr>
        <p:grpSpPr bwMode="auto">
          <a:xfrm>
            <a:off x="6096000" y="9979963"/>
            <a:ext cx="2677568" cy="614072"/>
            <a:chOff x="0" y="0"/>
            <a:chExt cx="4816593" cy="595820"/>
          </a:xfrm>
          <a:solidFill>
            <a:schemeClr val="accent6">
              <a:lumMod val="40000"/>
              <a:lumOff val="60000"/>
            </a:schemeClr>
          </a:solidFill>
        </p:grpSpPr>
        <p:sp>
          <p:nvSpPr>
            <p:cNvPr id="28" name="Freeform 3"/>
            <p:cNvSpPr/>
            <p:nvPr/>
          </p:nvSpPr>
          <p:spPr bwMode="auto">
            <a:xfrm>
              <a:off x="0" y="0"/>
              <a:ext cx="4816592" cy="595820"/>
            </a:xfrm>
            <a:prstGeom prst="roundRect">
              <a:avLst>
                <a:gd name="adj" fmla="val 16667"/>
              </a:avLst>
            </a:prstGeom>
            <a:grpFill/>
          </p:spPr>
        </p:sp>
        <p:sp>
          <p:nvSpPr>
            <p:cNvPr id="29" name="TextBox 4"/>
            <p:cNvSpPr txBox="1"/>
            <p:nvPr/>
          </p:nvSpPr>
          <p:spPr bwMode="auto">
            <a:xfrm>
              <a:off x="0" y="-47625"/>
              <a:ext cx="4816593" cy="643445"/>
            </a:xfrm>
            <a:prstGeom prst="roundRect">
              <a:avLst>
                <a:gd name="adj" fmla="val 16667"/>
              </a:avLst>
            </a:prstGeom>
            <a:grpFill/>
          </p:spPr>
          <p:txBody>
            <a:bodyPr lIns="50800" tIns="50800" rIns="50800" bIns="50800" rtlCol="0" anchor="ctr"/>
            <a:lstStyle/>
            <a:p>
              <a:pPr algn="ctr">
                <a:lnSpc>
                  <a:spcPts val="2800"/>
                </a:lnSpc>
                <a:defRPr/>
              </a:pPr>
              <a:endParaRPr/>
            </a:p>
          </p:txBody>
        </p:sp>
      </p:grpSp>
      <p:grpSp>
        <p:nvGrpSpPr>
          <p:cNvPr id="1161942377" name="Group 2"/>
          <p:cNvGrpSpPr/>
          <p:nvPr/>
        </p:nvGrpSpPr>
        <p:grpSpPr bwMode="auto">
          <a:xfrm>
            <a:off x="370432" y="9939627"/>
            <a:ext cx="1066800" cy="614072"/>
            <a:chOff x="0" y="0"/>
            <a:chExt cx="4816593" cy="595820"/>
          </a:xfrm>
          <a:solidFill>
            <a:schemeClr val="accent6">
              <a:lumMod val="40000"/>
              <a:lumOff val="60000"/>
            </a:schemeClr>
          </a:solidFill>
        </p:grpSpPr>
        <p:sp>
          <p:nvSpPr>
            <p:cNvPr id="31" name="Freeform 3"/>
            <p:cNvSpPr/>
            <p:nvPr/>
          </p:nvSpPr>
          <p:spPr bwMode="auto">
            <a:xfrm>
              <a:off x="0" y="0"/>
              <a:ext cx="4816592" cy="595820"/>
            </a:xfrm>
            <a:prstGeom prst="roundRect">
              <a:avLst>
                <a:gd name="adj" fmla="val 16667"/>
              </a:avLst>
            </a:prstGeom>
            <a:grpFill/>
          </p:spPr>
        </p:sp>
        <p:sp>
          <p:nvSpPr>
            <p:cNvPr id="32" name="TextBox 4"/>
            <p:cNvSpPr txBox="1"/>
            <p:nvPr/>
          </p:nvSpPr>
          <p:spPr bwMode="auto">
            <a:xfrm>
              <a:off x="0" y="-47625"/>
              <a:ext cx="4816593" cy="643445"/>
            </a:xfrm>
            <a:prstGeom prst="roundRect">
              <a:avLst>
                <a:gd name="adj" fmla="val 16667"/>
              </a:avLst>
            </a:prstGeom>
            <a:grpFill/>
          </p:spPr>
          <p:txBody>
            <a:bodyPr lIns="50800" tIns="50800" rIns="50800" bIns="50800" rtlCol="0" anchor="ctr"/>
            <a:lstStyle/>
            <a:p>
              <a:pPr algn="ctr">
                <a:lnSpc>
                  <a:spcPts val="2800"/>
                </a:lnSpc>
                <a:defRPr/>
              </a:pPr>
              <a:endParaRPr/>
            </a:p>
          </p:txBody>
        </p:sp>
      </p:grpSp>
      <p:grpSp>
        <p:nvGrpSpPr>
          <p:cNvPr id="727928640" name="Group 2"/>
          <p:cNvGrpSpPr/>
          <p:nvPr/>
        </p:nvGrpSpPr>
        <p:grpSpPr bwMode="auto">
          <a:xfrm>
            <a:off x="2699816" y="9979963"/>
            <a:ext cx="1654152" cy="614072"/>
            <a:chOff x="0" y="0"/>
            <a:chExt cx="4816593" cy="595820"/>
          </a:xfrm>
          <a:solidFill>
            <a:schemeClr val="accent6">
              <a:lumMod val="40000"/>
              <a:lumOff val="60000"/>
            </a:schemeClr>
          </a:solidFill>
        </p:grpSpPr>
        <p:sp>
          <p:nvSpPr>
            <p:cNvPr id="34" name="Freeform 3"/>
            <p:cNvSpPr/>
            <p:nvPr/>
          </p:nvSpPr>
          <p:spPr bwMode="auto">
            <a:xfrm>
              <a:off x="0" y="0"/>
              <a:ext cx="4816592" cy="595820"/>
            </a:xfrm>
            <a:prstGeom prst="roundRect">
              <a:avLst>
                <a:gd name="adj" fmla="val 16667"/>
              </a:avLst>
            </a:prstGeom>
            <a:grpFill/>
          </p:spPr>
        </p:sp>
        <p:sp>
          <p:nvSpPr>
            <p:cNvPr id="35" name="TextBox 4"/>
            <p:cNvSpPr txBox="1"/>
            <p:nvPr/>
          </p:nvSpPr>
          <p:spPr bwMode="auto">
            <a:xfrm>
              <a:off x="0" y="-47625"/>
              <a:ext cx="4816593" cy="643445"/>
            </a:xfrm>
            <a:prstGeom prst="roundRect">
              <a:avLst>
                <a:gd name="adj" fmla="val 16667"/>
              </a:avLst>
            </a:prstGeom>
            <a:grp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975450740"/>
                                        </p:tgtEl>
                                        <p:attrNameLst>
                                          <p:attrName>style.visibility</p:attrName>
                                        </p:attrNameLst>
                                      </p:cBhvr>
                                      <p:to>
                                        <p:strVal val="visible"/>
                                      </p:to>
                                    </p:set>
                                    <p:anim calcmode="lin" valueType="num">
                                      <p:cBhvr additive="base">
                                        <p:cTn id="7" dur="250" fill="hold"/>
                                        <p:tgtEl>
                                          <p:spTgt spid="1975450740"/>
                                        </p:tgtEl>
                                        <p:attrNameLst>
                                          <p:attrName>ppt_x</p:attrName>
                                        </p:attrNameLst>
                                      </p:cBhvr>
                                      <p:tavLst>
                                        <p:tav tm="0">
                                          <p:val>
                                            <p:strVal val="#ppt_x"/>
                                          </p:val>
                                        </p:tav>
                                        <p:tav tm="100000">
                                          <p:val>
                                            <p:strVal val="#ppt_x"/>
                                          </p:val>
                                        </p:tav>
                                      </p:tavLst>
                                    </p:anim>
                                    <p:anim calcmode="lin" valueType="num">
                                      <p:cBhvr additive="base">
                                        <p:cTn id="8" dur="250" fill="hold"/>
                                        <p:tgtEl>
                                          <p:spTgt spid="1975450740"/>
                                        </p:tgtEl>
                                        <p:attrNameLst>
                                          <p:attrName>ppt_y</p:attrName>
                                        </p:attrNameLst>
                                      </p:cBhvr>
                                      <p:tavLst>
                                        <p:tav tm="0">
                                          <p:val>
                                            <p:strVal val="0-#ppt_h/2"/>
                                          </p:val>
                                        </p:tav>
                                        <p:tav tm="100000">
                                          <p:val>
                                            <p:strVal val="#ppt_y"/>
                                          </p:val>
                                        </p:tav>
                                      </p:tavLst>
                                    </p:anim>
                                  </p:childTnLst>
                                </p:cTn>
                              </p:par>
                              <p:par>
                                <p:cTn id="9" presetID="47" presetClass="entr" presetSubtype="0" fill="hold" grpId="0" nodeType="withEffect">
                                  <p:stCondLst>
                                    <p:cond delay="250"/>
                                  </p:stCondLst>
                                  <p:childTnLst>
                                    <p:set>
                                      <p:cBhvr>
                                        <p:cTn id="10" dur="1" fill="hold">
                                          <p:stCondLst>
                                            <p:cond delay="0"/>
                                          </p:stCondLst>
                                        </p:cTn>
                                        <p:tgtEl>
                                          <p:spTgt spid="775868217"/>
                                        </p:tgtEl>
                                        <p:attrNameLst>
                                          <p:attrName>style.visibility</p:attrName>
                                        </p:attrNameLst>
                                      </p:cBhvr>
                                      <p:to>
                                        <p:strVal val="visible"/>
                                      </p:to>
                                    </p:set>
                                    <p:animEffect transition="in" filter="fade">
                                      <p:cBhvr>
                                        <p:cTn id="11" dur="500"/>
                                        <p:tgtEl>
                                          <p:spTgt spid="775868217"/>
                                        </p:tgtEl>
                                      </p:cBhvr>
                                    </p:animEffect>
                                    <p:anim calcmode="lin" valueType="num">
                                      <p:cBhvr>
                                        <p:cTn id="12" dur="500" fill="hold"/>
                                        <p:tgtEl>
                                          <p:spTgt spid="775868217"/>
                                        </p:tgtEl>
                                        <p:attrNameLst>
                                          <p:attrName>ppt_x</p:attrName>
                                        </p:attrNameLst>
                                      </p:cBhvr>
                                      <p:tavLst>
                                        <p:tav tm="0">
                                          <p:val>
                                            <p:strVal val="#ppt_x"/>
                                          </p:val>
                                        </p:tav>
                                        <p:tav tm="100000">
                                          <p:val>
                                            <p:strVal val="#ppt_x"/>
                                          </p:val>
                                        </p:tav>
                                      </p:tavLst>
                                    </p:anim>
                                    <p:anim calcmode="lin" valueType="num">
                                      <p:cBhvr>
                                        <p:cTn id="13" dur="500" fill="hold"/>
                                        <p:tgtEl>
                                          <p:spTgt spid="775868217"/>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250"/>
                                  </p:stCondLst>
                                  <p:childTnLst>
                                    <p:set>
                                      <p:cBhvr>
                                        <p:cTn id="15" dur="1" fill="hold">
                                          <p:stCondLst>
                                            <p:cond delay="0"/>
                                          </p:stCondLst>
                                        </p:cTn>
                                        <p:tgtEl>
                                          <p:spTgt spid="1021169394"/>
                                        </p:tgtEl>
                                        <p:attrNameLst>
                                          <p:attrName>style.visibility</p:attrName>
                                        </p:attrNameLst>
                                      </p:cBhvr>
                                      <p:to>
                                        <p:strVal val="visible"/>
                                      </p:to>
                                    </p:set>
                                    <p:animEffect transition="in" filter="fade">
                                      <p:cBhvr>
                                        <p:cTn id="16" dur="500"/>
                                        <p:tgtEl>
                                          <p:spTgt spid="1021169394"/>
                                        </p:tgtEl>
                                      </p:cBhvr>
                                    </p:animEffect>
                                    <p:anim calcmode="lin" valueType="num">
                                      <p:cBhvr>
                                        <p:cTn id="17" dur="500" fill="hold"/>
                                        <p:tgtEl>
                                          <p:spTgt spid="1021169394"/>
                                        </p:tgtEl>
                                        <p:attrNameLst>
                                          <p:attrName>ppt_x</p:attrName>
                                        </p:attrNameLst>
                                      </p:cBhvr>
                                      <p:tavLst>
                                        <p:tav tm="0">
                                          <p:val>
                                            <p:strVal val="#ppt_x"/>
                                          </p:val>
                                        </p:tav>
                                        <p:tav tm="100000">
                                          <p:val>
                                            <p:strVal val="#ppt_x"/>
                                          </p:val>
                                        </p:tav>
                                      </p:tavLst>
                                    </p:anim>
                                    <p:anim calcmode="lin" valueType="num">
                                      <p:cBhvr>
                                        <p:cTn id="18" dur="500" fill="hold"/>
                                        <p:tgtEl>
                                          <p:spTgt spid="1021169394"/>
                                        </p:tgtEl>
                                        <p:attrNameLst>
                                          <p:attrName>ppt_y</p:attrName>
                                        </p:attrNameLst>
                                      </p:cBhvr>
                                      <p:tavLst>
                                        <p:tav tm="0">
                                          <p:val>
                                            <p:strVal val="#ppt_y+.1"/>
                                          </p:val>
                                        </p:tav>
                                        <p:tav tm="100000">
                                          <p:val>
                                            <p:strVal val="#ppt_y"/>
                                          </p:val>
                                        </p:tav>
                                      </p:tavLst>
                                    </p:anim>
                                  </p:childTnLst>
                                </p:cTn>
                              </p:par>
                            </p:childTnLst>
                          </p:cTn>
                        </p:par>
                        <p:par>
                          <p:cTn id="19" fill="hold">
                            <p:stCondLst>
                              <p:cond delay="750"/>
                            </p:stCondLst>
                            <p:childTnLst>
                              <p:par>
                                <p:cTn id="20" presetID="42" presetClass="entr" presetSubtype="0" fill="hold" nodeType="afterEffect">
                                  <p:stCondLst>
                                    <p:cond delay="0"/>
                                  </p:stCondLst>
                                  <p:childTnLst>
                                    <p:set>
                                      <p:cBhvr>
                                        <p:cTn id="21" dur="1" fill="hold">
                                          <p:stCondLst>
                                            <p:cond delay="0"/>
                                          </p:stCondLst>
                                        </p:cTn>
                                        <p:tgtEl>
                                          <p:spTgt spid="1721600141"/>
                                        </p:tgtEl>
                                        <p:attrNameLst>
                                          <p:attrName>style.visibility</p:attrName>
                                        </p:attrNameLst>
                                      </p:cBhvr>
                                      <p:to>
                                        <p:strVal val="visible"/>
                                      </p:to>
                                    </p:set>
                                    <p:animEffect transition="in" filter="fade">
                                      <p:cBhvr>
                                        <p:cTn id="22" dur="500"/>
                                        <p:tgtEl>
                                          <p:spTgt spid="1721600141"/>
                                        </p:tgtEl>
                                      </p:cBhvr>
                                    </p:animEffect>
                                    <p:anim calcmode="lin" valueType="num">
                                      <p:cBhvr>
                                        <p:cTn id="23" dur="500" fill="hold"/>
                                        <p:tgtEl>
                                          <p:spTgt spid="1721600141"/>
                                        </p:tgtEl>
                                        <p:attrNameLst>
                                          <p:attrName>ppt_x</p:attrName>
                                        </p:attrNameLst>
                                      </p:cBhvr>
                                      <p:tavLst>
                                        <p:tav tm="0">
                                          <p:val>
                                            <p:strVal val="#ppt_x"/>
                                          </p:val>
                                        </p:tav>
                                        <p:tav tm="100000">
                                          <p:val>
                                            <p:strVal val="#ppt_x"/>
                                          </p:val>
                                        </p:tav>
                                      </p:tavLst>
                                    </p:anim>
                                    <p:anim calcmode="lin" valueType="num">
                                      <p:cBhvr>
                                        <p:cTn id="24" dur="500" fill="hold"/>
                                        <p:tgtEl>
                                          <p:spTgt spid="1721600141"/>
                                        </p:tgtEl>
                                        <p:attrNameLst>
                                          <p:attrName>ppt_y</p:attrName>
                                        </p:attrNameLst>
                                      </p:cBhvr>
                                      <p:tavLst>
                                        <p:tav tm="0">
                                          <p:val>
                                            <p:strVal val="#ppt_y+.1"/>
                                          </p:val>
                                        </p:tav>
                                        <p:tav tm="100000">
                                          <p:val>
                                            <p:strVal val="#ppt_y"/>
                                          </p:val>
                                        </p:tav>
                                      </p:tavLst>
                                    </p:anim>
                                  </p:childTnLst>
                                </p:cTn>
                              </p:par>
                            </p:childTnLst>
                          </p:cTn>
                        </p:par>
                        <p:par>
                          <p:cTn id="25" fill="hold">
                            <p:stCondLst>
                              <p:cond delay="1250"/>
                            </p:stCondLst>
                            <p:childTnLst>
                              <p:par>
                                <p:cTn id="26" presetID="42" presetClass="entr" presetSubtype="0" fill="hold" nodeType="afterEffect">
                                  <p:stCondLst>
                                    <p:cond delay="0"/>
                                  </p:stCondLst>
                                  <p:childTnLst>
                                    <p:set>
                                      <p:cBhvr>
                                        <p:cTn id="27" dur="1" fill="hold">
                                          <p:stCondLst>
                                            <p:cond delay="0"/>
                                          </p:stCondLst>
                                        </p:cTn>
                                        <p:tgtEl>
                                          <p:spTgt spid="1121791762"/>
                                        </p:tgtEl>
                                        <p:attrNameLst>
                                          <p:attrName>style.visibility</p:attrName>
                                        </p:attrNameLst>
                                      </p:cBhvr>
                                      <p:to>
                                        <p:strVal val="visible"/>
                                      </p:to>
                                    </p:set>
                                    <p:animEffect transition="in" filter="fade">
                                      <p:cBhvr>
                                        <p:cTn id="28" dur="500"/>
                                        <p:tgtEl>
                                          <p:spTgt spid="1121791762"/>
                                        </p:tgtEl>
                                      </p:cBhvr>
                                    </p:animEffect>
                                    <p:anim calcmode="lin" valueType="num">
                                      <p:cBhvr>
                                        <p:cTn id="29" dur="500" fill="hold"/>
                                        <p:tgtEl>
                                          <p:spTgt spid="1121791762"/>
                                        </p:tgtEl>
                                        <p:attrNameLst>
                                          <p:attrName>ppt_x</p:attrName>
                                        </p:attrNameLst>
                                      </p:cBhvr>
                                      <p:tavLst>
                                        <p:tav tm="0">
                                          <p:val>
                                            <p:strVal val="#ppt_x"/>
                                          </p:val>
                                        </p:tav>
                                        <p:tav tm="100000">
                                          <p:val>
                                            <p:strVal val="#ppt_x"/>
                                          </p:val>
                                        </p:tav>
                                      </p:tavLst>
                                    </p:anim>
                                    <p:anim calcmode="lin" valueType="num">
                                      <p:cBhvr>
                                        <p:cTn id="30" dur="500" fill="hold"/>
                                        <p:tgtEl>
                                          <p:spTgt spid="1121791762"/>
                                        </p:tgtEl>
                                        <p:attrNameLst>
                                          <p:attrName>ppt_y</p:attrName>
                                        </p:attrNameLst>
                                      </p:cBhvr>
                                      <p:tavLst>
                                        <p:tav tm="0">
                                          <p:val>
                                            <p:strVal val="#ppt_y+.1"/>
                                          </p:val>
                                        </p:tav>
                                        <p:tav tm="100000">
                                          <p:val>
                                            <p:strVal val="#ppt_y"/>
                                          </p:val>
                                        </p:tav>
                                      </p:tavLst>
                                    </p:anim>
                                  </p:childTnLst>
                                </p:cTn>
                              </p:par>
                            </p:childTnLst>
                          </p:cTn>
                        </p:par>
                        <p:par>
                          <p:cTn id="31" fill="hold">
                            <p:stCondLst>
                              <p:cond delay="1750"/>
                            </p:stCondLst>
                            <p:childTnLst>
                              <p:par>
                                <p:cTn id="32" presetID="42" presetClass="entr" presetSubtype="0" fill="hold" nodeType="afterEffect">
                                  <p:stCondLst>
                                    <p:cond delay="0"/>
                                  </p:stCondLst>
                                  <p:childTnLst>
                                    <p:set>
                                      <p:cBhvr>
                                        <p:cTn id="33" dur="1" fill="hold">
                                          <p:stCondLst>
                                            <p:cond delay="0"/>
                                          </p:stCondLst>
                                        </p:cTn>
                                        <p:tgtEl>
                                          <p:spTgt spid="727928640"/>
                                        </p:tgtEl>
                                        <p:attrNameLst>
                                          <p:attrName>style.visibility</p:attrName>
                                        </p:attrNameLst>
                                      </p:cBhvr>
                                      <p:to>
                                        <p:strVal val="visible"/>
                                      </p:to>
                                    </p:set>
                                    <p:animEffect transition="in" filter="fade">
                                      <p:cBhvr>
                                        <p:cTn id="34" dur="500"/>
                                        <p:tgtEl>
                                          <p:spTgt spid="727928640"/>
                                        </p:tgtEl>
                                      </p:cBhvr>
                                    </p:animEffect>
                                    <p:anim calcmode="lin" valueType="num">
                                      <p:cBhvr>
                                        <p:cTn id="35" dur="500" fill="hold"/>
                                        <p:tgtEl>
                                          <p:spTgt spid="727928640"/>
                                        </p:tgtEl>
                                        <p:attrNameLst>
                                          <p:attrName>ppt_x</p:attrName>
                                        </p:attrNameLst>
                                      </p:cBhvr>
                                      <p:tavLst>
                                        <p:tav tm="0">
                                          <p:val>
                                            <p:strVal val="#ppt_x"/>
                                          </p:val>
                                        </p:tav>
                                        <p:tav tm="100000">
                                          <p:val>
                                            <p:strVal val="#ppt_x"/>
                                          </p:val>
                                        </p:tav>
                                      </p:tavLst>
                                    </p:anim>
                                    <p:anim calcmode="lin" valueType="num">
                                      <p:cBhvr>
                                        <p:cTn id="36" dur="500" fill="hold"/>
                                        <p:tgtEl>
                                          <p:spTgt spid="727928640"/>
                                        </p:tgtEl>
                                        <p:attrNameLst>
                                          <p:attrName>ppt_y</p:attrName>
                                        </p:attrNameLst>
                                      </p:cBhvr>
                                      <p:tavLst>
                                        <p:tav tm="0">
                                          <p:val>
                                            <p:strVal val="#ppt_y+.1"/>
                                          </p:val>
                                        </p:tav>
                                        <p:tav tm="100000">
                                          <p:val>
                                            <p:strVal val="#ppt_y"/>
                                          </p:val>
                                        </p:tav>
                                      </p:tavLst>
                                    </p:anim>
                                  </p:childTnLst>
                                </p:cTn>
                              </p:par>
                            </p:childTnLst>
                          </p:cTn>
                        </p:par>
                        <p:par>
                          <p:cTn id="37" fill="hold">
                            <p:stCondLst>
                              <p:cond delay="2250"/>
                            </p:stCondLst>
                            <p:childTnLst>
                              <p:par>
                                <p:cTn id="38" presetID="42" presetClass="entr" presetSubtype="0" fill="hold" nodeType="afterEffect">
                                  <p:stCondLst>
                                    <p:cond delay="0"/>
                                  </p:stCondLst>
                                  <p:childTnLst>
                                    <p:set>
                                      <p:cBhvr>
                                        <p:cTn id="39" dur="1" fill="hold">
                                          <p:stCondLst>
                                            <p:cond delay="0"/>
                                          </p:stCondLst>
                                        </p:cTn>
                                        <p:tgtEl>
                                          <p:spTgt spid="1161942377"/>
                                        </p:tgtEl>
                                        <p:attrNameLst>
                                          <p:attrName>style.visibility</p:attrName>
                                        </p:attrNameLst>
                                      </p:cBhvr>
                                      <p:to>
                                        <p:strVal val="visible"/>
                                      </p:to>
                                    </p:set>
                                    <p:animEffect transition="in" filter="fade">
                                      <p:cBhvr>
                                        <p:cTn id="40" dur="500"/>
                                        <p:tgtEl>
                                          <p:spTgt spid="1161942377"/>
                                        </p:tgtEl>
                                      </p:cBhvr>
                                    </p:animEffect>
                                    <p:anim calcmode="lin" valueType="num">
                                      <p:cBhvr>
                                        <p:cTn id="41" dur="500" fill="hold"/>
                                        <p:tgtEl>
                                          <p:spTgt spid="1161942377"/>
                                        </p:tgtEl>
                                        <p:attrNameLst>
                                          <p:attrName>ppt_x</p:attrName>
                                        </p:attrNameLst>
                                      </p:cBhvr>
                                      <p:tavLst>
                                        <p:tav tm="0">
                                          <p:val>
                                            <p:strVal val="#ppt_x"/>
                                          </p:val>
                                        </p:tav>
                                        <p:tav tm="100000">
                                          <p:val>
                                            <p:strVal val="#ppt_x"/>
                                          </p:val>
                                        </p:tav>
                                      </p:tavLst>
                                    </p:anim>
                                    <p:anim calcmode="lin" valueType="num">
                                      <p:cBhvr>
                                        <p:cTn id="42" dur="500" fill="hold"/>
                                        <p:tgtEl>
                                          <p:spTgt spid="11619423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5868217" grpId="0"/>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969974900" name="Group 2"/>
          <p:cNvGrpSpPr/>
          <p:nvPr/>
        </p:nvGrpSpPr>
        <p:grpSpPr bwMode="auto">
          <a:xfrm>
            <a:off x="1524000" y="3376643"/>
            <a:ext cx="16002000" cy="1651990"/>
            <a:chOff x="0" y="0"/>
            <a:chExt cx="4816593" cy="595820"/>
          </a:xfrm>
          <a:solidFill>
            <a:schemeClr val="accent6">
              <a:lumMod val="20000"/>
              <a:lumOff val="80000"/>
            </a:schemeClr>
          </a:solidFill>
        </p:grpSpPr>
        <p:sp>
          <p:nvSpPr>
            <p:cNvPr id="16" name="Freeform 3"/>
            <p:cNvSpPr/>
            <p:nvPr/>
          </p:nvSpPr>
          <p:spPr bwMode="auto">
            <a:xfrm>
              <a:off x="0" y="0"/>
              <a:ext cx="4816592" cy="595820"/>
            </a:xfrm>
            <a:prstGeom prst="roundRect">
              <a:avLst>
                <a:gd name="adj" fmla="val 16667"/>
              </a:avLst>
            </a:prstGeom>
            <a:grpFill/>
          </p:spPr>
        </p:sp>
        <p:sp>
          <p:nvSpPr>
            <p:cNvPr id="17" name="TextBox 4"/>
            <p:cNvSpPr txBox="1"/>
            <p:nvPr/>
          </p:nvSpPr>
          <p:spPr bwMode="auto">
            <a:xfrm>
              <a:off x="0" y="-47625"/>
              <a:ext cx="4816593" cy="643445"/>
            </a:xfrm>
            <a:prstGeom prst="roundRect">
              <a:avLst>
                <a:gd name="adj" fmla="val 16667"/>
              </a:avLst>
            </a:prstGeom>
            <a:grpFill/>
          </p:spPr>
          <p:txBody>
            <a:bodyPr lIns="50800" tIns="50800" rIns="50800" bIns="50800" rtlCol="0" anchor="ctr"/>
            <a:lstStyle/>
            <a:p>
              <a:pPr algn="ctr">
                <a:lnSpc>
                  <a:spcPts val="2800"/>
                </a:lnSpc>
                <a:defRPr/>
              </a:pPr>
              <a:endParaRPr/>
            </a:p>
          </p:txBody>
        </p:sp>
      </p:grpSp>
      <p:sp>
        <p:nvSpPr>
          <p:cNvPr id="1346516461" name="TextBox 7"/>
          <p:cNvSpPr txBox="1"/>
          <p:nvPr/>
        </p:nvSpPr>
        <p:spPr bwMode="auto">
          <a:xfrm>
            <a:off x="2305050" y="1409700"/>
            <a:ext cx="13601700" cy="1015663"/>
          </a:xfrm>
          <a:prstGeom prst="rect">
            <a:avLst/>
          </a:prstGeom>
        </p:spPr>
        <p:txBody>
          <a:bodyPr wrap="square" lIns="0" tIns="0" rIns="0" bIns="0" rtlCol="0" anchor="ctr">
            <a:spAutoFit/>
          </a:bodyPr>
          <a:lstStyle/>
          <a:p>
            <a:pPr lvl="0">
              <a:spcBef>
                <a:spcPts val="0"/>
              </a:spcBef>
              <a:defRPr/>
            </a:pPr>
            <a:r>
              <a:rPr lang="en-US" sz="6600" b="1">
                <a:solidFill>
                  <a:srgbClr val="EF8C07"/>
                </a:solidFill>
                <a:latin typeface="+mj-lt"/>
              </a:rPr>
              <a:t>Introduction</a:t>
            </a:r>
            <a:endParaRPr lang="en-US" sz="6600" b="1" u="none" strike="noStrike">
              <a:solidFill>
                <a:srgbClr val="EF8C07"/>
              </a:solidFill>
              <a:latin typeface="+mj-lt"/>
              <a:ea typeface="Roca Two Bold"/>
              <a:cs typeface="Roca Two Bold"/>
            </a:endParaRPr>
          </a:p>
        </p:txBody>
      </p:sp>
      <p:sp>
        <p:nvSpPr>
          <p:cNvPr id="1766197219" name="TextBox 12"/>
          <p:cNvSpPr txBox="1"/>
          <p:nvPr/>
        </p:nvSpPr>
        <p:spPr bwMode="auto">
          <a:xfrm>
            <a:off x="2133598" y="3848100"/>
            <a:ext cx="15087600" cy="553998"/>
          </a:xfrm>
          <a:prstGeom prst="rect">
            <a:avLst/>
          </a:prstGeom>
        </p:spPr>
        <p:txBody>
          <a:bodyPr wrap="square" lIns="0" tIns="0" rIns="0" bIns="0" rtlCol="0" anchor="ctr">
            <a:spAutoFit/>
          </a:bodyPr>
          <a:lstStyle/>
          <a:p>
            <a:pPr>
              <a:spcBef>
                <a:spcPts val="0"/>
              </a:spcBef>
              <a:defRPr/>
            </a:pPr>
            <a:r>
              <a:rPr lang="en-US" sz="3600" b="1">
                <a:solidFill>
                  <a:srgbClr val="292149"/>
                </a:solidFill>
                <a:ea typeface="Touvlo Bold"/>
                <a:cs typeface="Touvlo Bold"/>
              </a:rPr>
              <a:t>Q: How </a:t>
            </a:r>
            <a:r>
              <a:rPr lang="en-US" sz="3600" b="1">
                <a:solidFill>
                  <a:srgbClr val="292149"/>
                </a:solidFill>
                <a:ea typeface="Touvlo Bold"/>
                <a:cs typeface="Touvlo Bold"/>
              </a:rPr>
              <a:t>do cultural differences affect professional cooperation and teamwork</a:t>
            </a:r>
            <a:r>
              <a:rPr lang="en-US" sz="3600" b="1">
                <a:solidFill>
                  <a:srgbClr val="292149"/>
                </a:solidFill>
                <a:ea typeface="Touvlo Bold"/>
                <a:cs typeface="Touvlo Bold"/>
              </a:rPr>
              <a:t>?</a:t>
            </a:r>
            <a:endParaRPr lang="en-US" sz="3600" b="1">
              <a:solidFill>
                <a:srgbClr val="292149"/>
              </a:solidFill>
              <a:ea typeface="Touvlo Bold"/>
              <a:cs typeface="Touvlo Bold"/>
            </a:endParaRPr>
          </a:p>
        </p:txBody>
      </p:sp>
      <p:sp>
        <p:nvSpPr>
          <p:cNvPr id="1696290829" name="Freeform 2"/>
          <p:cNvSpPr/>
          <p:nvPr/>
        </p:nvSpPr>
        <p:spPr bwMode="auto">
          <a:xfrm flipH="1">
            <a:off x="15735299" y="377208"/>
            <a:ext cx="1600200" cy="1569956"/>
          </a:xfrm>
          <a:custGeom>
            <a:avLst/>
            <a:gdLst/>
            <a:ahLst/>
            <a:cxnLst/>
            <a:rect l="l" t="t" r="r" b="b"/>
            <a:pathLst>
              <a:path w="1722049" h="1744249" fill="norm" stroke="1" extrusionOk="0">
                <a:moveTo>
                  <a:pt x="0" y="0"/>
                </a:moveTo>
                <a:lnTo>
                  <a:pt x="1722049" y="0"/>
                </a:lnTo>
                <a:lnTo>
                  <a:pt x="1722049" y="1744249"/>
                </a:lnTo>
                <a:lnTo>
                  <a:pt x="0" y="1744249"/>
                </a:lnTo>
                <a:lnTo>
                  <a:pt x="0" y="0"/>
                </a:lnTo>
                <a:close/>
              </a:path>
            </a:pathLst>
          </a:custGeom>
          <a:blipFill rotWithShape="1">
            <a:blip r:embed="rId3"/>
            <a:stretch/>
          </a:blipFill>
        </p:spPr>
      </p:sp>
      <p:grpSp>
        <p:nvGrpSpPr>
          <p:cNvPr id="987227677" name="Group 2"/>
          <p:cNvGrpSpPr/>
          <p:nvPr/>
        </p:nvGrpSpPr>
        <p:grpSpPr bwMode="auto">
          <a:xfrm>
            <a:off x="304800" y="356041"/>
            <a:ext cx="1066800" cy="614072"/>
            <a:chOff x="0" y="0"/>
            <a:chExt cx="4816593" cy="595820"/>
          </a:xfrm>
          <a:solidFill>
            <a:schemeClr val="accent6">
              <a:lumMod val="40000"/>
              <a:lumOff val="60000"/>
            </a:schemeClr>
          </a:solidFill>
        </p:grpSpPr>
        <p:sp>
          <p:nvSpPr>
            <p:cNvPr id="21" name="Freeform 3"/>
            <p:cNvSpPr/>
            <p:nvPr/>
          </p:nvSpPr>
          <p:spPr bwMode="auto">
            <a:xfrm>
              <a:off x="0" y="0"/>
              <a:ext cx="4816592" cy="595820"/>
            </a:xfrm>
            <a:prstGeom prst="roundRect">
              <a:avLst>
                <a:gd name="adj" fmla="val 16667"/>
              </a:avLst>
            </a:prstGeom>
            <a:noFill/>
          </p:spPr>
        </p:sp>
        <p:sp>
          <p:nvSpPr>
            <p:cNvPr id="22" name="TextBox 4">
              <a:hlinkClick r:id="rId4"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69974900"/>
                                        </p:tgtEl>
                                        <p:attrNameLst>
                                          <p:attrName>style.visibility</p:attrName>
                                        </p:attrNameLst>
                                      </p:cBhvr>
                                      <p:to>
                                        <p:strVal val="visible"/>
                                      </p:to>
                                    </p:set>
                                    <p:animEffect transition="in" filter="fade">
                                      <p:cBhvr>
                                        <p:cTn id="7" dur="500"/>
                                        <p:tgtEl>
                                          <p:spTgt spid="1969974900"/>
                                        </p:tgtEl>
                                      </p:cBhvr>
                                    </p:animEffect>
                                  </p:childTnLst>
                                </p:cTn>
                              </p:par>
                              <p:par>
                                <p:cTn id="8" presetID="6" presetClass="entr" presetSubtype="32" fill="hold" nodeType="withEffect">
                                  <p:stCondLst>
                                    <p:cond delay="0"/>
                                  </p:stCondLst>
                                  <p:childTnLst>
                                    <p:set>
                                      <p:cBhvr>
                                        <p:cTn id="9" dur="1" fill="hold">
                                          <p:stCondLst>
                                            <p:cond delay="0"/>
                                          </p:stCondLst>
                                        </p:cTn>
                                        <p:tgtEl>
                                          <p:spTgt spid="1696290829"/>
                                        </p:tgtEl>
                                        <p:attrNameLst>
                                          <p:attrName>style.visibility</p:attrName>
                                        </p:attrNameLst>
                                      </p:cBhvr>
                                      <p:to>
                                        <p:strVal val="visible"/>
                                      </p:to>
                                    </p:set>
                                    <p:animEffect transition="in" filter="circle(out)">
                                      <p:cBhvr>
                                        <p:cTn id="10" dur="2000"/>
                                        <p:tgtEl>
                                          <p:spTgt spid="1696290829"/>
                                        </p:tgtEl>
                                      </p:cBhvr>
                                    </p:animEffect>
                                  </p:childTnLst>
                                </p:cTn>
                              </p:par>
                              <p:par>
                                <p:cTn id="11" presetID="42" presetClass="entr" presetSubtype="0" fill="hold" nodeType="withEffect">
                                  <p:stCondLst>
                                    <p:cond delay="0"/>
                                  </p:stCondLst>
                                  <p:childTnLst>
                                    <p:set>
                                      <p:cBhvr>
                                        <p:cTn id="12" dur="1" fill="hold">
                                          <p:stCondLst>
                                            <p:cond delay="0"/>
                                          </p:stCondLst>
                                        </p:cTn>
                                        <p:tgtEl>
                                          <p:spTgt spid="987227677"/>
                                        </p:tgtEl>
                                        <p:attrNameLst>
                                          <p:attrName>style.visibility</p:attrName>
                                        </p:attrNameLst>
                                      </p:cBhvr>
                                      <p:to>
                                        <p:strVal val="visible"/>
                                      </p:to>
                                    </p:set>
                                    <p:animEffect transition="in" filter="fade">
                                      <p:cBhvr>
                                        <p:cTn id="13" dur="500"/>
                                        <p:tgtEl>
                                          <p:spTgt spid="987227677"/>
                                        </p:tgtEl>
                                      </p:cBhvr>
                                    </p:animEffect>
                                    <p:anim calcmode="lin" valueType="num">
                                      <p:cBhvr>
                                        <p:cTn id="14" dur="500" fill="hold"/>
                                        <p:tgtEl>
                                          <p:spTgt spid="987227677"/>
                                        </p:tgtEl>
                                        <p:attrNameLst>
                                          <p:attrName>ppt_x</p:attrName>
                                        </p:attrNameLst>
                                      </p:cBhvr>
                                      <p:tavLst>
                                        <p:tav tm="0">
                                          <p:val>
                                            <p:strVal val="#ppt_x"/>
                                          </p:val>
                                        </p:tav>
                                        <p:tav tm="100000">
                                          <p:val>
                                            <p:strVal val="#ppt_x"/>
                                          </p:val>
                                        </p:tav>
                                      </p:tavLst>
                                    </p:anim>
                                    <p:anim calcmode="lin" valueType="num">
                                      <p:cBhvr>
                                        <p:cTn id="15" dur="500" fill="hold"/>
                                        <p:tgtEl>
                                          <p:spTgt spid="9872276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12885321" name="Group 2"/>
          <p:cNvGrpSpPr/>
          <p:nvPr/>
        </p:nvGrpSpPr>
        <p:grpSpPr bwMode="auto">
          <a:xfrm>
            <a:off x="0" y="8024745"/>
            <a:ext cx="18288000" cy="2262255"/>
            <a:chOff x="0" y="0"/>
            <a:chExt cx="4816593" cy="595820"/>
          </a:xfrm>
          <a:solidFill>
            <a:schemeClr val="accent6">
              <a:lumMod val="40000"/>
              <a:lumOff val="60000"/>
            </a:schemeClr>
          </a:solidFill>
        </p:grpSpPr>
        <p:sp>
          <p:nvSpPr>
            <p:cNvPr id="13" name="Freeform 3"/>
            <p:cNvSpPr/>
            <p:nvPr/>
          </p:nvSpPr>
          <p:spPr bwMode="auto">
            <a:xfrm>
              <a:off x="0" y="0"/>
              <a:ext cx="4816592" cy="595820"/>
            </a:xfrm>
            <a:custGeom>
              <a:avLst/>
              <a:gdLst/>
              <a:ahLst/>
              <a:cxnLst/>
              <a:rect l="l" t="t" r="r" b="b"/>
              <a:pathLst>
                <a:path w="4816592" h="595820" fill="norm" stroke="1" extrusionOk="0">
                  <a:moveTo>
                    <a:pt x="0" y="0"/>
                  </a:moveTo>
                  <a:lnTo>
                    <a:pt x="4816592" y="0"/>
                  </a:lnTo>
                  <a:lnTo>
                    <a:pt x="4816592" y="595820"/>
                  </a:lnTo>
                  <a:lnTo>
                    <a:pt x="0" y="595820"/>
                  </a:lnTo>
                  <a:close/>
                </a:path>
              </a:pathLst>
            </a:custGeom>
            <a:grpFill/>
          </p:spPr>
        </p:sp>
        <p:sp>
          <p:nvSpPr>
            <p:cNvPr id="14" name="TextBox 4"/>
            <p:cNvSpPr txBox="1"/>
            <p:nvPr/>
          </p:nvSpPr>
          <p:spPr bwMode="auto">
            <a:xfrm>
              <a:off x="0" y="-47625"/>
              <a:ext cx="4816593" cy="643445"/>
            </a:xfrm>
            <a:prstGeom prst="rect">
              <a:avLst/>
            </a:prstGeom>
            <a:grpFill/>
          </p:spPr>
          <p:txBody>
            <a:bodyPr lIns="50800" tIns="50800" rIns="50800" bIns="50800" rtlCol="0" anchor="ctr"/>
            <a:lstStyle/>
            <a:p>
              <a:pPr algn="ctr">
                <a:lnSpc>
                  <a:spcPts val="2800"/>
                </a:lnSpc>
                <a:defRPr/>
              </a:pPr>
              <a:endParaRPr/>
            </a:p>
          </p:txBody>
        </p:sp>
      </p:grpSp>
      <p:sp>
        <p:nvSpPr>
          <p:cNvPr id="1385574175" name="TextBox 27"/>
          <p:cNvSpPr txBox="1"/>
          <p:nvPr/>
        </p:nvSpPr>
        <p:spPr bwMode="auto">
          <a:xfrm>
            <a:off x="1524000" y="1584963"/>
            <a:ext cx="6400800" cy="1102994"/>
          </a:xfrm>
          <a:prstGeom prst="rect">
            <a:avLst/>
          </a:prstGeom>
          <a:ln>
            <a:noFill/>
          </a:ln>
        </p:spPr>
        <p:style>
          <a:lnRef idx="2">
            <a:schemeClr val="accent3"/>
          </a:lnRef>
          <a:fillRef idx="1">
            <a:schemeClr val="lt1"/>
          </a:fillRef>
          <a:effectRef idx="0">
            <a:schemeClr val="accent3"/>
          </a:effectRef>
          <a:fontRef idx="minor">
            <a:schemeClr val="dk1"/>
          </a:fontRef>
        </p:style>
        <p:txBody>
          <a:bodyPr wrap="square" lIns="0" tIns="0" rIns="0" bIns="0" rtlCol="0" anchor="ctr">
            <a:spAutoFit/>
          </a:bodyPr>
          <a:lstStyle/>
          <a:p>
            <a:pPr algn="ctr">
              <a:lnSpc>
                <a:spcPts val="8280"/>
              </a:lnSpc>
              <a:defRPr/>
            </a:pPr>
            <a:r>
              <a:rPr lang="en-US" sz="9000" b="1">
                <a:solidFill>
                  <a:schemeClr val="accent6"/>
                </a:solidFill>
                <a:latin typeface="+mj-lt"/>
                <a:ea typeface="Roca Two"/>
                <a:cs typeface="Roca Two"/>
              </a:rPr>
              <a:t>Sri Lanka</a:t>
            </a:r>
            <a:endParaRPr lang="en-US" sz="9000" b="1">
              <a:solidFill>
                <a:schemeClr val="accent6"/>
              </a:solidFill>
              <a:latin typeface="+mj-lt"/>
              <a:ea typeface="Roca Two"/>
              <a:cs typeface="Roca Two"/>
            </a:endParaRPr>
          </a:p>
        </p:txBody>
      </p:sp>
      <p:pic>
        <p:nvPicPr>
          <p:cNvPr id="1166475263" name="Picture 2" descr="Sri Lanka - Inside a Sri Lankan Home - Where in Our World?"/>
          <p:cNvPicPr>
            <a:picLocks noChangeAspect="1" noChangeArrowheads="1"/>
          </p:cNvPicPr>
          <p:nvPr/>
        </p:nvPicPr>
        <p:blipFill rotWithShape="1">
          <a:blip r:embed="rId3"/>
          <a:stretch/>
        </p:blipFill>
        <p:spPr bwMode="auto">
          <a:xfrm>
            <a:off x="2177167" y="3535760"/>
            <a:ext cx="6701409" cy="5029200"/>
          </a:xfrm>
          <a:prstGeom prst="rect">
            <a:avLst/>
          </a:prstGeom>
          <a:noFill/>
        </p:spPr>
      </p:pic>
      <p:pic>
        <p:nvPicPr>
          <p:cNvPr id="1224219274" name="Picture 6" descr="Picture"/>
          <p:cNvPicPr>
            <a:picLocks noChangeAspect="1" noChangeArrowheads="1"/>
          </p:cNvPicPr>
          <p:nvPr/>
        </p:nvPicPr>
        <p:blipFill rotWithShape="1">
          <a:blip r:embed="rId4"/>
          <a:stretch/>
        </p:blipFill>
        <p:spPr bwMode="auto">
          <a:xfrm>
            <a:off x="9677400" y="3535760"/>
            <a:ext cx="6701406" cy="5029200"/>
          </a:xfrm>
          <a:prstGeom prst="rect">
            <a:avLst/>
          </a:prstGeom>
          <a:noFill/>
        </p:spPr>
      </p:pic>
      <p:sp>
        <p:nvSpPr>
          <p:cNvPr id="40706274" name="Rectangle 22"/>
          <p:cNvSpPr/>
          <p:nvPr/>
        </p:nvSpPr>
        <p:spPr bwMode="auto">
          <a:xfrm>
            <a:off x="6285000" y="8564960"/>
            <a:ext cx="8001999" cy="369332"/>
          </a:xfrm>
          <a:prstGeom prst="rect">
            <a:avLst/>
          </a:prstGeom>
        </p:spPr>
        <p:txBody>
          <a:bodyPr wrap="none">
            <a:spAutoFit/>
          </a:bodyPr>
          <a:lstStyle/>
          <a:p>
            <a:pPr>
              <a:defRPr/>
            </a:pPr>
            <a:r>
              <a:rPr lang="en-US"/>
              <a:t>@https://whereinourworld.weebly.com/sri-lanka---inside-a-sri-lankan-home.html - </a:t>
            </a:r>
            <a:endParaRPr lang="en-US"/>
          </a:p>
        </p:txBody>
      </p:sp>
      <p:grpSp>
        <p:nvGrpSpPr>
          <p:cNvPr id="343453113" name="Group 2"/>
          <p:cNvGrpSpPr/>
          <p:nvPr/>
        </p:nvGrpSpPr>
        <p:grpSpPr bwMode="auto">
          <a:xfrm>
            <a:off x="457200" y="430124"/>
            <a:ext cx="1066800" cy="614072"/>
            <a:chOff x="0" y="0"/>
            <a:chExt cx="4816593" cy="595820"/>
          </a:xfrm>
          <a:solidFill>
            <a:schemeClr val="accent6">
              <a:lumMod val="40000"/>
              <a:lumOff val="60000"/>
            </a:schemeClr>
          </a:solidFill>
        </p:grpSpPr>
        <p:sp>
          <p:nvSpPr>
            <p:cNvPr id="26" name="Freeform 3"/>
            <p:cNvSpPr/>
            <p:nvPr/>
          </p:nvSpPr>
          <p:spPr bwMode="auto">
            <a:xfrm>
              <a:off x="0" y="0"/>
              <a:ext cx="4816592" cy="595820"/>
            </a:xfrm>
            <a:prstGeom prst="roundRect">
              <a:avLst>
                <a:gd name="adj" fmla="val 16667"/>
              </a:avLst>
            </a:prstGeom>
            <a:noFill/>
          </p:spPr>
        </p:sp>
        <p:sp>
          <p:nvSpPr>
            <p:cNvPr id="28" name="TextBox 4">
              <a:hlinkClick r:id="rId5"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85574175"/>
                                        </p:tgtEl>
                                        <p:attrNameLst>
                                          <p:attrName>style.visibility</p:attrName>
                                        </p:attrNameLst>
                                      </p:cBhvr>
                                      <p:to>
                                        <p:strVal val="visible"/>
                                      </p:to>
                                    </p:set>
                                    <p:animEffect transition="in" filter="fade">
                                      <p:cBhvr>
                                        <p:cTn id="7" dur="1000"/>
                                        <p:tgtEl>
                                          <p:spTgt spid="13855741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66475263"/>
                                        </p:tgtEl>
                                        <p:attrNameLst>
                                          <p:attrName>style.visibility</p:attrName>
                                        </p:attrNameLst>
                                      </p:cBhvr>
                                      <p:to>
                                        <p:strVal val="visible"/>
                                      </p:to>
                                    </p:set>
                                    <p:animEffect transition="in" filter="fade">
                                      <p:cBhvr>
                                        <p:cTn id="12" dur="1000"/>
                                        <p:tgtEl>
                                          <p:spTgt spid="11664752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24219274"/>
                                        </p:tgtEl>
                                        <p:attrNameLst>
                                          <p:attrName>style.visibility</p:attrName>
                                        </p:attrNameLst>
                                      </p:cBhvr>
                                      <p:to>
                                        <p:strVal val="visible"/>
                                      </p:to>
                                    </p:set>
                                    <p:animEffect transition="in" filter="fade">
                                      <p:cBhvr>
                                        <p:cTn id="17" dur="1000"/>
                                        <p:tgtEl>
                                          <p:spTgt spid="1224219274"/>
                                        </p:tgtEl>
                                      </p:cBhvr>
                                    </p:animEffect>
                                  </p:childTnLst>
                                </p:cTn>
                              </p:par>
                              <p:par>
                                <p:cTn id="18" presetID="42" presetClass="entr" presetSubtype="0" fill="hold" nodeType="withEffect">
                                  <p:stCondLst>
                                    <p:cond delay="0"/>
                                  </p:stCondLst>
                                  <p:childTnLst>
                                    <p:set>
                                      <p:cBhvr>
                                        <p:cTn id="19" dur="1" fill="hold">
                                          <p:stCondLst>
                                            <p:cond delay="0"/>
                                          </p:stCondLst>
                                        </p:cTn>
                                        <p:tgtEl>
                                          <p:spTgt spid="343453113"/>
                                        </p:tgtEl>
                                        <p:attrNameLst>
                                          <p:attrName>style.visibility</p:attrName>
                                        </p:attrNameLst>
                                      </p:cBhvr>
                                      <p:to>
                                        <p:strVal val="visible"/>
                                      </p:to>
                                    </p:set>
                                    <p:animEffect transition="in" filter="fade">
                                      <p:cBhvr>
                                        <p:cTn id="20" dur="500"/>
                                        <p:tgtEl>
                                          <p:spTgt spid="343453113"/>
                                        </p:tgtEl>
                                      </p:cBhvr>
                                    </p:animEffect>
                                    <p:anim calcmode="lin" valueType="num">
                                      <p:cBhvr>
                                        <p:cTn id="21" dur="500" fill="hold"/>
                                        <p:tgtEl>
                                          <p:spTgt spid="343453113"/>
                                        </p:tgtEl>
                                        <p:attrNameLst>
                                          <p:attrName>ppt_x</p:attrName>
                                        </p:attrNameLst>
                                      </p:cBhvr>
                                      <p:tavLst>
                                        <p:tav tm="0">
                                          <p:val>
                                            <p:strVal val="#ppt_x"/>
                                          </p:val>
                                        </p:tav>
                                        <p:tav tm="100000">
                                          <p:val>
                                            <p:strVal val="#ppt_x"/>
                                          </p:val>
                                        </p:tav>
                                      </p:tavLst>
                                    </p:anim>
                                    <p:anim calcmode="lin" valueType="num">
                                      <p:cBhvr>
                                        <p:cTn id="22" dur="500" fill="hold"/>
                                        <p:tgtEl>
                                          <p:spTgt spid="3434531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5574175" grpId="0" animBg="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881386064" name="Group 2"/>
          <p:cNvGrpSpPr/>
          <p:nvPr/>
        </p:nvGrpSpPr>
        <p:grpSpPr bwMode="auto">
          <a:xfrm>
            <a:off x="0" y="8024745"/>
            <a:ext cx="18288000" cy="2262255"/>
            <a:chOff x="0" y="0"/>
            <a:chExt cx="4816593" cy="595820"/>
          </a:xfrm>
          <a:solidFill>
            <a:schemeClr val="accent6">
              <a:lumMod val="40000"/>
              <a:lumOff val="60000"/>
            </a:schemeClr>
          </a:solidFill>
        </p:grpSpPr>
        <p:sp>
          <p:nvSpPr>
            <p:cNvPr id="13" name="Freeform 3"/>
            <p:cNvSpPr/>
            <p:nvPr/>
          </p:nvSpPr>
          <p:spPr bwMode="auto">
            <a:xfrm>
              <a:off x="0" y="0"/>
              <a:ext cx="4816592" cy="595820"/>
            </a:xfrm>
            <a:custGeom>
              <a:avLst/>
              <a:gdLst/>
              <a:ahLst/>
              <a:cxnLst/>
              <a:rect l="l" t="t" r="r" b="b"/>
              <a:pathLst>
                <a:path w="4816592" h="595820" fill="norm" stroke="1" extrusionOk="0">
                  <a:moveTo>
                    <a:pt x="0" y="0"/>
                  </a:moveTo>
                  <a:lnTo>
                    <a:pt x="4816592" y="0"/>
                  </a:lnTo>
                  <a:lnTo>
                    <a:pt x="4816592" y="595820"/>
                  </a:lnTo>
                  <a:lnTo>
                    <a:pt x="0" y="595820"/>
                  </a:lnTo>
                  <a:close/>
                </a:path>
              </a:pathLst>
            </a:custGeom>
            <a:grpFill/>
          </p:spPr>
        </p:sp>
        <p:sp>
          <p:nvSpPr>
            <p:cNvPr id="14" name="TextBox 4"/>
            <p:cNvSpPr txBox="1"/>
            <p:nvPr/>
          </p:nvSpPr>
          <p:spPr bwMode="auto">
            <a:xfrm>
              <a:off x="0" y="-47625"/>
              <a:ext cx="4816593" cy="643445"/>
            </a:xfrm>
            <a:prstGeom prst="rect">
              <a:avLst/>
            </a:prstGeom>
            <a:grpFill/>
          </p:spPr>
          <p:txBody>
            <a:bodyPr lIns="50800" tIns="50800" rIns="50800" bIns="50800" rtlCol="0" anchor="ctr"/>
            <a:lstStyle/>
            <a:p>
              <a:pPr algn="ctr">
                <a:lnSpc>
                  <a:spcPts val="2800"/>
                </a:lnSpc>
                <a:defRPr/>
              </a:pPr>
              <a:endParaRPr/>
            </a:p>
          </p:txBody>
        </p:sp>
      </p:grpSp>
      <p:sp>
        <p:nvSpPr>
          <p:cNvPr id="319419639" name="TextBox 27"/>
          <p:cNvSpPr txBox="1"/>
          <p:nvPr/>
        </p:nvSpPr>
        <p:spPr bwMode="auto">
          <a:xfrm>
            <a:off x="1676400" y="1485900"/>
            <a:ext cx="6400800" cy="1102994"/>
          </a:xfrm>
          <a:prstGeom prst="rect">
            <a:avLst/>
          </a:prstGeom>
          <a:ln>
            <a:noFill/>
          </a:ln>
        </p:spPr>
        <p:style>
          <a:lnRef idx="2">
            <a:schemeClr val="accent3"/>
          </a:lnRef>
          <a:fillRef idx="1">
            <a:schemeClr val="lt1"/>
          </a:fillRef>
          <a:effectRef idx="0">
            <a:schemeClr val="accent3"/>
          </a:effectRef>
          <a:fontRef idx="minor">
            <a:schemeClr val="dk1"/>
          </a:fontRef>
        </p:style>
        <p:txBody>
          <a:bodyPr wrap="square" lIns="0" tIns="0" rIns="0" bIns="0" rtlCol="0" anchor="ctr">
            <a:spAutoFit/>
          </a:bodyPr>
          <a:lstStyle/>
          <a:p>
            <a:pPr algn="ctr">
              <a:lnSpc>
                <a:spcPts val="8280"/>
              </a:lnSpc>
              <a:defRPr/>
            </a:pPr>
            <a:r>
              <a:rPr lang="en-US" sz="9000" b="1">
                <a:solidFill>
                  <a:schemeClr val="accent6"/>
                </a:solidFill>
                <a:latin typeface="+mj-lt"/>
                <a:ea typeface="Roca Two"/>
                <a:cs typeface="Roca Two"/>
              </a:rPr>
              <a:t>Cameroon</a:t>
            </a:r>
            <a:endParaRPr lang="en-US" sz="9000" b="1">
              <a:solidFill>
                <a:schemeClr val="accent6"/>
              </a:solidFill>
              <a:latin typeface="+mj-lt"/>
              <a:ea typeface="Roca Two"/>
              <a:cs typeface="Roca Two"/>
            </a:endParaRPr>
          </a:p>
        </p:txBody>
      </p:sp>
      <p:grpSp>
        <p:nvGrpSpPr>
          <p:cNvPr id="359427211" name="Group 6"/>
          <p:cNvGrpSpPr/>
          <p:nvPr/>
        </p:nvGrpSpPr>
        <p:grpSpPr bwMode="auto">
          <a:xfrm>
            <a:off x="2507820" y="3774724"/>
            <a:ext cx="4737960" cy="5029199"/>
            <a:chOff x="7895998" y="4146217"/>
            <a:chExt cx="3383280" cy="3730783"/>
          </a:xfrm>
        </p:grpSpPr>
        <p:pic>
          <p:nvPicPr>
            <p:cNvPr id="24" name="Picture 23" descr="Fig. 11. Traditional buildings of Cameroon [13].  "/>
            <p:cNvPicPr/>
            <p:nvPr/>
          </p:nvPicPr>
          <p:blipFill rotWithShape="1">
            <a:blip r:embed="rId3"/>
            <a:stretch/>
          </p:blipFill>
          <p:spPr bwMode="auto">
            <a:xfrm>
              <a:off x="7895998" y="4146217"/>
              <a:ext cx="3383280" cy="3730783"/>
            </a:xfrm>
            <a:prstGeom prst="rect">
              <a:avLst/>
            </a:prstGeom>
            <a:noFill/>
            <a:ln>
              <a:noFill/>
            </a:ln>
          </p:spPr>
        </p:pic>
        <p:sp>
          <p:nvSpPr>
            <p:cNvPr id="6" name="Rectangle 5"/>
            <p:cNvSpPr/>
            <p:nvPr/>
          </p:nvSpPr>
          <p:spPr bwMode="auto">
            <a:xfrm>
              <a:off x="9389584" y="7479216"/>
              <a:ext cx="1889694" cy="273979"/>
            </a:xfrm>
            <a:prstGeom prst="rect">
              <a:avLst/>
            </a:prstGeom>
            <a:grpFill/>
          </p:spPr>
          <p:txBody>
            <a:bodyPr wrap="square">
              <a:spAutoFit/>
            </a:bodyPr>
            <a:lstStyle/>
            <a:p>
              <a:pPr>
                <a:defRPr/>
              </a:pPr>
              <a:r>
                <a:rPr lang="en-US" u="sng">
                  <a:solidFill>
                    <a:schemeClr val="bg1"/>
                  </a:solidFill>
                  <a:latin typeface="Roboto"/>
                </a:rPr>
                <a:t>@Marina </a:t>
              </a:r>
              <a:r>
                <a:rPr lang="en-US" u="sng">
                  <a:solidFill>
                    <a:schemeClr val="bg1"/>
                  </a:solidFill>
                  <a:latin typeface="Roboto"/>
                </a:rPr>
                <a:t>Rynkovskaya</a:t>
              </a:r>
              <a:endParaRPr lang="en-US">
                <a:solidFill>
                  <a:schemeClr val="bg1"/>
                </a:solidFill>
              </a:endParaRPr>
            </a:p>
          </p:txBody>
        </p:sp>
      </p:grpSp>
      <p:grpSp>
        <p:nvGrpSpPr>
          <p:cNvPr id="1062036078" name="Group 8"/>
          <p:cNvGrpSpPr/>
          <p:nvPr/>
        </p:nvGrpSpPr>
        <p:grpSpPr bwMode="auto">
          <a:xfrm>
            <a:off x="9067800" y="3774725"/>
            <a:ext cx="7162800" cy="5029200"/>
            <a:chOff x="6286498" y="3215725"/>
            <a:chExt cx="5715000" cy="3810000"/>
          </a:xfrm>
        </p:grpSpPr>
        <p:pic>
          <p:nvPicPr>
            <p:cNvPr id="3076" name="Picture 4" descr="96rw698.jpg"/>
            <p:cNvPicPr>
              <a:picLocks noChangeAspect="1" noChangeArrowheads="1"/>
            </p:cNvPicPr>
            <p:nvPr/>
          </p:nvPicPr>
          <p:blipFill rotWithShape="1">
            <a:blip r:embed="rId4"/>
            <a:stretch/>
          </p:blipFill>
          <p:spPr bwMode="auto">
            <a:xfrm>
              <a:off x="6286498" y="3215725"/>
              <a:ext cx="5715000" cy="3810000"/>
            </a:xfrm>
            <a:prstGeom prst="rect">
              <a:avLst/>
            </a:prstGeom>
            <a:noFill/>
          </p:spPr>
        </p:pic>
        <p:sp>
          <p:nvSpPr>
            <p:cNvPr id="8" name="Rectangle 7"/>
            <p:cNvSpPr/>
            <p:nvPr/>
          </p:nvSpPr>
          <p:spPr bwMode="auto">
            <a:xfrm>
              <a:off x="9556978" y="6681700"/>
              <a:ext cx="2444520" cy="285395"/>
            </a:xfrm>
            <a:prstGeom prst="rect">
              <a:avLst/>
            </a:prstGeom>
            <a:grpFill/>
          </p:spPr>
          <p:txBody>
            <a:bodyPr wrap="square">
              <a:spAutoFit/>
            </a:bodyPr>
            <a:lstStyle/>
            <a:p>
              <a:pPr>
                <a:defRPr/>
              </a:pPr>
              <a:r>
                <a:rPr lang="en-US">
                  <a:solidFill>
                    <a:schemeClr val="bg1"/>
                  </a:solidFill>
                </a:rPr>
                <a:t>@North</a:t>
              </a:r>
              <a:r>
                <a:rPr lang="en-US">
                  <a:solidFill>
                    <a:schemeClr val="bg1"/>
                  </a:solidFill>
                </a:rPr>
                <a:t>; Gallery Cameroon</a:t>
              </a:r>
              <a:endParaRPr/>
            </a:p>
          </p:txBody>
        </p:sp>
      </p:grpSp>
      <p:grpSp>
        <p:nvGrpSpPr>
          <p:cNvPr id="1427345903" name="Group 2"/>
          <p:cNvGrpSpPr/>
          <p:nvPr/>
        </p:nvGrpSpPr>
        <p:grpSpPr bwMode="auto">
          <a:xfrm>
            <a:off x="381000" y="342900"/>
            <a:ext cx="1066800" cy="614072"/>
            <a:chOff x="0" y="0"/>
            <a:chExt cx="4816593" cy="595820"/>
          </a:xfrm>
          <a:solidFill>
            <a:schemeClr val="accent6">
              <a:lumMod val="40000"/>
              <a:lumOff val="60000"/>
            </a:schemeClr>
          </a:solidFill>
        </p:grpSpPr>
        <p:sp>
          <p:nvSpPr>
            <p:cNvPr id="32" name="Freeform 3"/>
            <p:cNvSpPr/>
            <p:nvPr/>
          </p:nvSpPr>
          <p:spPr bwMode="auto">
            <a:xfrm>
              <a:off x="0" y="0"/>
              <a:ext cx="4816592" cy="595820"/>
            </a:xfrm>
            <a:prstGeom prst="roundRect">
              <a:avLst>
                <a:gd name="adj" fmla="val 16667"/>
              </a:avLst>
            </a:prstGeom>
            <a:noFill/>
          </p:spPr>
        </p:sp>
        <p:sp>
          <p:nvSpPr>
            <p:cNvPr id="33" name="TextBox 4">
              <a:hlinkClick r:id="rId5"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9419639"/>
                                        </p:tgtEl>
                                        <p:attrNameLst>
                                          <p:attrName>style.visibility</p:attrName>
                                        </p:attrNameLst>
                                      </p:cBhvr>
                                      <p:to>
                                        <p:strVal val="visible"/>
                                      </p:to>
                                    </p:set>
                                    <p:animEffect transition="in" filter="fade">
                                      <p:cBhvr>
                                        <p:cTn id="7" dur="500"/>
                                        <p:tgtEl>
                                          <p:spTgt spid="3194196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9427211"/>
                                        </p:tgtEl>
                                        <p:attrNameLst>
                                          <p:attrName>style.visibility</p:attrName>
                                        </p:attrNameLst>
                                      </p:cBhvr>
                                      <p:to>
                                        <p:strVal val="visible"/>
                                      </p:to>
                                    </p:set>
                                    <p:animEffect transition="in" filter="fade">
                                      <p:cBhvr>
                                        <p:cTn id="12" dur="1000"/>
                                        <p:tgtEl>
                                          <p:spTgt spid="3594272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62036078"/>
                                        </p:tgtEl>
                                        <p:attrNameLst>
                                          <p:attrName>style.visibility</p:attrName>
                                        </p:attrNameLst>
                                      </p:cBhvr>
                                      <p:to>
                                        <p:strVal val="visible"/>
                                      </p:to>
                                    </p:set>
                                    <p:animEffect transition="in" filter="fade">
                                      <p:cBhvr>
                                        <p:cTn id="17" dur="1000"/>
                                        <p:tgtEl>
                                          <p:spTgt spid="1062036078"/>
                                        </p:tgtEl>
                                      </p:cBhvr>
                                    </p:animEffect>
                                  </p:childTnLst>
                                </p:cTn>
                              </p:par>
                              <p:par>
                                <p:cTn id="18" presetID="42" presetClass="entr" presetSubtype="0" fill="hold" nodeType="withEffect">
                                  <p:stCondLst>
                                    <p:cond delay="0"/>
                                  </p:stCondLst>
                                  <p:childTnLst>
                                    <p:set>
                                      <p:cBhvr>
                                        <p:cTn id="19" dur="1" fill="hold">
                                          <p:stCondLst>
                                            <p:cond delay="0"/>
                                          </p:stCondLst>
                                        </p:cTn>
                                        <p:tgtEl>
                                          <p:spTgt spid="1427345903"/>
                                        </p:tgtEl>
                                        <p:attrNameLst>
                                          <p:attrName>style.visibility</p:attrName>
                                        </p:attrNameLst>
                                      </p:cBhvr>
                                      <p:to>
                                        <p:strVal val="visible"/>
                                      </p:to>
                                    </p:set>
                                    <p:animEffect transition="in" filter="fade">
                                      <p:cBhvr>
                                        <p:cTn id="20" dur="500"/>
                                        <p:tgtEl>
                                          <p:spTgt spid="1427345903"/>
                                        </p:tgtEl>
                                      </p:cBhvr>
                                    </p:animEffect>
                                    <p:anim calcmode="lin" valueType="num">
                                      <p:cBhvr>
                                        <p:cTn id="21" dur="500" fill="hold"/>
                                        <p:tgtEl>
                                          <p:spTgt spid="1427345903"/>
                                        </p:tgtEl>
                                        <p:attrNameLst>
                                          <p:attrName>ppt_x</p:attrName>
                                        </p:attrNameLst>
                                      </p:cBhvr>
                                      <p:tavLst>
                                        <p:tav tm="0">
                                          <p:val>
                                            <p:strVal val="#ppt_x"/>
                                          </p:val>
                                        </p:tav>
                                        <p:tav tm="100000">
                                          <p:val>
                                            <p:strVal val="#ppt_x"/>
                                          </p:val>
                                        </p:tav>
                                      </p:tavLst>
                                    </p:anim>
                                    <p:anim calcmode="lin" valueType="num">
                                      <p:cBhvr>
                                        <p:cTn id="22" dur="500" fill="hold"/>
                                        <p:tgtEl>
                                          <p:spTgt spid="14273459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19639" grpId="0" animBg="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307360321" name="Group 2"/>
          <p:cNvGrpSpPr/>
          <p:nvPr/>
        </p:nvGrpSpPr>
        <p:grpSpPr bwMode="auto">
          <a:xfrm>
            <a:off x="609600" y="647700"/>
            <a:ext cx="14630400" cy="1728855"/>
            <a:chOff x="0" y="0"/>
            <a:chExt cx="4816593" cy="595820"/>
          </a:xfrm>
          <a:solidFill>
            <a:schemeClr val="accent6">
              <a:lumMod val="40000"/>
              <a:lumOff val="60000"/>
            </a:schemeClr>
          </a:solidFill>
        </p:grpSpPr>
        <p:sp>
          <p:nvSpPr>
            <p:cNvPr id="26" name="Freeform 3"/>
            <p:cNvSpPr/>
            <p:nvPr/>
          </p:nvSpPr>
          <p:spPr bwMode="auto">
            <a:xfrm>
              <a:off x="0" y="0"/>
              <a:ext cx="4816592" cy="595820"/>
            </a:xfrm>
            <a:prstGeom prst="snip2DiagRect">
              <a:avLst>
                <a:gd name="adj1" fmla="val 0"/>
                <a:gd name="adj2" fmla="val 16667"/>
              </a:avLst>
            </a:prstGeom>
            <a:grpFill/>
          </p:spPr>
        </p:sp>
        <p:sp>
          <p:nvSpPr>
            <p:cNvPr id="27" name="TextBox 4"/>
            <p:cNvSpPr txBox="1"/>
            <p:nvPr/>
          </p:nvSpPr>
          <p:spPr bwMode="auto">
            <a:xfrm>
              <a:off x="0" y="-47625"/>
              <a:ext cx="4816593" cy="643445"/>
            </a:xfrm>
            <a:prstGeom prst="snip2DiagRect">
              <a:avLst>
                <a:gd name="adj1" fmla="val 0"/>
                <a:gd name="adj2" fmla="val 16667"/>
              </a:avLst>
            </a:prstGeom>
            <a:grpFill/>
          </p:spPr>
          <p:txBody>
            <a:bodyPr lIns="50800" tIns="50800" rIns="50800" bIns="50800" rtlCol="0" anchor="ctr"/>
            <a:lstStyle/>
            <a:p>
              <a:pPr algn="ctr">
                <a:lnSpc>
                  <a:spcPts val="2800"/>
                </a:lnSpc>
                <a:defRPr/>
              </a:pPr>
              <a:endParaRPr/>
            </a:p>
          </p:txBody>
        </p:sp>
      </p:grpSp>
      <p:grpSp>
        <p:nvGrpSpPr>
          <p:cNvPr id="598244404" name="Group 21"/>
          <p:cNvGrpSpPr/>
          <p:nvPr/>
        </p:nvGrpSpPr>
        <p:grpSpPr bwMode="auto">
          <a:xfrm>
            <a:off x="13281765" y="2476500"/>
            <a:ext cx="5234835" cy="7565245"/>
            <a:chOff x="2133600" y="3596640"/>
            <a:chExt cx="4462762" cy="6799284"/>
          </a:xfrm>
        </p:grpSpPr>
        <p:pic>
          <p:nvPicPr>
            <p:cNvPr id="20" name="Picture 19" descr="english png"/>
            <p:cNvPicPr/>
            <p:nvPr/>
          </p:nvPicPr>
          <p:blipFill rotWithShape="1">
            <a:blip r:embed="rId3"/>
            <a:stretch/>
          </p:blipFill>
          <p:spPr bwMode="auto">
            <a:xfrm>
              <a:off x="2133600" y="3596640"/>
              <a:ext cx="4078605" cy="6436360"/>
            </a:xfrm>
            <a:prstGeom prst="rect">
              <a:avLst/>
            </a:prstGeom>
            <a:noFill/>
            <a:ln>
              <a:noFill/>
            </a:ln>
          </p:spPr>
        </p:pic>
        <p:sp>
          <p:nvSpPr>
            <p:cNvPr id="21" name="Rectangle 20"/>
            <p:cNvSpPr/>
            <p:nvPr/>
          </p:nvSpPr>
          <p:spPr bwMode="auto">
            <a:xfrm>
              <a:off x="4410256" y="9815032"/>
              <a:ext cx="2186106" cy="580892"/>
            </a:xfrm>
            <a:prstGeom prst="rect">
              <a:avLst/>
            </a:prstGeom>
            <a:grpFill/>
          </p:spPr>
          <p:txBody>
            <a:bodyPr wrap="square">
              <a:spAutoFit/>
            </a:bodyPr>
            <a:lstStyle/>
            <a:p>
              <a:pPr>
                <a:defRPr/>
              </a:pPr>
              <a:r>
                <a:rPr lang="en-US">
                  <a:latin typeface="Times New Roman"/>
                  <a:ea typeface="Calibri"/>
                </a:rPr>
                <a:t>@Von Obi2canibe - </a:t>
              </a:r>
              <a:r>
                <a:rPr lang="en-US">
                  <a:latin typeface="Times New Roman"/>
                  <a:ea typeface="Calibri"/>
                </a:rPr>
                <a:t>Eigenes</a:t>
              </a:r>
              <a:r>
                <a:rPr lang="en-US">
                  <a:latin typeface="Times New Roman"/>
                  <a:ea typeface="Calibri"/>
                </a:rPr>
                <a:t> </a:t>
              </a:r>
              <a:r>
                <a:rPr lang="en-US">
                  <a:latin typeface="Times New Roman"/>
                  <a:ea typeface="Calibri"/>
                </a:rPr>
                <a:t>Werk</a:t>
              </a:r>
              <a:endParaRPr lang="en-US"/>
            </a:p>
          </p:txBody>
        </p:sp>
      </p:grpSp>
      <p:pic>
        <p:nvPicPr>
          <p:cNvPr id="318209660" name="Picture 22" descr="https://worldmapwithcountries.net/wp-content/uploads/2020/11/World-Map-with-Equator-and-Continents.jpg"/>
          <p:cNvPicPr/>
          <p:nvPr/>
        </p:nvPicPr>
        <p:blipFill rotWithShape="1">
          <a:blip r:embed="rId4"/>
          <a:stretch/>
        </p:blipFill>
        <p:spPr bwMode="auto">
          <a:xfrm>
            <a:off x="6514500" y="4229100"/>
            <a:ext cx="7049100" cy="5408836"/>
          </a:xfrm>
          <a:prstGeom prst="rect">
            <a:avLst/>
          </a:prstGeom>
          <a:noFill/>
          <a:ln>
            <a:noFill/>
          </a:ln>
        </p:spPr>
      </p:pic>
      <p:sp>
        <p:nvSpPr>
          <p:cNvPr id="2109083995" name="TextBox 7"/>
          <p:cNvSpPr txBox="1"/>
          <p:nvPr/>
        </p:nvSpPr>
        <p:spPr bwMode="auto">
          <a:xfrm>
            <a:off x="1863606" y="1638300"/>
            <a:ext cx="13601700" cy="1015663"/>
          </a:xfrm>
          <a:prstGeom prst="rect">
            <a:avLst/>
          </a:prstGeom>
        </p:spPr>
        <p:txBody>
          <a:bodyPr wrap="square" lIns="0" tIns="0" rIns="0" bIns="0" rtlCol="0" anchor="ctr">
            <a:spAutoFit/>
          </a:bodyPr>
          <a:lstStyle/>
          <a:p>
            <a:pPr lvl="0">
              <a:spcBef>
                <a:spcPts val="0"/>
              </a:spcBef>
              <a:defRPr/>
            </a:pPr>
            <a:r>
              <a:rPr lang="en-US" sz="6600" b="1">
                <a:solidFill>
                  <a:srgbClr val="EF8C07"/>
                </a:solidFill>
                <a:latin typeface="+mj-lt"/>
              </a:rPr>
              <a:t>World Map &amp; Country Locations</a:t>
            </a:r>
            <a:endParaRPr/>
          </a:p>
        </p:txBody>
      </p:sp>
      <p:grpSp>
        <p:nvGrpSpPr>
          <p:cNvPr id="1386884847" name="Group 2"/>
          <p:cNvGrpSpPr/>
          <p:nvPr/>
        </p:nvGrpSpPr>
        <p:grpSpPr bwMode="auto">
          <a:xfrm>
            <a:off x="381000" y="342900"/>
            <a:ext cx="1066800" cy="614072"/>
            <a:chOff x="0" y="0"/>
            <a:chExt cx="4816593" cy="595820"/>
          </a:xfrm>
          <a:solidFill>
            <a:schemeClr val="accent6">
              <a:lumMod val="40000"/>
              <a:lumOff val="60000"/>
            </a:schemeClr>
          </a:solidFill>
        </p:grpSpPr>
        <p:sp>
          <p:nvSpPr>
            <p:cNvPr id="17" name="Freeform 3"/>
            <p:cNvSpPr/>
            <p:nvPr/>
          </p:nvSpPr>
          <p:spPr bwMode="auto">
            <a:xfrm>
              <a:off x="0" y="0"/>
              <a:ext cx="4816592" cy="595820"/>
            </a:xfrm>
            <a:prstGeom prst="roundRect">
              <a:avLst>
                <a:gd name="adj" fmla="val 16667"/>
              </a:avLst>
            </a:prstGeom>
            <a:noFill/>
          </p:spPr>
        </p:sp>
        <p:sp>
          <p:nvSpPr>
            <p:cNvPr id="18" name="TextBox 4">
              <a:hlinkClick r:id="rId5"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pic>
        <p:nvPicPr>
          <p:cNvPr id="829593066" name="Picture 18" descr="Cameroon | Culture, History, Language, Maps, Capital, &amp; People | Britannica"/>
          <p:cNvPicPr/>
          <p:nvPr/>
        </p:nvPicPr>
        <p:blipFill rotWithShape="1">
          <a:blip r:embed="rId6"/>
          <a:stretch/>
        </p:blipFill>
        <p:spPr bwMode="auto">
          <a:xfrm>
            <a:off x="228600" y="3695700"/>
            <a:ext cx="6172200" cy="5943600"/>
          </a:xfrm>
          <a:prstGeom prst="rect">
            <a:avLst/>
          </a:prstGeom>
          <a:noFill/>
          <a:ln>
            <a:noFill/>
          </a:ln>
        </p:spPr>
      </p:pic>
      <p:sp>
        <p:nvSpPr>
          <p:cNvPr id="1441815894" name="Oval 23"/>
          <p:cNvSpPr/>
          <p:nvPr/>
        </p:nvSpPr>
        <p:spPr bwMode="auto">
          <a:xfrm>
            <a:off x="9753600" y="6667500"/>
            <a:ext cx="285450" cy="266018"/>
          </a:xfrm>
          <a:prstGeom prst="ellipse">
            <a:avLst/>
          </a:prstGeom>
          <a:noFill/>
          <a:ln w="38100"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a:p>
        </p:txBody>
      </p:sp>
      <p:sp>
        <p:nvSpPr>
          <p:cNvPr id="1726304165" name="Oval 27"/>
          <p:cNvSpPr/>
          <p:nvPr/>
        </p:nvSpPr>
        <p:spPr bwMode="auto">
          <a:xfrm>
            <a:off x="11506200" y="6591300"/>
            <a:ext cx="285450" cy="266018"/>
          </a:xfrm>
          <a:prstGeom prst="ellipse">
            <a:avLst/>
          </a:prstGeom>
          <a:noFill/>
          <a:ln w="38100"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a:p>
        </p:txBody>
      </p:sp>
      <p:sp>
        <p:nvSpPr>
          <p:cNvPr id="1480193089" name="Right Arrow 28"/>
          <p:cNvSpPr/>
          <p:nvPr/>
        </p:nvSpPr>
        <p:spPr bwMode="auto">
          <a:xfrm flipH="1">
            <a:off x="4329834" y="6438899"/>
            <a:ext cx="5423765" cy="1295400"/>
          </a:xfrm>
          <a:custGeom>
            <a:avLst/>
            <a:gdLst>
              <a:gd name="connsiteX0" fmla="*/ 0 w 4724400"/>
              <a:gd name="connsiteY0" fmla="*/ 126782 h 381000"/>
              <a:gd name="connsiteX1" fmla="*/ 4533900 w 4724400"/>
              <a:gd name="connsiteY1" fmla="*/ 126782 h 381000"/>
              <a:gd name="connsiteX2" fmla="*/ 4533900 w 4724400"/>
              <a:gd name="connsiteY2" fmla="*/ 0 h 381000"/>
              <a:gd name="connsiteX3" fmla="*/ 4724400 w 4724400"/>
              <a:gd name="connsiteY3" fmla="*/ 190500 h 381000"/>
              <a:gd name="connsiteX4" fmla="*/ 4533900 w 4724400"/>
              <a:gd name="connsiteY4" fmla="*/ 381000 h 381000"/>
              <a:gd name="connsiteX5" fmla="*/ 4533900 w 4724400"/>
              <a:gd name="connsiteY5" fmla="*/ 254218 h 381000"/>
              <a:gd name="connsiteX6" fmla="*/ 0 w 4724400"/>
              <a:gd name="connsiteY6" fmla="*/ 254218 h 381000"/>
              <a:gd name="connsiteX7" fmla="*/ 0 w 4724400"/>
              <a:gd name="connsiteY7" fmla="*/ 126782 h 381000"/>
              <a:gd name="connsiteX0" fmla="*/ 63062 w 4787462"/>
              <a:gd name="connsiteY0" fmla="*/ 126782 h 381000"/>
              <a:gd name="connsiteX1" fmla="*/ 4596962 w 4787462"/>
              <a:gd name="connsiteY1" fmla="*/ 126782 h 381000"/>
              <a:gd name="connsiteX2" fmla="*/ 4596962 w 4787462"/>
              <a:gd name="connsiteY2" fmla="*/ 0 h 381000"/>
              <a:gd name="connsiteX3" fmla="*/ 4787462 w 4787462"/>
              <a:gd name="connsiteY3" fmla="*/ 190500 h 381000"/>
              <a:gd name="connsiteX4" fmla="*/ 4596962 w 4787462"/>
              <a:gd name="connsiteY4" fmla="*/ 381000 h 381000"/>
              <a:gd name="connsiteX5" fmla="*/ 4596962 w 4787462"/>
              <a:gd name="connsiteY5" fmla="*/ 254218 h 381000"/>
              <a:gd name="connsiteX6" fmla="*/ 0 w 4787462"/>
              <a:gd name="connsiteY6" fmla="*/ 128094 h 381000"/>
              <a:gd name="connsiteX7" fmla="*/ 63062 w 4787462"/>
              <a:gd name="connsiteY7" fmla="*/ 126782 h 381000"/>
              <a:gd name="connsiteX0" fmla="*/ 63062 w 5342147"/>
              <a:gd name="connsiteY0" fmla="*/ 126782 h 381000"/>
              <a:gd name="connsiteX1" fmla="*/ 4596962 w 5342147"/>
              <a:gd name="connsiteY1" fmla="*/ 126782 h 381000"/>
              <a:gd name="connsiteX2" fmla="*/ 4596962 w 5342147"/>
              <a:gd name="connsiteY2" fmla="*/ 0 h 381000"/>
              <a:gd name="connsiteX3" fmla="*/ 5342147 w 5342147"/>
              <a:gd name="connsiteY3" fmla="*/ 204411 h 381000"/>
              <a:gd name="connsiteX4" fmla="*/ 4596962 w 5342147"/>
              <a:gd name="connsiteY4" fmla="*/ 381000 h 381000"/>
              <a:gd name="connsiteX5" fmla="*/ 4596962 w 5342147"/>
              <a:gd name="connsiteY5" fmla="*/ 254218 h 381000"/>
              <a:gd name="connsiteX6" fmla="*/ 0 w 5342147"/>
              <a:gd name="connsiteY6" fmla="*/ 128094 h 381000"/>
              <a:gd name="connsiteX7" fmla="*/ 63062 w 5342147"/>
              <a:gd name="connsiteY7" fmla="*/ 126782 h 381000"/>
              <a:gd name="connsiteX0" fmla="*/ 63062 w 5500630"/>
              <a:gd name="connsiteY0" fmla="*/ 126782 h 381000"/>
              <a:gd name="connsiteX1" fmla="*/ 4596962 w 5500630"/>
              <a:gd name="connsiteY1" fmla="*/ 126782 h 381000"/>
              <a:gd name="connsiteX2" fmla="*/ 4596962 w 5500630"/>
              <a:gd name="connsiteY2" fmla="*/ 0 h 381000"/>
              <a:gd name="connsiteX3" fmla="*/ 5500630 w 5500630"/>
              <a:gd name="connsiteY3" fmla="*/ 213685 h 381000"/>
              <a:gd name="connsiteX4" fmla="*/ 4596962 w 5500630"/>
              <a:gd name="connsiteY4" fmla="*/ 381000 h 381000"/>
              <a:gd name="connsiteX5" fmla="*/ 4596962 w 5500630"/>
              <a:gd name="connsiteY5" fmla="*/ 254218 h 381000"/>
              <a:gd name="connsiteX6" fmla="*/ 0 w 5500630"/>
              <a:gd name="connsiteY6" fmla="*/ 128094 h 381000"/>
              <a:gd name="connsiteX7" fmla="*/ 63062 w 5500630"/>
              <a:gd name="connsiteY7" fmla="*/ 126782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00630" h="381000" fill="norm" stroke="1" extrusionOk="0">
                <a:moveTo>
                  <a:pt x="63062" y="126782"/>
                </a:moveTo>
                <a:lnTo>
                  <a:pt x="4596962" y="126782"/>
                </a:lnTo>
                <a:lnTo>
                  <a:pt x="4596962" y="0"/>
                </a:lnTo>
                <a:lnTo>
                  <a:pt x="5500630" y="213685"/>
                </a:lnTo>
                <a:lnTo>
                  <a:pt x="4596962" y="381000"/>
                </a:lnTo>
                <a:lnTo>
                  <a:pt x="4596962" y="254218"/>
                </a:lnTo>
                <a:lnTo>
                  <a:pt x="0" y="128094"/>
                </a:lnTo>
                <a:lnTo>
                  <a:pt x="63062" y="126782"/>
                </a:lnTo>
                <a:close/>
              </a:path>
            </a:pathLst>
          </a:cu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51534187" name="Right Arrow 28"/>
          <p:cNvSpPr/>
          <p:nvPr/>
        </p:nvSpPr>
        <p:spPr bwMode="auto">
          <a:xfrm rot="20702563">
            <a:off x="11783929" y="5977323"/>
            <a:ext cx="2172303" cy="1295400"/>
          </a:xfrm>
          <a:custGeom>
            <a:avLst/>
            <a:gdLst>
              <a:gd name="connsiteX0" fmla="*/ 0 w 4724400"/>
              <a:gd name="connsiteY0" fmla="*/ 126782 h 381000"/>
              <a:gd name="connsiteX1" fmla="*/ 4533900 w 4724400"/>
              <a:gd name="connsiteY1" fmla="*/ 126782 h 381000"/>
              <a:gd name="connsiteX2" fmla="*/ 4533900 w 4724400"/>
              <a:gd name="connsiteY2" fmla="*/ 0 h 381000"/>
              <a:gd name="connsiteX3" fmla="*/ 4724400 w 4724400"/>
              <a:gd name="connsiteY3" fmla="*/ 190500 h 381000"/>
              <a:gd name="connsiteX4" fmla="*/ 4533900 w 4724400"/>
              <a:gd name="connsiteY4" fmla="*/ 381000 h 381000"/>
              <a:gd name="connsiteX5" fmla="*/ 4533900 w 4724400"/>
              <a:gd name="connsiteY5" fmla="*/ 254218 h 381000"/>
              <a:gd name="connsiteX6" fmla="*/ 0 w 4724400"/>
              <a:gd name="connsiteY6" fmla="*/ 254218 h 381000"/>
              <a:gd name="connsiteX7" fmla="*/ 0 w 4724400"/>
              <a:gd name="connsiteY7" fmla="*/ 126782 h 381000"/>
              <a:gd name="connsiteX0" fmla="*/ 63062 w 4787462"/>
              <a:gd name="connsiteY0" fmla="*/ 126782 h 381000"/>
              <a:gd name="connsiteX1" fmla="*/ 4596962 w 4787462"/>
              <a:gd name="connsiteY1" fmla="*/ 126782 h 381000"/>
              <a:gd name="connsiteX2" fmla="*/ 4596962 w 4787462"/>
              <a:gd name="connsiteY2" fmla="*/ 0 h 381000"/>
              <a:gd name="connsiteX3" fmla="*/ 4787462 w 4787462"/>
              <a:gd name="connsiteY3" fmla="*/ 190500 h 381000"/>
              <a:gd name="connsiteX4" fmla="*/ 4596962 w 4787462"/>
              <a:gd name="connsiteY4" fmla="*/ 381000 h 381000"/>
              <a:gd name="connsiteX5" fmla="*/ 4596962 w 4787462"/>
              <a:gd name="connsiteY5" fmla="*/ 254218 h 381000"/>
              <a:gd name="connsiteX6" fmla="*/ 0 w 4787462"/>
              <a:gd name="connsiteY6" fmla="*/ 128094 h 381000"/>
              <a:gd name="connsiteX7" fmla="*/ 63062 w 4787462"/>
              <a:gd name="connsiteY7" fmla="*/ 126782 h 381000"/>
              <a:gd name="connsiteX0" fmla="*/ 63062 w 5342147"/>
              <a:gd name="connsiteY0" fmla="*/ 126782 h 381000"/>
              <a:gd name="connsiteX1" fmla="*/ 4596962 w 5342147"/>
              <a:gd name="connsiteY1" fmla="*/ 126782 h 381000"/>
              <a:gd name="connsiteX2" fmla="*/ 4596962 w 5342147"/>
              <a:gd name="connsiteY2" fmla="*/ 0 h 381000"/>
              <a:gd name="connsiteX3" fmla="*/ 5342147 w 5342147"/>
              <a:gd name="connsiteY3" fmla="*/ 204411 h 381000"/>
              <a:gd name="connsiteX4" fmla="*/ 4596962 w 5342147"/>
              <a:gd name="connsiteY4" fmla="*/ 381000 h 381000"/>
              <a:gd name="connsiteX5" fmla="*/ 4596962 w 5342147"/>
              <a:gd name="connsiteY5" fmla="*/ 254218 h 381000"/>
              <a:gd name="connsiteX6" fmla="*/ 0 w 5342147"/>
              <a:gd name="connsiteY6" fmla="*/ 128094 h 381000"/>
              <a:gd name="connsiteX7" fmla="*/ 63062 w 5342147"/>
              <a:gd name="connsiteY7" fmla="*/ 126782 h 381000"/>
              <a:gd name="connsiteX0" fmla="*/ 63062 w 5500630"/>
              <a:gd name="connsiteY0" fmla="*/ 126782 h 381000"/>
              <a:gd name="connsiteX1" fmla="*/ 4596962 w 5500630"/>
              <a:gd name="connsiteY1" fmla="*/ 126782 h 381000"/>
              <a:gd name="connsiteX2" fmla="*/ 4596962 w 5500630"/>
              <a:gd name="connsiteY2" fmla="*/ 0 h 381000"/>
              <a:gd name="connsiteX3" fmla="*/ 5500630 w 5500630"/>
              <a:gd name="connsiteY3" fmla="*/ 213685 h 381000"/>
              <a:gd name="connsiteX4" fmla="*/ 4596962 w 5500630"/>
              <a:gd name="connsiteY4" fmla="*/ 381000 h 381000"/>
              <a:gd name="connsiteX5" fmla="*/ 4596962 w 5500630"/>
              <a:gd name="connsiteY5" fmla="*/ 254218 h 381000"/>
              <a:gd name="connsiteX6" fmla="*/ 0 w 5500630"/>
              <a:gd name="connsiteY6" fmla="*/ 128094 h 381000"/>
              <a:gd name="connsiteX7" fmla="*/ 63062 w 5500630"/>
              <a:gd name="connsiteY7" fmla="*/ 126782 h 381000"/>
              <a:gd name="connsiteX0" fmla="*/ 63062 w 7153200"/>
              <a:gd name="connsiteY0" fmla="*/ 126782 h 381000"/>
              <a:gd name="connsiteX1" fmla="*/ 4596962 w 7153200"/>
              <a:gd name="connsiteY1" fmla="*/ 126782 h 381000"/>
              <a:gd name="connsiteX2" fmla="*/ 4596962 w 7153200"/>
              <a:gd name="connsiteY2" fmla="*/ 0 h 381000"/>
              <a:gd name="connsiteX3" fmla="*/ 7153200 w 7153200"/>
              <a:gd name="connsiteY3" fmla="*/ 224521 h 381000"/>
              <a:gd name="connsiteX4" fmla="*/ 4596962 w 7153200"/>
              <a:gd name="connsiteY4" fmla="*/ 381000 h 381000"/>
              <a:gd name="connsiteX5" fmla="*/ 4596962 w 7153200"/>
              <a:gd name="connsiteY5" fmla="*/ 254218 h 381000"/>
              <a:gd name="connsiteX6" fmla="*/ 0 w 7153200"/>
              <a:gd name="connsiteY6" fmla="*/ 128094 h 381000"/>
              <a:gd name="connsiteX7" fmla="*/ 63062 w 7153200"/>
              <a:gd name="connsiteY7" fmla="*/ 126782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3200" h="381000" fill="norm" stroke="1" extrusionOk="0">
                <a:moveTo>
                  <a:pt x="63062" y="126782"/>
                </a:moveTo>
                <a:lnTo>
                  <a:pt x="4596962" y="126782"/>
                </a:lnTo>
                <a:lnTo>
                  <a:pt x="4596962" y="0"/>
                </a:lnTo>
                <a:lnTo>
                  <a:pt x="7153200" y="224521"/>
                </a:lnTo>
                <a:lnTo>
                  <a:pt x="4596962" y="381000"/>
                </a:lnTo>
                <a:lnTo>
                  <a:pt x="4596962" y="254218"/>
                </a:lnTo>
                <a:lnTo>
                  <a:pt x="0" y="128094"/>
                </a:lnTo>
                <a:lnTo>
                  <a:pt x="63062" y="126782"/>
                </a:lnTo>
                <a:close/>
              </a:path>
            </a:pathLst>
          </a:cu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86884847"/>
                                        </p:tgtEl>
                                        <p:attrNameLst>
                                          <p:attrName>style.visibility</p:attrName>
                                        </p:attrNameLst>
                                      </p:cBhvr>
                                      <p:to>
                                        <p:strVal val="visible"/>
                                      </p:to>
                                    </p:set>
                                    <p:animEffect transition="in" filter="fade">
                                      <p:cBhvr>
                                        <p:cTn id="7" dur="500"/>
                                        <p:tgtEl>
                                          <p:spTgt spid="1386884847"/>
                                        </p:tgtEl>
                                      </p:cBhvr>
                                    </p:animEffect>
                                    <p:anim calcmode="lin" valueType="num">
                                      <p:cBhvr>
                                        <p:cTn id="8" dur="500" fill="hold"/>
                                        <p:tgtEl>
                                          <p:spTgt spid="1386884847"/>
                                        </p:tgtEl>
                                        <p:attrNameLst>
                                          <p:attrName>ppt_x</p:attrName>
                                        </p:attrNameLst>
                                      </p:cBhvr>
                                      <p:tavLst>
                                        <p:tav tm="0">
                                          <p:val>
                                            <p:strVal val="#ppt_x"/>
                                          </p:val>
                                        </p:tav>
                                        <p:tav tm="100000">
                                          <p:val>
                                            <p:strVal val="#ppt_x"/>
                                          </p:val>
                                        </p:tav>
                                      </p:tavLst>
                                    </p:anim>
                                    <p:anim calcmode="lin" valueType="num">
                                      <p:cBhvr>
                                        <p:cTn id="9" dur="500" fill="hold"/>
                                        <p:tgtEl>
                                          <p:spTgt spid="1386884847"/>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0"/>
                                  </p:stCondLst>
                                  <p:childTnLst>
                                    <p:set>
                                      <p:cBhvr>
                                        <p:cTn id="11" dur="1" fill="hold">
                                          <p:stCondLst>
                                            <p:cond delay="0"/>
                                          </p:stCondLst>
                                        </p:cTn>
                                        <p:tgtEl>
                                          <p:spTgt spid="1307360321"/>
                                        </p:tgtEl>
                                        <p:attrNameLst>
                                          <p:attrName>style.visibility</p:attrName>
                                        </p:attrNameLst>
                                      </p:cBhvr>
                                      <p:to>
                                        <p:strVal val="visible"/>
                                      </p:to>
                                    </p:set>
                                    <p:animEffect transition="in" filter="fade">
                                      <p:cBhvr>
                                        <p:cTn id="12" dur="500"/>
                                        <p:tgtEl>
                                          <p:spTgt spid="1307360321"/>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109083995"/>
                                        </p:tgtEl>
                                        <p:attrNameLst>
                                          <p:attrName>style.visibility</p:attrName>
                                        </p:attrNameLst>
                                      </p:cBhvr>
                                      <p:to>
                                        <p:strVal val="visible"/>
                                      </p:to>
                                    </p:set>
                                    <p:animEffect transition="in" filter="wipe(down)">
                                      <p:cBhvr>
                                        <p:cTn id="15" dur="500"/>
                                        <p:tgtEl>
                                          <p:spTgt spid="2109083995"/>
                                        </p:tgtEl>
                                      </p:cBhvr>
                                    </p:animEffect>
                                  </p:childTnLst>
                                </p:cTn>
                              </p:par>
                            </p:childTnLst>
                          </p:cTn>
                        </p:par>
                        <p:par>
                          <p:cTn id="16" fill="hold">
                            <p:stCondLst>
                              <p:cond delay="500"/>
                            </p:stCondLst>
                            <p:childTnLst>
                              <p:par>
                                <p:cTn id="17" presetID="6" presetClass="entr" presetSubtype="32" fill="hold" nodeType="afterEffect">
                                  <p:stCondLst>
                                    <p:cond delay="0"/>
                                  </p:stCondLst>
                                  <p:childTnLst>
                                    <p:set>
                                      <p:cBhvr>
                                        <p:cTn id="18" dur="1" fill="hold">
                                          <p:stCondLst>
                                            <p:cond delay="0"/>
                                          </p:stCondLst>
                                        </p:cTn>
                                        <p:tgtEl>
                                          <p:spTgt spid="318209660"/>
                                        </p:tgtEl>
                                        <p:attrNameLst>
                                          <p:attrName>style.visibility</p:attrName>
                                        </p:attrNameLst>
                                      </p:cBhvr>
                                      <p:to>
                                        <p:strVal val="visible"/>
                                      </p:to>
                                    </p:set>
                                    <p:animEffect transition="in" filter="circle(out)">
                                      <p:cBhvr>
                                        <p:cTn id="19" dur="2000"/>
                                        <p:tgtEl>
                                          <p:spTgt spid="318209660"/>
                                        </p:tgtEl>
                                      </p:cBhvr>
                                    </p:animEffect>
                                  </p:childTnLst>
                                </p:cTn>
                              </p:par>
                            </p:childTnLst>
                          </p:cTn>
                        </p:par>
                        <p:par>
                          <p:cTn id="20" fill="hold">
                            <p:stCondLst>
                              <p:cond delay="2500"/>
                            </p:stCondLst>
                            <p:childTnLst>
                              <p:par>
                                <p:cTn id="21" presetID="16" presetClass="entr" presetSubtype="21" fill="hold" grpId="0" nodeType="afterEffect">
                                  <p:stCondLst>
                                    <p:cond delay="0"/>
                                  </p:stCondLst>
                                  <p:childTnLst>
                                    <p:set>
                                      <p:cBhvr>
                                        <p:cTn id="22" dur="1" fill="hold">
                                          <p:stCondLst>
                                            <p:cond delay="0"/>
                                          </p:stCondLst>
                                        </p:cTn>
                                        <p:tgtEl>
                                          <p:spTgt spid="1441815894"/>
                                        </p:tgtEl>
                                        <p:attrNameLst>
                                          <p:attrName>style.visibility</p:attrName>
                                        </p:attrNameLst>
                                      </p:cBhvr>
                                      <p:to>
                                        <p:strVal val="visible"/>
                                      </p:to>
                                    </p:set>
                                    <p:animEffect transition="in" filter="barn(inVertical)">
                                      <p:cBhvr>
                                        <p:cTn id="23" dur="500"/>
                                        <p:tgtEl>
                                          <p:spTgt spid="1441815894"/>
                                        </p:tgtEl>
                                      </p:cBhvr>
                                    </p:animEffect>
                                  </p:childTnLst>
                                </p:cTn>
                              </p:par>
                            </p:childTnLst>
                          </p:cTn>
                        </p:par>
                        <p:par>
                          <p:cTn id="24" fill="hold">
                            <p:stCondLst>
                              <p:cond delay="3000"/>
                            </p:stCondLst>
                            <p:childTnLst>
                              <p:par>
                                <p:cTn id="25" presetID="16" presetClass="entr" presetSubtype="21" fill="hold" grpId="0" nodeType="afterEffect">
                                  <p:stCondLst>
                                    <p:cond delay="0"/>
                                  </p:stCondLst>
                                  <p:childTnLst>
                                    <p:set>
                                      <p:cBhvr>
                                        <p:cTn id="26" dur="1" fill="hold">
                                          <p:stCondLst>
                                            <p:cond delay="0"/>
                                          </p:stCondLst>
                                        </p:cTn>
                                        <p:tgtEl>
                                          <p:spTgt spid="1726304165"/>
                                        </p:tgtEl>
                                        <p:attrNameLst>
                                          <p:attrName>style.visibility</p:attrName>
                                        </p:attrNameLst>
                                      </p:cBhvr>
                                      <p:to>
                                        <p:strVal val="visible"/>
                                      </p:to>
                                    </p:set>
                                    <p:animEffect transition="in" filter="barn(inVertical)">
                                      <p:cBhvr>
                                        <p:cTn id="27" dur="500"/>
                                        <p:tgtEl>
                                          <p:spTgt spid="1726304165"/>
                                        </p:tgtEl>
                                      </p:cBhvr>
                                    </p:animEffect>
                                  </p:childTnLst>
                                </p:cTn>
                              </p:par>
                            </p:childTnLst>
                          </p:cTn>
                        </p:par>
                        <p:par>
                          <p:cTn id="28" fill="hold">
                            <p:stCondLst>
                              <p:cond delay="3500"/>
                            </p:stCondLst>
                            <p:childTnLst>
                              <p:par>
                                <p:cTn id="29" presetID="21" presetClass="entr" presetSubtype="2" fill="hold" nodeType="afterEffect">
                                  <p:stCondLst>
                                    <p:cond delay="0"/>
                                  </p:stCondLst>
                                  <p:childTnLst>
                                    <p:set>
                                      <p:cBhvr>
                                        <p:cTn id="30" dur="1" fill="hold">
                                          <p:stCondLst>
                                            <p:cond delay="0"/>
                                          </p:stCondLst>
                                        </p:cTn>
                                        <p:tgtEl>
                                          <p:spTgt spid="829593066"/>
                                        </p:tgtEl>
                                        <p:attrNameLst>
                                          <p:attrName>style.visibility</p:attrName>
                                        </p:attrNameLst>
                                      </p:cBhvr>
                                      <p:to>
                                        <p:strVal val="visible"/>
                                      </p:to>
                                    </p:set>
                                    <p:animEffect transition="in" filter="wheel(2)">
                                      <p:cBhvr>
                                        <p:cTn id="31" dur="2000"/>
                                        <p:tgtEl>
                                          <p:spTgt spid="829593066"/>
                                        </p:tgtEl>
                                      </p:cBhvr>
                                    </p:animEffect>
                                  </p:childTnLst>
                                </p:cTn>
                              </p:par>
                              <p:par>
                                <p:cTn id="32" presetID="21" presetClass="entr" presetSubtype="2" fill="hold" nodeType="withEffect">
                                  <p:stCondLst>
                                    <p:cond delay="0"/>
                                  </p:stCondLst>
                                  <p:childTnLst>
                                    <p:set>
                                      <p:cBhvr>
                                        <p:cTn id="33" dur="1" fill="hold">
                                          <p:stCondLst>
                                            <p:cond delay="0"/>
                                          </p:stCondLst>
                                        </p:cTn>
                                        <p:tgtEl>
                                          <p:spTgt spid="598244404"/>
                                        </p:tgtEl>
                                        <p:attrNameLst>
                                          <p:attrName>style.visibility</p:attrName>
                                        </p:attrNameLst>
                                      </p:cBhvr>
                                      <p:to>
                                        <p:strVal val="visible"/>
                                      </p:to>
                                    </p:set>
                                    <p:animEffect transition="in" filter="wheel(2)">
                                      <p:cBhvr>
                                        <p:cTn id="34" dur="2000"/>
                                        <p:tgtEl>
                                          <p:spTgt spid="598244404"/>
                                        </p:tgtEl>
                                      </p:cBhvr>
                                    </p:animEffect>
                                  </p:childTnLst>
                                </p:cTn>
                              </p:par>
                            </p:childTnLst>
                          </p:cTn>
                        </p:par>
                        <p:par>
                          <p:cTn id="35" fill="hold">
                            <p:stCondLst>
                              <p:cond delay="5500"/>
                            </p:stCondLst>
                            <p:childTnLst>
                              <p:par>
                                <p:cTn id="36" presetID="22" presetClass="entr" presetSubtype="8" fill="hold" grpId="0" nodeType="afterEffect">
                                  <p:stCondLst>
                                    <p:cond delay="0"/>
                                  </p:stCondLst>
                                  <p:childTnLst>
                                    <p:set>
                                      <p:cBhvr>
                                        <p:cTn id="37" dur="1" fill="hold">
                                          <p:stCondLst>
                                            <p:cond delay="0"/>
                                          </p:stCondLst>
                                        </p:cTn>
                                        <p:tgtEl>
                                          <p:spTgt spid="1951534187"/>
                                        </p:tgtEl>
                                        <p:attrNameLst>
                                          <p:attrName>style.visibility</p:attrName>
                                        </p:attrNameLst>
                                      </p:cBhvr>
                                      <p:to>
                                        <p:strVal val="visible"/>
                                      </p:to>
                                    </p:set>
                                    <p:animEffect transition="in" filter="wipe(left)">
                                      <p:cBhvr>
                                        <p:cTn id="38" dur="500"/>
                                        <p:tgtEl>
                                          <p:spTgt spid="1951534187"/>
                                        </p:tgtEl>
                                      </p:cBhvr>
                                    </p:animEffect>
                                  </p:childTnLst>
                                </p:cTn>
                              </p:par>
                              <p:par>
                                <p:cTn id="39" presetID="22" presetClass="entr" presetSubtype="2" fill="hold" grpId="0" nodeType="withEffect">
                                  <p:stCondLst>
                                    <p:cond delay="0"/>
                                  </p:stCondLst>
                                  <p:childTnLst>
                                    <p:set>
                                      <p:cBhvr>
                                        <p:cTn id="40" dur="1" fill="hold">
                                          <p:stCondLst>
                                            <p:cond delay="0"/>
                                          </p:stCondLst>
                                        </p:cTn>
                                        <p:tgtEl>
                                          <p:spTgt spid="1480193089"/>
                                        </p:tgtEl>
                                        <p:attrNameLst>
                                          <p:attrName>style.visibility</p:attrName>
                                        </p:attrNameLst>
                                      </p:cBhvr>
                                      <p:to>
                                        <p:strVal val="visible"/>
                                      </p:to>
                                    </p:set>
                                    <p:animEffect transition="in" filter="wipe(right)">
                                      <p:cBhvr>
                                        <p:cTn id="41" dur="500"/>
                                        <p:tgtEl>
                                          <p:spTgt spid="1480193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083995" grpId="0"/>
      <p:bldP spid="1441815894" grpId="0" animBg="1"/>
      <p:bldP spid="1726304165" grpId="0" animBg="1"/>
      <p:bldP spid="1480193089" grpId="0" animBg="1"/>
      <p:bldP spid="1951534187" grpId="0" animBg="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6262415"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1450684974" name="TextBox 9"/>
          <p:cNvSpPr txBox="1"/>
          <p:nvPr/>
        </p:nvSpPr>
        <p:spPr bwMode="auto">
          <a:xfrm>
            <a:off x="3505199" y="1257300"/>
            <a:ext cx="8257237" cy="615553"/>
          </a:xfrm>
          <a:prstGeom prst="rect">
            <a:avLst/>
          </a:prstGeom>
        </p:spPr>
        <p:txBody>
          <a:bodyPr wrap="square" lIns="0" tIns="0" rIns="0" bIns="0" rtlCol="0" anchor="t">
            <a:spAutoFit/>
          </a:bodyPr>
          <a:lstStyle/>
          <a:p>
            <a:pPr>
              <a:spcBef>
                <a:spcPts val="0"/>
              </a:spcBef>
              <a:defRPr/>
            </a:pPr>
            <a:r>
              <a:rPr lang="en-US" sz="4000" b="1">
                <a:solidFill>
                  <a:srgbClr val="292149"/>
                </a:solidFill>
                <a:latin typeface="+mj-lt"/>
                <a:ea typeface="Touvlo Bold"/>
                <a:cs typeface="Touvlo Bold"/>
              </a:rPr>
              <a:t>Sri </a:t>
            </a:r>
            <a:r>
              <a:rPr lang="en-US" sz="4000" b="1">
                <a:solidFill>
                  <a:srgbClr val="292149"/>
                </a:solidFill>
                <a:latin typeface="+mj-lt"/>
                <a:ea typeface="Touvlo Bold"/>
                <a:cs typeface="Touvlo Bold"/>
              </a:rPr>
              <a:t>Lankan Cultural Background</a:t>
            </a:r>
            <a:endParaRPr lang="en-US" sz="4000" b="1">
              <a:solidFill>
                <a:srgbClr val="292149"/>
              </a:solidFill>
              <a:latin typeface="+mj-lt"/>
              <a:ea typeface="Touvlo Bold"/>
              <a:cs typeface="Touvlo Bold"/>
            </a:endParaRPr>
          </a:p>
        </p:txBody>
      </p:sp>
      <p:grpSp>
        <p:nvGrpSpPr>
          <p:cNvPr id="132683451"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2683451"/>
                                        </p:tgtEl>
                                        <p:attrNameLst>
                                          <p:attrName>style.visibility</p:attrName>
                                        </p:attrNameLst>
                                      </p:cBhvr>
                                      <p:to>
                                        <p:strVal val="visible"/>
                                      </p:to>
                                    </p:set>
                                    <p:animEffect transition="in" filter="fade">
                                      <p:cBhvr>
                                        <p:cTn id="7" dur="500"/>
                                        <p:tgtEl>
                                          <p:spTgt spid="132683451"/>
                                        </p:tgtEl>
                                      </p:cBhvr>
                                    </p:animEffect>
                                    <p:anim calcmode="lin" valueType="num">
                                      <p:cBhvr>
                                        <p:cTn id="8" dur="500" fill="hold"/>
                                        <p:tgtEl>
                                          <p:spTgt spid="132683451"/>
                                        </p:tgtEl>
                                        <p:attrNameLst>
                                          <p:attrName>ppt_x</p:attrName>
                                        </p:attrNameLst>
                                      </p:cBhvr>
                                      <p:tavLst>
                                        <p:tav tm="0">
                                          <p:val>
                                            <p:strVal val="#ppt_x"/>
                                          </p:val>
                                        </p:tav>
                                        <p:tav tm="100000">
                                          <p:val>
                                            <p:strVal val="#ppt_x"/>
                                          </p:val>
                                        </p:tav>
                                      </p:tavLst>
                                    </p:anim>
                                    <p:anim calcmode="lin" valueType="num">
                                      <p:cBhvr>
                                        <p:cTn id="9" dur="500" fill="hold"/>
                                        <p:tgtEl>
                                          <p:spTgt spid="1326834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6053728"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235286267" name="TextBox 9"/>
          <p:cNvSpPr txBox="1"/>
          <p:nvPr/>
        </p:nvSpPr>
        <p:spPr bwMode="auto">
          <a:xfrm>
            <a:off x="3505199" y="1257300"/>
            <a:ext cx="8257237" cy="615553"/>
          </a:xfrm>
          <a:prstGeom prst="rect">
            <a:avLst/>
          </a:prstGeom>
        </p:spPr>
        <p:txBody>
          <a:bodyPr wrap="square" lIns="0" tIns="0" rIns="0" bIns="0" rtlCol="0" anchor="t">
            <a:spAutoFit/>
          </a:bodyPr>
          <a:lstStyle/>
          <a:p>
            <a:pPr>
              <a:spcBef>
                <a:spcPts val="0"/>
              </a:spcBef>
              <a:defRPr/>
            </a:pPr>
            <a:r>
              <a:rPr lang="en-US" sz="4000" b="1">
                <a:solidFill>
                  <a:srgbClr val="292149"/>
                </a:solidFill>
                <a:latin typeface="+mj-lt"/>
                <a:ea typeface="Touvlo Bold"/>
                <a:cs typeface="Touvlo Bold"/>
              </a:rPr>
              <a:t>Cameroonian Cultural Background</a:t>
            </a:r>
            <a:endParaRPr lang="en-US" sz="4000" b="1">
              <a:solidFill>
                <a:srgbClr val="292149"/>
              </a:solidFill>
              <a:latin typeface="+mj-lt"/>
              <a:ea typeface="Touvlo Bold"/>
              <a:cs typeface="Touvlo Bold"/>
            </a:endParaRPr>
          </a:p>
        </p:txBody>
      </p:sp>
      <p:grpSp>
        <p:nvGrpSpPr>
          <p:cNvPr id="154633508"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4633508"/>
                                        </p:tgtEl>
                                        <p:attrNameLst>
                                          <p:attrName>style.visibility</p:attrName>
                                        </p:attrNameLst>
                                      </p:cBhvr>
                                      <p:to>
                                        <p:strVal val="visible"/>
                                      </p:to>
                                    </p:set>
                                    <p:animEffect transition="in" filter="fade">
                                      <p:cBhvr>
                                        <p:cTn id="7" dur="500"/>
                                        <p:tgtEl>
                                          <p:spTgt spid="154633508"/>
                                        </p:tgtEl>
                                      </p:cBhvr>
                                    </p:animEffect>
                                    <p:anim calcmode="lin" valueType="num">
                                      <p:cBhvr>
                                        <p:cTn id="8" dur="500" fill="hold"/>
                                        <p:tgtEl>
                                          <p:spTgt spid="154633508"/>
                                        </p:tgtEl>
                                        <p:attrNameLst>
                                          <p:attrName>ppt_x</p:attrName>
                                        </p:attrNameLst>
                                      </p:cBhvr>
                                      <p:tavLst>
                                        <p:tav tm="0">
                                          <p:val>
                                            <p:strVal val="#ppt_x"/>
                                          </p:val>
                                        </p:tav>
                                        <p:tav tm="100000">
                                          <p:val>
                                            <p:strVal val="#ppt_x"/>
                                          </p:val>
                                        </p:tav>
                                      </p:tavLst>
                                    </p:anim>
                                    <p:anim calcmode="lin" valueType="num">
                                      <p:cBhvr>
                                        <p:cTn id="9" dur="500" fill="hold"/>
                                        <p:tgtEl>
                                          <p:spTgt spid="15463350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9145420"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1356000225" name="TextBox 9"/>
          <p:cNvSpPr txBox="1"/>
          <p:nvPr/>
        </p:nvSpPr>
        <p:spPr bwMode="auto">
          <a:xfrm>
            <a:off x="3505199" y="1257300"/>
            <a:ext cx="11582400" cy="615553"/>
          </a:xfrm>
          <a:prstGeom prst="rect">
            <a:avLst/>
          </a:prstGeom>
        </p:spPr>
        <p:txBody>
          <a:bodyPr wrap="square" lIns="0" tIns="0" rIns="0" bIns="0" rtlCol="0" anchor="t">
            <a:spAutoFit/>
          </a:bodyPr>
          <a:lstStyle/>
          <a:p>
            <a:pPr>
              <a:spcBef>
                <a:spcPts val="0"/>
              </a:spcBef>
              <a:defRPr/>
            </a:pPr>
            <a:r>
              <a:rPr lang="fr-FR" sz="4000" b="1">
                <a:solidFill>
                  <a:srgbClr val="292149"/>
                </a:solidFill>
                <a:latin typeface="+mj-lt"/>
                <a:ea typeface="Touvlo Bold"/>
                <a:cs typeface="Touvlo Bold"/>
              </a:rPr>
              <a:t>Visible vs Invisible Culture (Iceberg Model)</a:t>
            </a:r>
            <a:endParaRPr lang="en-US" sz="4000" b="1">
              <a:solidFill>
                <a:srgbClr val="292149"/>
              </a:solidFill>
              <a:latin typeface="+mj-lt"/>
              <a:ea typeface="Touvlo Bold"/>
              <a:cs typeface="Touvlo Bold"/>
            </a:endParaRPr>
          </a:p>
        </p:txBody>
      </p:sp>
      <p:grpSp>
        <p:nvGrpSpPr>
          <p:cNvPr id="636739049"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36739049"/>
                                        </p:tgtEl>
                                        <p:attrNameLst>
                                          <p:attrName>style.visibility</p:attrName>
                                        </p:attrNameLst>
                                      </p:cBhvr>
                                      <p:to>
                                        <p:strVal val="visible"/>
                                      </p:to>
                                    </p:set>
                                    <p:animEffect transition="in" filter="fade">
                                      <p:cBhvr>
                                        <p:cTn id="7" dur="500"/>
                                        <p:tgtEl>
                                          <p:spTgt spid="636739049"/>
                                        </p:tgtEl>
                                      </p:cBhvr>
                                    </p:animEffect>
                                    <p:anim calcmode="lin" valueType="num">
                                      <p:cBhvr>
                                        <p:cTn id="8" dur="500" fill="hold"/>
                                        <p:tgtEl>
                                          <p:spTgt spid="636739049"/>
                                        </p:tgtEl>
                                        <p:attrNameLst>
                                          <p:attrName>ppt_x</p:attrName>
                                        </p:attrNameLst>
                                      </p:cBhvr>
                                      <p:tavLst>
                                        <p:tav tm="0">
                                          <p:val>
                                            <p:strVal val="#ppt_x"/>
                                          </p:val>
                                        </p:tav>
                                        <p:tav tm="100000">
                                          <p:val>
                                            <p:strVal val="#ppt_x"/>
                                          </p:val>
                                        </p:tav>
                                      </p:tavLst>
                                    </p:anim>
                                    <p:anim calcmode="lin" valueType="num">
                                      <p:cBhvr>
                                        <p:cTn id="9" dur="500" fill="hold"/>
                                        <p:tgtEl>
                                          <p:spTgt spid="6367390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1686048"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1774691818" name="TextBox 9"/>
          <p:cNvSpPr txBox="1"/>
          <p:nvPr/>
        </p:nvSpPr>
        <p:spPr bwMode="auto">
          <a:xfrm>
            <a:off x="3505199" y="1257300"/>
            <a:ext cx="11887200" cy="615553"/>
          </a:xfrm>
          <a:prstGeom prst="rect">
            <a:avLst/>
          </a:prstGeom>
        </p:spPr>
        <p:txBody>
          <a:bodyPr wrap="square" lIns="0" tIns="0" rIns="0" bIns="0" rtlCol="0" anchor="t">
            <a:spAutoFit/>
          </a:bodyPr>
          <a:lstStyle/>
          <a:p>
            <a:pPr>
              <a:spcBef>
                <a:spcPts val="0"/>
              </a:spcBef>
              <a:defRPr/>
            </a:pPr>
            <a:r>
              <a:rPr lang="fr-FR" sz="4000" b="1">
                <a:solidFill>
                  <a:srgbClr val="292149"/>
                </a:solidFill>
                <a:latin typeface="+mj-lt"/>
                <a:ea typeface="Touvlo Bold"/>
                <a:cs typeface="Touvlo Bold"/>
              </a:rPr>
              <a:t>Hofstede</a:t>
            </a:r>
            <a:r>
              <a:rPr lang="fr-FR" sz="4000" b="1">
                <a:solidFill>
                  <a:srgbClr val="292149"/>
                </a:solidFill>
                <a:latin typeface="+mj-lt"/>
                <a:ea typeface="Touvlo Bold"/>
                <a:cs typeface="Touvlo Bold"/>
              </a:rPr>
              <a:t> Model </a:t>
            </a:r>
            <a:r>
              <a:rPr lang="fr-FR" sz="4000" b="1">
                <a:solidFill>
                  <a:srgbClr val="292149"/>
                </a:solidFill>
                <a:latin typeface="+mj-lt"/>
                <a:ea typeface="Touvlo Bold"/>
                <a:cs typeface="Touvlo Bold"/>
              </a:rPr>
              <a:t>Introduction – </a:t>
            </a:r>
            <a:r>
              <a:rPr lang="fr-FR" sz="4000" b="1">
                <a:solidFill>
                  <a:srgbClr val="292149"/>
                </a:solidFill>
                <a:latin typeface="+mj-lt"/>
                <a:ea typeface="Touvlo Bold"/>
                <a:cs typeface="Touvlo Bold"/>
              </a:rPr>
              <a:t>Cameroon</a:t>
            </a:r>
            <a:r>
              <a:rPr lang="fr-FR" sz="4000" b="1">
                <a:solidFill>
                  <a:srgbClr val="292149"/>
                </a:solidFill>
                <a:latin typeface="+mj-lt"/>
                <a:ea typeface="Touvlo Bold"/>
                <a:cs typeface="Touvlo Bold"/>
              </a:rPr>
              <a:t> vs Sri Lanka</a:t>
            </a:r>
            <a:endParaRPr lang="en-US" sz="4000" b="1">
              <a:solidFill>
                <a:srgbClr val="292149"/>
              </a:solidFill>
              <a:latin typeface="+mj-lt"/>
              <a:ea typeface="Touvlo Bold"/>
              <a:cs typeface="Touvlo Bold"/>
            </a:endParaRPr>
          </a:p>
        </p:txBody>
      </p:sp>
      <p:grpSp>
        <p:nvGrpSpPr>
          <p:cNvPr id="1866227685"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66227685"/>
                                        </p:tgtEl>
                                        <p:attrNameLst>
                                          <p:attrName>style.visibility</p:attrName>
                                        </p:attrNameLst>
                                      </p:cBhvr>
                                      <p:to>
                                        <p:strVal val="visible"/>
                                      </p:to>
                                    </p:set>
                                    <p:animEffect transition="in" filter="fade">
                                      <p:cBhvr>
                                        <p:cTn id="7" dur="500"/>
                                        <p:tgtEl>
                                          <p:spTgt spid="1866227685"/>
                                        </p:tgtEl>
                                      </p:cBhvr>
                                    </p:animEffect>
                                    <p:anim calcmode="lin" valueType="num">
                                      <p:cBhvr>
                                        <p:cTn id="8" dur="500" fill="hold"/>
                                        <p:tgtEl>
                                          <p:spTgt spid="1866227685"/>
                                        </p:tgtEl>
                                        <p:attrNameLst>
                                          <p:attrName>ppt_x</p:attrName>
                                        </p:attrNameLst>
                                      </p:cBhvr>
                                      <p:tavLst>
                                        <p:tav tm="0">
                                          <p:val>
                                            <p:strVal val="#ppt_x"/>
                                          </p:val>
                                        </p:tav>
                                        <p:tav tm="100000">
                                          <p:val>
                                            <p:strVal val="#ppt_x"/>
                                          </p:val>
                                        </p:tav>
                                      </p:tavLst>
                                    </p:anim>
                                    <p:anim calcmode="lin" valueType="num">
                                      <p:cBhvr>
                                        <p:cTn id="9" dur="500" fill="hold"/>
                                        <p:tgtEl>
                                          <p:spTgt spid="186622768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0577027"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1324462611" name="TextBox 9"/>
          <p:cNvSpPr txBox="1"/>
          <p:nvPr/>
        </p:nvSpPr>
        <p:spPr bwMode="auto">
          <a:xfrm>
            <a:off x="3505199" y="1257300"/>
            <a:ext cx="12192000" cy="615553"/>
          </a:xfrm>
          <a:prstGeom prst="rect">
            <a:avLst/>
          </a:prstGeom>
        </p:spPr>
        <p:txBody>
          <a:bodyPr wrap="square" lIns="0" tIns="0" rIns="0" bIns="0" rtlCol="0" anchor="t">
            <a:spAutoFit/>
          </a:bodyPr>
          <a:lstStyle/>
          <a:p>
            <a:pPr>
              <a:spcBef>
                <a:spcPts val="0"/>
              </a:spcBef>
              <a:defRPr/>
            </a:pPr>
            <a:r>
              <a:rPr lang="fr-FR" sz="4000" b="1">
                <a:solidFill>
                  <a:srgbClr val="292149"/>
                </a:solidFill>
                <a:latin typeface="+mj-lt"/>
                <a:ea typeface="Touvlo Bold"/>
                <a:cs typeface="Touvlo Bold"/>
              </a:rPr>
              <a:t>Individualism</a:t>
            </a:r>
            <a:r>
              <a:rPr lang="fr-FR" sz="4000" b="1">
                <a:solidFill>
                  <a:srgbClr val="292149"/>
                </a:solidFill>
                <a:latin typeface="+mj-lt"/>
                <a:ea typeface="Touvlo Bold"/>
                <a:cs typeface="Touvlo Bold"/>
              </a:rPr>
              <a:t> vs </a:t>
            </a:r>
            <a:r>
              <a:rPr lang="fr-FR" sz="4000" b="1">
                <a:solidFill>
                  <a:srgbClr val="292149"/>
                </a:solidFill>
                <a:latin typeface="+mj-lt"/>
                <a:ea typeface="Touvlo Bold"/>
                <a:cs typeface="Touvlo Bold"/>
              </a:rPr>
              <a:t>Collectivism</a:t>
            </a:r>
            <a:r>
              <a:rPr lang="fr-FR" sz="4000" b="1">
                <a:solidFill>
                  <a:srgbClr val="292149"/>
                </a:solidFill>
                <a:latin typeface="+mj-lt"/>
                <a:ea typeface="Touvlo Bold"/>
                <a:cs typeface="Touvlo Bold"/>
              </a:rPr>
              <a:t> – </a:t>
            </a:r>
            <a:r>
              <a:rPr lang="fr-FR" sz="4000" b="1">
                <a:solidFill>
                  <a:srgbClr val="292149"/>
                </a:solidFill>
                <a:latin typeface="+mj-lt"/>
                <a:ea typeface="Touvlo Bold"/>
                <a:cs typeface="Touvlo Bold"/>
              </a:rPr>
              <a:t>Cameroon</a:t>
            </a:r>
            <a:r>
              <a:rPr lang="fr-FR" sz="4000" b="1">
                <a:solidFill>
                  <a:srgbClr val="292149"/>
                </a:solidFill>
                <a:latin typeface="+mj-lt"/>
                <a:ea typeface="Touvlo Bold"/>
                <a:cs typeface="Touvlo Bold"/>
              </a:rPr>
              <a:t> vs Sri Lanka</a:t>
            </a:r>
            <a:endParaRPr lang="en-US" sz="4000" b="1">
              <a:solidFill>
                <a:srgbClr val="292149"/>
              </a:solidFill>
              <a:latin typeface="+mj-lt"/>
              <a:ea typeface="Touvlo Bold"/>
              <a:cs typeface="Touvlo Bold"/>
            </a:endParaRPr>
          </a:p>
        </p:txBody>
      </p:sp>
      <p:grpSp>
        <p:nvGrpSpPr>
          <p:cNvPr id="669331428"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69331428"/>
                                        </p:tgtEl>
                                        <p:attrNameLst>
                                          <p:attrName>style.visibility</p:attrName>
                                        </p:attrNameLst>
                                      </p:cBhvr>
                                      <p:to>
                                        <p:strVal val="visible"/>
                                      </p:to>
                                    </p:set>
                                    <p:animEffect transition="in" filter="fade">
                                      <p:cBhvr>
                                        <p:cTn id="7" dur="500"/>
                                        <p:tgtEl>
                                          <p:spTgt spid="669331428"/>
                                        </p:tgtEl>
                                      </p:cBhvr>
                                    </p:animEffect>
                                    <p:anim calcmode="lin" valueType="num">
                                      <p:cBhvr>
                                        <p:cTn id="8" dur="500" fill="hold"/>
                                        <p:tgtEl>
                                          <p:spTgt spid="669331428"/>
                                        </p:tgtEl>
                                        <p:attrNameLst>
                                          <p:attrName>ppt_x</p:attrName>
                                        </p:attrNameLst>
                                      </p:cBhvr>
                                      <p:tavLst>
                                        <p:tav tm="0">
                                          <p:val>
                                            <p:strVal val="#ppt_x"/>
                                          </p:val>
                                        </p:tav>
                                        <p:tav tm="100000">
                                          <p:val>
                                            <p:strVal val="#ppt_x"/>
                                          </p:val>
                                        </p:tav>
                                      </p:tavLst>
                                    </p:anim>
                                    <p:anim calcmode="lin" valueType="num">
                                      <p:cBhvr>
                                        <p:cTn id="9" dur="500" fill="hold"/>
                                        <p:tgtEl>
                                          <p:spTgt spid="6693314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0440049"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520185078" name="TextBox 9"/>
          <p:cNvSpPr txBox="1"/>
          <p:nvPr/>
        </p:nvSpPr>
        <p:spPr bwMode="auto">
          <a:xfrm>
            <a:off x="3505199" y="1257300"/>
            <a:ext cx="9982200" cy="615553"/>
          </a:xfrm>
          <a:prstGeom prst="rect">
            <a:avLst/>
          </a:prstGeom>
        </p:spPr>
        <p:txBody>
          <a:bodyPr wrap="square" lIns="0" tIns="0" rIns="0" bIns="0" rtlCol="0" anchor="t">
            <a:spAutoFit/>
          </a:bodyPr>
          <a:lstStyle/>
          <a:p>
            <a:pPr>
              <a:spcBef>
                <a:spcPts val="0"/>
              </a:spcBef>
              <a:defRPr/>
            </a:pPr>
            <a:r>
              <a:rPr lang="fr-FR" sz="4000" b="1">
                <a:solidFill>
                  <a:srgbClr val="292149"/>
                </a:solidFill>
                <a:latin typeface="+mj-lt"/>
                <a:ea typeface="Touvlo Bold"/>
                <a:cs typeface="Touvlo Bold"/>
              </a:rPr>
              <a:t>Power </a:t>
            </a:r>
            <a:r>
              <a:rPr lang="fr-FR" sz="4000" b="1">
                <a:solidFill>
                  <a:srgbClr val="292149"/>
                </a:solidFill>
                <a:latin typeface="+mj-lt"/>
                <a:ea typeface="Touvlo Bold"/>
                <a:cs typeface="Touvlo Bold"/>
              </a:rPr>
              <a:t>Distance – </a:t>
            </a:r>
            <a:r>
              <a:rPr lang="fr-FR" sz="4000" b="1">
                <a:solidFill>
                  <a:srgbClr val="292149"/>
                </a:solidFill>
                <a:latin typeface="+mj-lt"/>
                <a:ea typeface="Touvlo Bold"/>
                <a:cs typeface="Touvlo Bold"/>
              </a:rPr>
              <a:t>Cameroon</a:t>
            </a:r>
            <a:r>
              <a:rPr lang="fr-FR" sz="4000" b="1">
                <a:solidFill>
                  <a:srgbClr val="292149"/>
                </a:solidFill>
                <a:latin typeface="+mj-lt"/>
                <a:ea typeface="Touvlo Bold"/>
                <a:cs typeface="Touvlo Bold"/>
              </a:rPr>
              <a:t> vs Sri Lanka</a:t>
            </a:r>
            <a:endParaRPr lang="en-US" sz="4000" b="1">
              <a:solidFill>
                <a:srgbClr val="292149"/>
              </a:solidFill>
              <a:latin typeface="+mj-lt"/>
              <a:ea typeface="Touvlo Bold"/>
              <a:cs typeface="Touvlo Bold"/>
            </a:endParaRPr>
          </a:p>
        </p:txBody>
      </p:sp>
      <p:grpSp>
        <p:nvGrpSpPr>
          <p:cNvPr id="813702230"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13702230"/>
                                        </p:tgtEl>
                                        <p:attrNameLst>
                                          <p:attrName>style.visibility</p:attrName>
                                        </p:attrNameLst>
                                      </p:cBhvr>
                                      <p:to>
                                        <p:strVal val="visible"/>
                                      </p:to>
                                    </p:set>
                                    <p:animEffect transition="in" filter="fade">
                                      <p:cBhvr>
                                        <p:cTn id="7" dur="500"/>
                                        <p:tgtEl>
                                          <p:spTgt spid="813702230"/>
                                        </p:tgtEl>
                                      </p:cBhvr>
                                    </p:animEffect>
                                    <p:anim calcmode="lin" valueType="num">
                                      <p:cBhvr>
                                        <p:cTn id="8" dur="500" fill="hold"/>
                                        <p:tgtEl>
                                          <p:spTgt spid="813702230"/>
                                        </p:tgtEl>
                                        <p:attrNameLst>
                                          <p:attrName>ppt_x</p:attrName>
                                        </p:attrNameLst>
                                      </p:cBhvr>
                                      <p:tavLst>
                                        <p:tav tm="0">
                                          <p:val>
                                            <p:strVal val="#ppt_x"/>
                                          </p:val>
                                        </p:tav>
                                        <p:tav tm="100000">
                                          <p:val>
                                            <p:strVal val="#ppt_x"/>
                                          </p:val>
                                        </p:tav>
                                      </p:tavLst>
                                    </p:anim>
                                    <p:anim calcmode="lin" valueType="num">
                                      <p:cBhvr>
                                        <p:cTn id="9" dur="500" fill="hold"/>
                                        <p:tgtEl>
                                          <p:spTgt spid="8137022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2756143"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1227423311" name="TextBox 9"/>
          <p:cNvSpPr txBox="1"/>
          <p:nvPr/>
        </p:nvSpPr>
        <p:spPr bwMode="auto">
          <a:xfrm>
            <a:off x="1295400" y="1257300"/>
            <a:ext cx="15011400" cy="615553"/>
          </a:xfrm>
          <a:prstGeom prst="rect">
            <a:avLst/>
          </a:prstGeom>
        </p:spPr>
        <p:txBody>
          <a:bodyPr wrap="square" lIns="0" tIns="0" rIns="0" bIns="0" rtlCol="0" anchor="t">
            <a:spAutoFit/>
          </a:bodyPr>
          <a:lstStyle/>
          <a:p>
            <a:pPr>
              <a:spcBef>
                <a:spcPts val="0"/>
              </a:spcBef>
              <a:defRPr/>
            </a:pPr>
            <a:r>
              <a:rPr lang="en-US" sz="4000" b="1">
                <a:solidFill>
                  <a:srgbClr val="292149"/>
                </a:solidFill>
                <a:latin typeface="+mj-lt"/>
                <a:ea typeface="Touvlo Bold"/>
                <a:cs typeface="Touvlo Bold"/>
              </a:rPr>
              <a:t>Motivation towards Achievement and </a:t>
            </a:r>
            <a:r>
              <a:rPr lang="en-US" sz="4000" b="1">
                <a:solidFill>
                  <a:srgbClr val="292149"/>
                </a:solidFill>
                <a:latin typeface="+mj-lt"/>
                <a:ea typeface="Touvlo Bold"/>
                <a:cs typeface="Touvlo Bold"/>
              </a:rPr>
              <a:t>Success </a:t>
            </a:r>
            <a:r>
              <a:rPr lang="fr-FR" sz="4000" b="1">
                <a:solidFill>
                  <a:srgbClr val="292149"/>
                </a:solidFill>
                <a:latin typeface="+mj-lt"/>
                <a:ea typeface="Touvlo Bold"/>
                <a:cs typeface="Touvlo Bold"/>
              </a:rPr>
              <a:t>– </a:t>
            </a:r>
            <a:r>
              <a:rPr lang="fr-FR" sz="4000" b="1">
                <a:solidFill>
                  <a:srgbClr val="292149"/>
                </a:solidFill>
                <a:latin typeface="+mj-lt"/>
                <a:ea typeface="Touvlo Bold"/>
                <a:cs typeface="Touvlo Bold"/>
              </a:rPr>
              <a:t>Cameroon</a:t>
            </a:r>
            <a:r>
              <a:rPr lang="fr-FR" sz="4000" b="1">
                <a:solidFill>
                  <a:srgbClr val="292149"/>
                </a:solidFill>
                <a:latin typeface="+mj-lt"/>
                <a:ea typeface="Touvlo Bold"/>
                <a:cs typeface="Touvlo Bold"/>
              </a:rPr>
              <a:t> vs Sri Lanka</a:t>
            </a:r>
            <a:endParaRPr lang="en-US" sz="4000" b="1">
              <a:solidFill>
                <a:srgbClr val="292149"/>
              </a:solidFill>
              <a:latin typeface="+mj-lt"/>
              <a:ea typeface="Touvlo Bold"/>
              <a:cs typeface="Touvlo Bold"/>
            </a:endParaRPr>
          </a:p>
        </p:txBody>
      </p:sp>
      <p:grpSp>
        <p:nvGrpSpPr>
          <p:cNvPr id="1695682205"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95682205"/>
                                        </p:tgtEl>
                                        <p:attrNameLst>
                                          <p:attrName>style.visibility</p:attrName>
                                        </p:attrNameLst>
                                      </p:cBhvr>
                                      <p:to>
                                        <p:strVal val="visible"/>
                                      </p:to>
                                    </p:set>
                                    <p:animEffect transition="in" filter="fade">
                                      <p:cBhvr>
                                        <p:cTn id="7" dur="500"/>
                                        <p:tgtEl>
                                          <p:spTgt spid="1695682205"/>
                                        </p:tgtEl>
                                      </p:cBhvr>
                                    </p:animEffect>
                                    <p:anim calcmode="lin" valueType="num">
                                      <p:cBhvr>
                                        <p:cTn id="8" dur="500" fill="hold"/>
                                        <p:tgtEl>
                                          <p:spTgt spid="1695682205"/>
                                        </p:tgtEl>
                                        <p:attrNameLst>
                                          <p:attrName>ppt_x</p:attrName>
                                        </p:attrNameLst>
                                      </p:cBhvr>
                                      <p:tavLst>
                                        <p:tav tm="0">
                                          <p:val>
                                            <p:strVal val="#ppt_x"/>
                                          </p:val>
                                        </p:tav>
                                        <p:tav tm="100000">
                                          <p:val>
                                            <p:strVal val="#ppt_x"/>
                                          </p:val>
                                        </p:tav>
                                      </p:tavLst>
                                    </p:anim>
                                    <p:anim calcmode="lin" valueType="num">
                                      <p:cBhvr>
                                        <p:cTn id="9" dur="500" fill="hold"/>
                                        <p:tgtEl>
                                          <p:spTgt spid="16956822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8792310"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198513338" name="TextBox 9"/>
          <p:cNvSpPr txBox="1"/>
          <p:nvPr/>
        </p:nvSpPr>
        <p:spPr bwMode="auto">
          <a:xfrm>
            <a:off x="3505199" y="1257300"/>
            <a:ext cx="8257237" cy="1231106"/>
          </a:xfrm>
          <a:prstGeom prst="rect">
            <a:avLst/>
          </a:prstGeom>
        </p:spPr>
        <p:txBody>
          <a:bodyPr wrap="square" lIns="0" tIns="0" rIns="0" bIns="0" rtlCol="0" anchor="t">
            <a:spAutoFit/>
          </a:bodyPr>
          <a:lstStyle/>
          <a:p>
            <a:pPr>
              <a:spcBef>
                <a:spcPts val="0"/>
              </a:spcBef>
              <a:defRPr/>
            </a:pPr>
            <a:r>
              <a:rPr lang="fr-FR" sz="4000" b="1">
                <a:solidFill>
                  <a:srgbClr val="292149"/>
                </a:solidFill>
                <a:latin typeface="+mj-lt"/>
                <a:ea typeface="Touvlo Bold"/>
                <a:cs typeface="Touvlo Bold"/>
              </a:rPr>
              <a:t>Indulgence vs </a:t>
            </a:r>
            <a:r>
              <a:rPr lang="fr-FR" sz="4000" b="1">
                <a:solidFill>
                  <a:srgbClr val="292149"/>
                </a:solidFill>
                <a:latin typeface="+mj-lt"/>
                <a:ea typeface="Touvlo Bold"/>
                <a:cs typeface="Touvlo Bold"/>
              </a:rPr>
              <a:t>Restraint</a:t>
            </a:r>
            <a:r>
              <a:rPr lang="fr-FR" sz="4000" b="1">
                <a:solidFill>
                  <a:srgbClr val="292149"/>
                </a:solidFill>
                <a:latin typeface="+mj-lt"/>
                <a:ea typeface="Touvlo Bold"/>
                <a:cs typeface="Touvlo Bold"/>
              </a:rPr>
              <a:t> – </a:t>
            </a:r>
            <a:r>
              <a:rPr lang="fr-FR" sz="4000" b="1">
                <a:solidFill>
                  <a:srgbClr val="292149"/>
                </a:solidFill>
                <a:latin typeface="+mj-lt"/>
                <a:ea typeface="Touvlo Bold"/>
                <a:cs typeface="Touvlo Bold"/>
              </a:rPr>
              <a:t>Cameroon</a:t>
            </a:r>
            <a:r>
              <a:rPr lang="fr-FR" sz="4000" b="1">
                <a:solidFill>
                  <a:srgbClr val="292149"/>
                </a:solidFill>
                <a:latin typeface="+mj-lt"/>
                <a:ea typeface="Touvlo Bold"/>
                <a:cs typeface="Touvlo Bold"/>
              </a:rPr>
              <a:t> vs Sri Lanka</a:t>
            </a:r>
            <a:endParaRPr lang="en-US" sz="4000" b="1">
              <a:solidFill>
                <a:srgbClr val="292149"/>
              </a:solidFill>
              <a:latin typeface="+mj-lt"/>
              <a:ea typeface="Touvlo Bold"/>
              <a:cs typeface="Touvlo Bold"/>
            </a:endParaRPr>
          </a:p>
        </p:txBody>
      </p:sp>
      <p:grpSp>
        <p:nvGrpSpPr>
          <p:cNvPr id="1850931221"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50931221"/>
                                        </p:tgtEl>
                                        <p:attrNameLst>
                                          <p:attrName>style.visibility</p:attrName>
                                        </p:attrNameLst>
                                      </p:cBhvr>
                                      <p:to>
                                        <p:strVal val="visible"/>
                                      </p:to>
                                    </p:set>
                                    <p:animEffect transition="in" filter="fade">
                                      <p:cBhvr>
                                        <p:cTn id="7" dur="500"/>
                                        <p:tgtEl>
                                          <p:spTgt spid="1850931221"/>
                                        </p:tgtEl>
                                      </p:cBhvr>
                                    </p:animEffect>
                                    <p:anim calcmode="lin" valueType="num">
                                      <p:cBhvr>
                                        <p:cTn id="8" dur="500" fill="hold"/>
                                        <p:tgtEl>
                                          <p:spTgt spid="1850931221"/>
                                        </p:tgtEl>
                                        <p:attrNameLst>
                                          <p:attrName>ppt_x</p:attrName>
                                        </p:attrNameLst>
                                      </p:cBhvr>
                                      <p:tavLst>
                                        <p:tav tm="0">
                                          <p:val>
                                            <p:strVal val="#ppt_x"/>
                                          </p:val>
                                        </p:tav>
                                        <p:tav tm="100000">
                                          <p:val>
                                            <p:strVal val="#ppt_x"/>
                                          </p:val>
                                        </p:tav>
                                      </p:tavLst>
                                    </p:anim>
                                    <p:anim calcmode="lin" valueType="num">
                                      <p:cBhvr>
                                        <p:cTn id="9" dur="500" fill="hold"/>
                                        <p:tgtEl>
                                          <p:spTgt spid="18509312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14916996" name="TextBox 7"/>
          <p:cNvSpPr txBox="1"/>
          <p:nvPr/>
        </p:nvSpPr>
        <p:spPr bwMode="auto">
          <a:xfrm flipH="0" flipV="0">
            <a:off x="131762" y="2156353"/>
            <a:ext cx="6539971" cy="508232"/>
          </a:xfrm>
          <a:prstGeom prst="rect">
            <a:avLst/>
          </a:prstGeom>
        </p:spPr>
        <p:txBody>
          <a:bodyPr lIns="0" tIns="0" rIns="0" bIns="0" rtlCol="0" anchor="t">
            <a:spAutoFit/>
          </a:bodyPr>
          <a:lstStyle/>
          <a:p>
            <a:pPr marL="0" lvl="0" indent="0" algn="l">
              <a:lnSpc>
                <a:spcPts val="3999"/>
              </a:lnSpc>
              <a:spcBef>
                <a:spcPts val="0"/>
              </a:spcBef>
              <a:defRPr/>
            </a:pPr>
            <a:r>
              <a:rPr lang="de-DE" sz="4000" b="1" u="sng" strike="noStrike">
                <a:solidFill>
                  <a:srgbClr val="292149"/>
                </a:solidFill>
                <a:ea typeface="Roca Two Bold"/>
                <a:cs typeface="Roca Two Bold"/>
              </a:rPr>
              <a:t>Individualism Vs. </a:t>
            </a:r>
            <a:r>
              <a:rPr lang="en-US" sz="4000" b="1" u="sng" strike="noStrike">
                <a:solidFill>
                  <a:srgbClr val="292149"/>
                </a:solidFill>
                <a:ea typeface="Roca Two Bold"/>
                <a:cs typeface="Roca Two Bold"/>
              </a:rPr>
              <a:t>Collectivism</a:t>
            </a:r>
            <a:endParaRPr sz="4000" b="1" u="none" strike="noStrike">
              <a:solidFill>
                <a:srgbClr val="292149"/>
              </a:solidFill>
              <a:ea typeface="Roca Two Bold"/>
              <a:cs typeface="Roca Two Bold"/>
            </a:endParaRPr>
          </a:p>
        </p:txBody>
      </p:sp>
      <p:sp>
        <p:nvSpPr>
          <p:cNvPr id="167904307" name="TextBox 9"/>
          <p:cNvSpPr txBox="1"/>
          <p:nvPr/>
        </p:nvSpPr>
        <p:spPr bwMode="auto">
          <a:xfrm flipH="0" flipV="0">
            <a:off x="3262365" y="703093"/>
            <a:ext cx="12793549" cy="609959"/>
          </a:xfrm>
          <a:prstGeom prst="rect">
            <a:avLst/>
          </a:prstGeom>
        </p:spPr>
        <p:txBody>
          <a:bodyPr wrap="square" lIns="0" tIns="0" rIns="0" bIns="0" rtlCol="0" anchor="t">
            <a:spAutoFit/>
          </a:bodyPr>
          <a:lstStyle/>
          <a:p>
            <a:pPr>
              <a:defRPr/>
            </a:pPr>
            <a:r>
              <a:rPr sz="4000" b="1" i="0" u="sng">
                <a:solidFill>
                  <a:srgbClr val="000000"/>
                </a:solidFill>
                <a:latin typeface="Times New Roman"/>
                <a:ea typeface="Times New Roman"/>
                <a:cs typeface="Times New Roman"/>
              </a:rPr>
              <a:t>Applying Hofstede’s Framework: Cameroon vs. Sri Lanka</a:t>
            </a:r>
            <a:endParaRPr sz="4000" b="1" u="sng"/>
          </a:p>
        </p:txBody>
      </p:sp>
      <p:grpSp>
        <p:nvGrpSpPr>
          <p:cNvPr id="648548447"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
        <p:nvSpPr>
          <p:cNvPr id="244486565" name="TextBox 7"/>
          <p:cNvSpPr txBox="1"/>
          <p:nvPr/>
        </p:nvSpPr>
        <p:spPr bwMode="auto">
          <a:xfrm flipH="0" flipV="0">
            <a:off x="9659139" y="7315728"/>
            <a:ext cx="2235954" cy="508232"/>
          </a:xfrm>
          <a:prstGeom prst="rect">
            <a:avLst/>
          </a:prstGeom>
        </p:spPr>
        <p:txBody>
          <a:bodyPr lIns="0" tIns="0" rIns="0" bIns="0" rtlCol="0" anchor="t">
            <a:spAutoFit/>
          </a:bodyPr>
          <a:lstStyle/>
          <a:p>
            <a:pPr marL="0" lvl="0" indent="0" algn="l">
              <a:lnSpc>
                <a:spcPts val="3998"/>
              </a:lnSpc>
              <a:spcBef>
                <a:spcPts val="0"/>
              </a:spcBef>
              <a:defRPr/>
            </a:pPr>
            <a:r>
              <a:rPr lang="de-DE" sz="4000" u="none" strike="noStrike">
                <a:solidFill>
                  <a:srgbClr val="292149"/>
                </a:solidFill>
                <a:ea typeface="Roca Two Bold"/>
                <a:cs typeface="Roca Two Bold"/>
              </a:rPr>
              <a:t>Cameroon     </a:t>
            </a:r>
            <a:endParaRPr lang="en-US" sz="4000" u="none" strike="noStrike">
              <a:solidFill>
                <a:srgbClr val="292149"/>
              </a:solidFill>
              <a:ea typeface="Roca Two Bold"/>
              <a:cs typeface="Roca Two Bold"/>
            </a:endParaRPr>
          </a:p>
        </p:txBody>
      </p:sp>
      <p:sp>
        <p:nvSpPr>
          <p:cNvPr id="280366551" name="TextBox 7"/>
          <p:cNvSpPr txBox="1"/>
          <p:nvPr/>
        </p:nvSpPr>
        <p:spPr bwMode="auto">
          <a:xfrm flipH="0" flipV="0">
            <a:off x="14209479" y="7315728"/>
            <a:ext cx="1879261" cy="508232"/>
          </a:xfrm>
          <a:prstGeom prst="rect">
            <a:avLst/>
          </a:prstGeom>
        </p:spPr>
        <p:txBody>
          <a:bodyPr lIns="0" tIns="0" rIns="0" bIns="0" rtlCol="0" anchor="t">
            <a:spAutoFit/>
          </a:bodyPr>
          <a:lstStyle/>
          <a:p>
            <a:pPr marL="0" lvl="0" indent="0" algn="l">
              <a:lnSpc>
                <a:spcPts val="3998"/>
              </a:lnSpc>
              <a:spcBef>
                <a:spcPts val="0"/>
              </a:spcBef>
              <a:defRPr/>
            </a:pPr>
            <a:r>
              <a:rPr lang="de-DE" sz="4000" u="none" strike="noStrike">
                <a:solidFill>
                  <a:srgbClr val="292149"/>
                </a:solidFill>
                <a:ea typeface="Roca Two Bold"/>
                <a:cs typeface="Roca Two Bold"/>
              </a:rPr>
              <a:t>Sri Lanka</a:t>
            </a:r>
            <a:endParaRPr lang="en-US" sz="4000" u="none" strike="noStrike">
              <a:solidFill>
                <a:srgbClr val="292149"/>
              </a:solidFill>
              <a:ea typeface="Roca Two Bold"/>
              <a:cs typeface="Roca Two Bold"/>
            </a:endParaRPr>
          </a:p>
        </p:txBody>
      </p:sp>
      <p:sp>
        <p:nvSpPr>
          <p:cNvPr id="416880689" name="TextBox 9"/>
          <p:cNvSpPr txBox="1"/>
          <p:nvPr/>
        </p:nvSpPr>
        <p:spPr bwMode="auto">
          <a:xfrm flipH="0" flipV="0">
            <a:off x="131762" y="3314699"/>
            <a:ext cx="6538890" cy="2194919"/>
          </a:xfrm>
          <a:prstGeom prst="rect">
            <a:avLst/>
          </a:prstGeom>
        </p:spPr>
        <p:txBody>
          <a:bodyPr wrap="square" lIns="0" tIns="0" rIns="0" bIns="0" rtlCol="0" anchor="t">
            <a:spAutoFit/>
          </a:bodyPr>
          <a:lstStyle/>
          <a:p>
            <a:pPr>
              <a:spcBef>
                <a:spcPts val="0"/>
              </a:spcBef>
              <a:defRPr/>
            </a:pPr>
            <a:r>
              <a:rPr sz="3600" b="0" i="0" u="none">
                <a:solidFill>
                  <a:srgbClr val="000000"/>
                </a:solidFill>
                <a:latin typeface="Times New Roman"/>
                <a:ea typeface="Times New Roman"/>
                <a:cs typeface="Times New Roman"/>
              </a:rPr>
              <a:t>A clear 17-point delta; both are collectivistic, but Cameroon sits significantly deeper on the "We" spectrum.</a:t>
            </a:r>
            <a:endParaRPr sz="3600" b="1">
              <a:solidFill>
                <a:srgbClr val="292149"/>
              </a:solidFill>
              <a:latin typeface="Calibri"/>
              <a:ea typeface="Touvlo Bold"/>
              <a:cs typeface="Touvlo Bold"/>
            </a:endParaRPr>
          </a:p>
        </p:txBody>
      </p:sp>
      <p:pic>
        <p:nvPicPr>
          <p:cNvPr id="2141354450" name=""/>
          <p:cNvPicPr>
            <a:picLocks noChangeAspect="1"/>
          </p:cNvPicPr>
          <p:nvPr/>
        </p:nvPicPr>
        <p:blipFill rotWithShape="1">
          <a:blip r:embed="rId4"/>
          <a:stretch/>
        </p:blipFill>
        <p:spPr bwMode="auto">
          <a:xfrm flipH="0" flipV="0">
            <a:off x="6881960" y="2156353"/>
            <a:ext cx="11362413" cy="51815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48548447"/>
                                        </p:tgtEl>
                                        <p:attrNameLst>
                                          <p:attrName>style.visibility</p:attrName>
                                        </p:attrNameLst>
                                      </p:cBhvr>
                                      <p:to>
                                        <p:strVal val="visible"/>
                                      </p:to>
                                    </p:set>
                                    <p:animEffect transition="in" filter="fade">
                                      <p:cBhvr>
                                        <p:cTn id="7" dur="500"/>
                                        <p:tgtEl>
                                          <p:spTgt spid="648548447"/>
                                        </p:tgtEl>
                                      </p:cBhvr>
                                    </p:animEffect>
                                    <p:anim calcmode="lin" valueType="num">
                                      <p:cBhvr>
                                        <p:cTn id="8" dur="500" fill="hold"/>
                                        <p:tgtEl>
                                          <p:spTgt spid="648548447"/>
                                        </p:tgtEl>
                                        <p:attrNameLst>
                                          <p:attrName>ppt_x</p:attrName>
                                        </p:attrNameLst>
                                      </p:cBhvr>
                                      <p:tavLst>
                                        <p:tav tm="0">
                                          <p:val>
                                            <p:strVal val="#ppt_x"/>
                                          </p:val>
                                        </p:tav>
                                        <p:tav tm="100000">
                                          <p:val>
                                            <p:strVal val="#ppt_x"/>
                                          </p:val>
                                        </p:tav>
                                      </p:tavLst>
                                    </p:anim>
                                    <p:anim calcmode="lin" valueType="num">
                                      <p:cBhvr>
                                        <p:cTn id="9" dur="500" fill="hold"/>
                                        <p:tgtEl>
                                          <p:spTgt spid="6485484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471734" name="TextBox 7"/>
          <p:cNvSpPr txBox="1"/>
          <p:nvPr/>
        </p:nvSpPr>
        <p:spPr bwMode="auto">
          <a:xfrm flipH="0" flipV="0">
            <a:off x="131761" y="2156353"/>
            <a:ext cx="6213201" cy="508232"/>
          </a:xfrm>
          <a:prstGeom prst="rect">
            <a:avLst/>
          </a:prstGeom>
        </p:spPr>
        <p:txBody>
          <a:bodyPr lIns="0" tIns="0" rIns="0" bIns="0" rtlCol="0" anchor="t">
            <a:spAutoFit/>
          </a:bodyPr>
          <a:lstStyle/>
          <a:p>
            <a:pPr marL="0" lvl="0" indent="0" algn="l">
              <a:lnSpc>
                <a:spcPts val="3998"/>
              </a:lnSpc>
              <a:spcBef>
                <a:spcPts val="0"/>
              </a:spcBef>
              <a:defRPr/>
            </a:pPr>
            <a:r>
              <a:rPr lang="de-DE" sz="4000" b="1" u="sng" strike="noStrike">
                <a:solidFill>
                  <a:srgbClr val="292149"/>
                </a:solidFill>
                <a:ea typeface="Roca Two Bold"/>
                <a:cs typeface="Roca Two Bold"/>
              </a:rPr>
              <a:t>Power Distance</a:t>
            </a:r>
            <a:endParaRPr sz="4000" b="1" u="none" strike="noStrike">
              <a:solidFill>
                <a:srgbClr val="292149"/>
              </a:solidFill>
              <a:ea typeface="Roca Two Bold"/>
              <a:cs typeface="Roca Two Bold"/>
            </a:endParaRPr>
          </a:p>
        </p:txBody>
      </p:sp>
      <p:grpSp>
        <p:nvGrpSpPr>
          <p:cNvPr id="1813251764" name="Group 2"/>
          <p:cNvGrpSpPr/>
          <p:nvPr/>
        </p:nvGrpSpPr>
        <p:grpSpPr bwMode="auto">
          <a:xfrm>
            <a:off x="380999" y="342900"/>
            <a:ext cx="1066799" cy="614071"/>
            <a:chOff x="0" y="0"/>
            <a:chExt cx="4816593" cy="595819"/>
          </a:xfrm>
          <a:solidFill>
            <a:schemeClr val="accent6">
              <a:lumMod val="40000"/>
              <a:lumOff val="60000"/>
            </a:schemeClr>
          </a:solidFill>
        </p:grpSpPr>
        <p:sp>
          <p:nvSpPr>
            <p:cNvPr id="1209962480" name="Freeform 3"/>
            <p:cNvSpPr/>
            <p:nvPr/>
          </p:nvSpPr>
          <p:spPr bwMode="auto">
            <a:xfrm>
              <a:off x="0" y="0"/>
              <a:ext cx="4816591" cy="595819"/>
            </a:xfrm>
            <a:prstGeom prst="roundRect">
              <a:avLst>
                <a:gd name="adj" fmla="val 16667"/>
              </a:avLst>
            </a:prstGeom>
            <a:noFill/>
          </p:spPr>
        </p:sp>
        <p:sp>
          <p:nvSpPr>
            <p:cNvPr id="46764440" name="TextBox 4">
              <a:hlinkClick r:id="rId3" action="ppaction://hlinksldjump"/>
            </p:cNvPr>
            <p:cNvSpPr txBox="1"/>
            <p:nvPr/>
          </p:nvSpPr>
          <p:spPr bwMode="auto">
            <a:xfrm>
              <a:off x="0" y="-47623"/>
              <a:ext cx="4816593" cy="643444"/>
            </a:xfrm>
            <a:prstGeom prst="halfFrame">
              <a:avLst>
                <a:gd name="adj1" fmla="val 33333"/>
                <a:gd name="adj2" fmla="val 33333"/>
              </a:avLst>
            </a:prstGeom>
            <a:solidFill>
              <a:srgbClr val="A85008"/>
            </a:solidFill>
          </p:spPr>
          <p:txBody>
            <a:bodyPr lIns="50799" tIns="50799" rIns="50799" bIns="50799" rtlCol="0" anchor="ctr"/>
            <a:lstStyle/>
            <a:p>
              <a:pPr algn="ctr">
                <a:lnSpc>
                  <a:spcPts val="2799"/>
                </a:lnSpc>
                <a:defRPr/>
              </a:pPr>
              <a:endParaRPr/>
            </a:p>
          </p:txBody>
        </p:sp>
      </p:grpSp>
      <p:sp>
        <p:nvSpPr>
          <p:cNvPr id="1826740088" name="TextBox 7"/>
          <p:cNvSpPr txBox="1"/>
          <p:nvPr/>
        </p:nvSpPr>
        <p:spPr bwMode="auto">
          <a:xfrm flipH="0" flipV="0">
            <a:off x="9592993" y="7376053"/>
            <a:ext cx="2235953" cy="508232"/>
          </a:xfrm>
          <a:prstGeom prst="rect">
            <a:avLst/>
          </a:prstGeom>
        </p:spPr>
        <p:txBody>
          <a:bodyPr lIns="0" tIns="0" rIns="0" bIns="0" rtlCol="0" anchor="t">
            <a:spAutoFit/>
          </a:bodyPr>
          <a:lstStyle/>
          <a:p>
            <a:pPr marL="0" lvl="0" indent="0" algn="l">
              <a:lnSpc>
                <a:spcPts val="3998"/>
              </a:lnSpc>
              <a:spcBef>
                <a:spcPts val="0"/>
              </a:spcBef>
              <a:defRPr/>
            </a:pPr>
            <a:r>
              <a:rPr lang="de-DE" sz="4000" u="none" strike="noStrike">
                <a:solidFill>
                  <a:srgbClr val="292149"/>
                </a:solidFill>
                <a:ea typeface="Roca Two Bold"/>
                <a:cs typeface="Roca Two Bold"/>
              </a:rPr>
              <a:t>Cameroon     </a:t>
            </a:r>
            <a:endParaRPr lang="en-US" sz="4000" u="none" strike="noStrike">
              <a:solidFill>
                <a:srgbClr val="292149"/>
              </a:solidFill>
              <a:ea typeface="Roca Two Bold"/>
              <a:cs typeface="Roca Two Bold"/>
            </a:endParaRPr>
          </a:p>
        </p:txBody>
      </p:sp>
      <p:sp>
        <p:nvSpPr>
          <p:cNvPr id="1974999110" name="TextBox 7"/>
          <p:cNvSpPr txBox="1"/>
          <p:nvPr/>
        </p:nvSpPr>
        <p:spPr bwMode="auto">
          <a:xfrm flipH="0" flipV="0">
            <a:off x="14077186" y="7376053"/>
            <a:ext cx="1879260" cy="508232"/>
          </a:xfrm>
          <a:prstGeom prst="rect">
            <a:avLst/>
          </a:prstGeom>
        </p:spPr>
        <p:txBody>
          <a:bodyPr lIns="0" tIns="0" rIns="0" bIns="0" rtlCol="0" anchor="t">
            <a:spAutoFit/>
          </a:bodyPr>
          <a:lstStyle/>
          <a:p>
            <a:pPr marL="0" lvl="0" indent="0" algn="l">
              <a:lnSpc>
                <a:spcPts val="3998"/>
              </a:lnSpc>
              <a:spcBef>
                <a:spcPts val="0"/>
              </a:spcBef>
              <a:defRPr/>
            </a:pPr>
            <a:r>
              <a:rPr lang="de-DE" sz="4000" u="none" strike="noStrike">
                <a:solidFill>
                  <a:srgbClr val="292149"/>
                </a:solidFill>
                <a:ea typeface="Roca Two Bold"/>
                <a:cs typeface="Roca Two Bold"/>
              </a:rPr>
              <a:t>Sri Lanka</a:t>
            </a:r>
            <a:endParaRPr lang="en-US" sz="4000" u="none" strike="noStrike">
              <a:solidFill>
                <a:srgbClr val="292149"/>
              </a:solidFill>
              <a:ea typeface="Roca Two Bold"/>
              <a:cs typeface="Roca Two Bold"/>
            </a:endParaRPr>
          </a:p>
        </p:txBody>
      </p:sp>
      <p:sp>
        <p:nvSpPr>
          <p:cNvPr id="1308444825" name="TextBox 9"/>
          <p:cNvSpPr txBox="1"/>
          <p:nvPr/>
        </p:nvSpPr>
        <p:spPr bwMode="auto">
          <a:xfrm flipH="0" flipV="0">
            <a:off x="131761" y="3314698"/>
            <a:ext cx="6724460" cy="2194919"/>
          </a:xfrm>
          <a:prstGeom prst="rect">
            <a:avLst/>
          </a:prstGeom>
        </p:spPr>
        <p:txBody>
          <a:bodyPr wrap="square" lIns="0" tIns="0" rIns="0" bIns="0" rtlCol="0" anchor="t">
            <a:spAutoFit/>
          </a:bodyPr>
          <a:lstStyle/>
          <a:p>
            <a:pPr>
              <a:defRPr/>
            </a:pPr>
            <a:r>
              <a:rPr sz="3600" b="0" i="0" u="none">
                <a:solidFill>
                  <a:srgbClr val="000000"/>
                </a:solidFill>
                <a:latin typeface="Times New Roman"/>
                <a:ea typeface="Times New Roman"/>
                <a:cs typeface="Times New Roman"/>
              </a:rPr>
              <a:t>A minimal 5-point gap; both nations score highly, reflecting a shared natural acceptance of structural hierarchy and centralized authority.</a:t>
            </a:r>
            <a:endParaRPr sz="3600"/>
          </a:p>
        </p:txBody>
      </p:sp>
      <p:pic>
        <p:nvPicPr>
          <p:cNvPr id="1145357460" name=""/>
          <p:cNvPicPr>
            <a:picLocks noChangeAspect="1"/>
          </p:cNvPicPr>
          <p:nvPr/>
        </p:nvPicPr>
        <p:blipFill rotWithShape="1">
          <a:blip r:embed="rId4"/>
          <a:stretch/>
        </p:blipFill>
        <p:spPr bwMode="auto">
          <a:xfrm flipH="0" flipV="0">
            <a:off x="6909139" y="2156353"/>
            <a:ext cx="11322455" cy="5219699"/>
          </a:xfrm>
          <a:prstGeom prst="rect">
            <a:avLst/>
          </a:prstGeom>
        </p:spPr>
      </p:pic>
      <p:sp>
        <p:nvSpPr>
          <p:cNvPr id="2102181756" name="TextBox 9"/>
          <p:cNvSpPr txBox="1"/>
          <p:nvPr/>
        </p:nvSpPr>
        <p:spPr bwMode="auto">
          <a:xfrm flipH="0" flipV="0">
            <a:off x="3262365" y="703092"/>
            <a:ext cx="12793908" cy="609959"/>
          </a:xfrm>
          <a:prstGeom prst="rect">
            <a:avLst/>
          </a:prstGeom>
        </p:spPr>
        <p:txBody>
          <a:bodyPr wrap="square" lIns="0" tIns="0" rIns="0" bIns="0" rtlCol="0" anchor="t">
            <a:spAutoFit/>
          </a:bodyPr>
          <a:lstStyle/>
          <a:p>
            <a:pPr>
              <a:defRPr/>
            </a:pPr>
            <a:r>
              <a:rPr sz="4000" b="1" i="0" u="sng">
                <a:solidFill>
                  <a:srgbClr val="000000"/>
                </a:solidFill>
                <a:latin typeface="Times New Roman"/>
                <a:ea typeface="Times New Roman"/>
                <a:cs typeface="Times New Roman"/>
              </a:rPr>
              <a:t>Applying Hofstede’s Framework: Cameroon vs. Sri Lanka</a:t>
            </a:r>
            <a:endParaRPr sz="4000" b="1" u="sng"/>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13251764"/>
                                        </p:tgtEl>
                                        <p:attrNameLst>
                                          <p:attrName>style.visibility</p:attrName>
                                        </p:attrNameLst>
                                      </p:cBhvr>
                                      <p:to>
                                        <p:strVal val="visible"/>
                                      </p:to>
                                    </p:set>
                                    <p:animEffect transition="in" filter="fade">
                                      <p:cBhvr>
                                        <p:cTn id="7" dur="500"/>
                                        <p:tgtEl>
                                          <p:spTgt spid="1813251764"/>
                                        </p:tgtEl>
                                      </p:cBhvr>
                                    </p:animEffect>
                                    <p:anim calcmode="lin" valueType="num">
                                      <p:cBhvr>
                                        <p:cTn id="8" dur="500" fill="hold"/>
                                        <p:tgtEl>
                                          <p:spTgt spid="1813251764"/>
                                        </p:tgtEl>
                                        <p:attrNameLst>
                                          <p:attrName>ppt_x</p:attrName>
                                        </p:attrNameLst>
                                      </p:cBhvr>
                                      <p:tavLst>
                                        <p:tav tm="0">
                                          <p:val>
                                            <p:strVal val="#ppt_x"/>
                                          </p:val>
                                        </p:tav>
                                        <p:tav tm="100000">
                                          <p:val>
                                            <p:strVal val="#ppt_x"/>
                                          </p:val>
                                        </p:tav>
                                      </p:tavLst>
                                    </p:anim>
                                    <p:anim calcmode="lin" valueType="num">
                                      <p:cBhvr>
                                        <p:cTn id="9" dur="500" fill="hold"/>
                                        <p:tgtEl>
                                          <p:spTgt spid="18132517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4457176" name="TextBox 7"/>
          <p:cNvSpPr txBox="1"/>
          <p:nvPr/>
        </p:nvSpPr>
        <p:spPr bwMode="auto">
          <a:xfrm flipH="0" flipV="0">
            <a:off x="131761" y="2156353"/>
            <a:ext cx="6228680" cy="508232"/>
          </a:xfrm>
          <a:prstGeom prst="rect">
            <a:avLst/>
          </a:prstGeom>
        </p:spPr>
        <p:txBody>
          <a:bodyPr lIns="0" tIns="0" rIns="0" bIns="0" rtlCol="0" anchor="t">
            <a:spAutoFit/>
          </a:bodyPr>
          <a:lstStyle/>
          <a:p>
            <a:pPr marL="0" lvl="0" indent="0" algn="l">
              <a:lnSpc>
                <a:spcPts val="3998"/>
              </a:lnSpc>
              <a:spcBef>
                <a:spcPts val="0"/>
              </a:spcBef>
              <a:defRPr/>
            </a:pPr>
            <a:r>
              <a:rPr lang="de-DE" sz="4000" b="1" u="sng" strike="noStrike">
                <a:solidFill>
                  <a:srgbClr val="292149"/>
                </a:solidFill>
                <a:ea typeface="Roca Two Bold"/>
                <a:cs typeface="Roca Two Bold"/>
              </a:rPr>
              <a:t>Motivation towards Success</a:t>
            </a:r>
            <a:endParaRPr sz="4000" b="1" u="none" strike="noStrike">
              <a:solidFill>
                <a:srgbClr val="292149"/>
              </a:solidFill>
              <a:ea typeface="Roca Two Bold"/>
              <a:cs typeface="Roca Two Bold"/>
            </a:endParaRPr>
          </a:p>
        </p:txBody>
      </p:sp>
      <p:grpSp>
        <p:nvGrpSpPr>
          <p:cNvPr id="1720019437" name="Group 2"/>
          <p:cNvGrpSpPr/>
          <p:nvPr/>
        </p:nvGrpSpPr>
        <p:grpSpPr bwMode="auto">
          <a:xfrm>
            <a:off x="380999" y="342900"/>
            <a:ext cx="1066799" cy="614071"/>
            <a:chOff x="0" y="0"/>
            <a:chExt cx="4816593" cy="595819"/>
          </a:xfrm>
          <a:solidFill>
            <a:schemeClr val="accent6">
              <a:lumMod val="40000"/>
              <a:lumOff val="60000"/>
            </a:schemeClr>
          </a:solidFill>
        </p:grpSpPr>
        <p:sp>
          <p:nvSpPr>
            <p:cNvPr id="1527103339" name="Freeform 3"/>
            <p:cNvSpPr/>
            <p:nvPr/>
          </p:nvSpPr>
          <p:spPr bwMode="auto">
            <a:xfrm>
              <a:off x="0" y="0"/>
              <a:ext cx="4816591" cy="595819"/>
            </a:xfrm>
            <a:prstGeom prst="roundRect">
              <a:avLst>
                <a:gd name="adj" fmla="val 16667"/>
              </a:avLst>
            </a:prstGeom>
            <a:noFill/>
          </p:spPr>
        </p:sp>
        <p:sp>
          <p:nvSpPr>
            <p:cNvPr id="459266291" name="TextBox 4">
              <a:hlinkClick r:id="rId3" action="ppaction://hlinksldjump"/>
            </p:cNvPr>
            <p:cNvSpPr txBox="1"/>
            <p:nvPr/>
          </p:nvSpPr>
          <p:spPr bwMode="auto">
            <a:xfrm>
              <a:off x="0" y="-47623"/>
              <a:ext cx="4816593" cy="643444"/>
            </a:xfrm>
            <a:prstGeom prst="halfFrame">
              <a:avLst>
                <a:gd name="adj1" fmla="val 33333"/>
                <a:gd name="adj2" fmla="val 33333"/>
              </a:avLst>
            </a:prstGeom>
            <a:solidFill>
              <a:srgbClr val="A85008"/>
            </a:solidFill>
          </p:spPr>
          <p:txBody>
            <a:bodyPr lIns="50799" tIns="50799" rIns="50799" bIns="50799" rtlCol="0" anchor="ctr"/>
            <a:lstStyle/>
            <a:p>
              <a:pPr algn="ctr">
                <a:lnSpc>
                  <a:spcPts val="2799"/>
                </a:lnSpc>
                <a:defRPr/>
              </a:pPr>
              <a:endParaRPr/>
            </a:p>
          </p:txBody>
        </p:sp>
      </p:grpSp>
      <p:sp>
        <p:nvSpPr>
          <p:cNvPr id="296394606" name="TextBox 9"/>
          <p:cNvSpPr txBox="1"/>
          <p:nvPr/>
        </p:nvSpPr>
        <p:spPr bwMode="auto">
          <a:xfrm flipH="0" flipV="0">
            <a:off x="131761" y="3314698"/>
            <a:ext cx="6726619" cy="2194919"/>
          </a:xfrm>
          <a:prstGeom prst="rect">
            <a:avLst/>
          </a:prstGeom>
        </p:spPr>
        <p:txBody>
          <a:bodyPr wrap="square" lIns="0" tIns="0" rIns="0" bIns="0" rtlCol="0" anchor="t">
            <a:spAutoFit/>
          </a:bodyPr>
          <a:lstStyle/>
          <a:p>
            <a:pPr>
              <a:defRPr/>
            </a:pPr>
            <a:r>
              <a:rPr sz="3600" b="0" i="0" u="none">
                <a:solidFill>
                  <a:srgbClr val="000000"/>
                </a:solidFill>
                <a:latin typeface="Times New Roman"/>
                <a:ea typeface="Times New Roman"/>
                <a:cs typeface="Times New Roman"/>
              </a:rPr>
              <a:t>A dead heat with a 1-point difference; both countries occupy the exact same balanced, consensus-driven middle ground.</a:t>
            </a:r>
            <a:endParaRPr sz="3600"/>
          </a:p>
        </p:txBody>
      </p:sp>
      <p:pic>
        <p:nvPicPr>
          <p:cNvPr id="870581606" name=""/>
          <p:cNvPicPr>
            <a:picLocks noChangeAspect="1"/>
          </p:cNvPicPr>
          <p:nvPr/>
        </p:nvPicPr>
        <p:blipFill rotWithShape="1">
          <a:blip r:embed="rId4"/>
          <a:stretch/>
        </p:blipFill>
        <p:spPr bwMode="auto">
          <a:xfrm flipH="0" flipV="0">
            <a:off x="6920000" y="2156352"/>
            <a:ext cx="11322453" cy="5219699"/>
          </a:xfrm>
          <a:prstGeom prst="rect">
            <a:avLst/>
          </a:prstGeom>
        </p:spPr>
      </p:pic>
      <p:sp>
        <p:nvSpPr>
          <p:cNvPr id="950868967" name="TextBox 7"/>
          <p:cNvSpPr txBox="1"/>
          <p:nvPr/>
        </p:nvSpPr>
        <p:spPr bwMode="auto">
          <a:xfrm flipH="0" flipV="0">
            <a:off x="9592992" y="7376053"/>
            <a:ext cx="2236313" cy="508232"/>
          </a:xfrm>
          <a:prstGeom prst="rect">
            <a:avLst/>
          </a:prstGeom>
        </p:spPr>
        <p:txBody>
          <a:bodyPr lIns="0" tIns="0" rIns="0" bIns="0" rtlCol="0" anchor="t">
            <a:spAutoFit/>
          </a:bodyPr>
          <a:lstStyle/>
          <a:p>
            <a:pPr marL="0" lvl="0" indent="0" algn="l">
              <a:lnSpc>
                <a:spcPts val="3998"/>
              </a:lnSpc>
              <a:spcBef>
                <a:spcPts val="0"/>
              </a:spcBef>
              <a:defRPr/>
            </a:pPr>
            <a:r>
              <a:rPr lang="de-DE" sz="4000" u="none" strike="noStrike">
                <a:solidFill>
                  <a:srgbClr val="292149"/>
                </a:solidFill>
                <a:ea typeface="Roca Two Bold"/>
                <a:cs typeface="Roca Two Bold"/>
              </a:rPr>
              <a:t>Cameroon     </a:t>
            </a:r>
            <a:endParaRPr lang="en-US" sz="4000" u="none" strike="noStrike">
              <a:solidFill>
                <a:srgbClr val="292149"/>
              </a:solidFill>
              <a:ea typeface="Roca Two Bold"/>
              <a:cs typeface="Roca Two Bold"/>
            </a:endParaRPr>
          </a:p>
        </p:txBody>
      </p:sp>
      <p:sp>
        <p:nvSpPr>
          <p:cNvPr id="377942484" name="TextBox 7"/>
          <p:cNvSpPr txBox="1"/>
          <p:nvPr/>
        </p:nvSpPr>
        <p:spPr bwMode="auto">
          <a:xfrm flipH="0" flipV="0">
            <a:off x="14077185" y="7376053"/>
            <a:ext cx="1879620" cy="508232"/>
          </a:xfrm>
          <a:prstGeom prst="rect">
            <a:avLst/>
          </a:prstGeom>
        </p:spPr>
        <p:txBody>
          <a:bodyPr lIns="0" tIns="0" rIns="0" bIns="0" rtlCol="0" anchor="t">
            <a:spAutoFit/>
          </a:bodyPr>
          <a:lstStyle/>
          <a:p>
            <a:pPr marL="0" lvl="0" indent="0" algn="l">
              <a:lnSpc>
                <a:spcPts val="3998"/>
              </a:lnSpc>
              <a:spcBef>
                <a:spcPts val="0"/>
              </a:spcBef>
              <a:defRPr/>
            </a:pPr>
            <a:r>
              <a:rPr lang="de-DE" sz="4000" u="none" strike="noStrike">
                <a:solidFill>
                  <a:srgbClr val="292149"/>
                </a:solidFill>
                <a:ea typeface="Roca Two Bold"/>
                <a:cs typeface="Roca Two Bold"/>
              </a:rPr>
              <a:t>Sri Lanka</a:t>
            </a:r>
            <a:endParaRPr lang="en-US" sz="4000" u="none" strike="noStrike">
              <a:solidFill>
                <a:srgbClr val="292149"/>
              </a:solidFill>
              <a:ea typeface="Roca Two Bold"/>
              <a:cs typeface="Roca Two Bold"/>
            </a:endParaRPr>
          </a:p>
        </p:txBody>
      </p:sp>
      <p:sp>
        <p:nvSpPr>
          <p:cNvPr id="79428605" name="TextBox 9"/>
          <p:cNvSpPr txBox="1"/>
          <p:nvPr/>
        </p:nvSpPr>
        <p:spPr bwMode="auto">
          <a:xfrm flipH="0" flipV="0">
            <a:off x="3262365" y="703092"/>
            <a:ext cx="12793908" cy="609959"/>
          </a:xfrm>
          <a:prstGeom prst="rect">
            <a:avLst/>
          </a:prstGeom>
        </p:spPr>
        <p:txBody>
          <a:bodyPr wrap="square" lIns="0" tIns="0" rIns="0" bIns="0" rtlCol="0" anchor="t">
            <a:spAutoFit/>
          </a:bodyPr>
          <a:lstStyle/>
          <a:p>
            <a:pPr>
              <a:defRPr/>
            </a:pPr>
            <a:r>
              <a:rPr sz="4000" b="1" i="0" u="sng">
                <a:solidFill>
                  <a:srgbClr val="000000"/>
                </a:solidFill>
                <a:latin typeface="Times New Roman"/>
                <a:ea typeface="Times New Roman"/>
                <a:cs typeface="Times New Roman"/>
              </a:rPr>
              <a:t>Applying Hofstede’s Framework: Cameroon vs. Sri Lanka</a:t>
            </a:r>
            <a:endParaRPr sz="4000" b="1" u="sng"/>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720019437"/>
                                        </p:tgtEl>
                                        <p:attrNameLst>
                                          <p:attrName>style.visibility</p:attrName>
                                        </p:attrNameLst>
                                      </p:cBhvr>
                                      <p:to>
                                        <p:strVal val="visible"/>
                                      </p:to>
                                    </p:set>
                                    <p:animEffect transition="in" filter="fade">
                                      <p:cBhvr>
                                        <p:cTn id="7" dur="500"/>
                                        <p:tgtEl>
                                          <p:spTgt spid="1720019437"/>
                                        </p:tgtEl>
                                      </p:cBhvr>
                                    </p:animEffect>
                                    <p:anim calcmode="lin" valueType="num">
                                      <p:cBhvr>
                                        <p:cTn id="8" dur="500" fill="hold"/>
                                        <p:tgtEl>
                                          <p:spTgt spid="1720019437"/>
                                        </p:tgtEl>
                                        <p:attrNameLst>
                                          <p:attrName>ppt_x</p:attrName>
                                        </p:attrNameLst>
                                      </p:cBhvr>
                                      <p:tavLst>
                                        <p:tav tm="0">
                                          <p:val>
                                            <p:strVal val="#ppt_x"/>
                                          </p:val>
                                        </p:tav>
                                        <p:tav tm="100000">
                                          <p:val>
                                            <p:strVal val="#ppt_x"/>
                                          </p:val>
                                        </p:tav>
                                      </p:tavLst>
                                    </p:anim>
                                    <p:anim calcmode="lin" valueType="num">
                                      <p:cBhvr>
                                        <p:cTn id="9" dur="500" fill="hold"/>
                                        <p:tgtEl>
                                          <p:spTgt spid="17200194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5483281" name="TextBox 7"/>
          <p:cNvSpPr txBox="1"/>
          <p:nvPr/>
        </p:nvSpPr>
        <p:spPr bwMode="auto">
          <a:xfrm flipH="0" flipV="0">
            <a:off x="131761" y="2156353"/>
            <a:ext cx="6259639" cy="508232"/>
          </a:xfrm>
          <a:prstGeom prst="rect">
            <a:avLst/>
          </a:prstGeom>
        </p:spPr>
        <p:txBody>
          <a:bodyPr lIns="0" tIns="0" rIns="0" bIns="0" rtlCol="0" anchor="t">
            <a:spAutoFit/>
          </a:bodyPr>
          <a:lstStyle/>
          <a:p>
            <a:pPr marL="0" lvl="0" indent="0" algn="l">
              <a:lnSpc>
                <a:spcPts val="3998"/>
              </a:lnSpc>
              <a:spcBef>
                <a:spcPts val="0"/>
              </a:spcBef>
              <a:defRPr/>
            </a:pPr>
            <a:r>
              <a:rPr lang="de-DE" sz="4000" b="1" u="sng" strike="noStrike">
                <a:solidFill>
                  <a:srgbClr val="292149"/>
                </a:solidFill>
                <a:ea typeface="Roca Two Bold"/>
                <a:cs typeface="Roca Two Bold"/>
              </a:rPr>
              <a:t>Indulgence Vs. Restraint</a:t>
            </a:r>
            <a:endParaRPr sz="4000" b="1" u="none" strike="noStrike">
              <a:solidFill>
                <a:srgbClr val="292149"/>
              </a:solidFill>
              <a:ea typeface="Roca Two Bold"/>
              <a:cs typeface="Roca Two Bold"/>
            </a:endParaRPr>
          </a:p>
        </p:txBody>
      </p:sp>
      <p:grpSp>
        <p:nvGrpSpPr>
          <p:cNvPr id="1931042320" name="Group 2"/>
          <p:cNvGrpSpPr/>
          <p:nvPr/>
        </p:nvGrpSpPr>
        <p:grpSpPr bwMode="auto">
          <a:xfrm>
            <a:off x="380999" y="342900"/>
            <a:ext cx="1066799" cy="614071"/>
            <a:chOff x="0" y="0"/>
            <a:chExt cx="4816593" cy="595819"/>
          </a:xfrm>
          <a:solidFill>
            <a:schemeClr val="accent6">
              <a:lumMod val="40000"/>
              <a:lumOff val="60000"/>
            </a:schemeClr>
          </a:solidFill>
        </p:grpSpPr>
        <p:sp>
          <p:nvSpPr>
            <p:cNvPr id="1471923975" name="Freeform 3"/>
            <p:cNvSpPr/>
            <p:nvPr/>
          </p:nvSpPr>
          <p:spPr bwMode="auto">
            <a:xfrm>
              <a:off x="0" y="0"/>
              <a:ext cx="4816591" cy="595819"/>
            </a:xfrm>
            <a:prstGeom prst="roundRect">
              <a:avLst>
                <a:gd name="adj" fmla="val 16667"/>
              </a:avLst>
            </a:prstGeom>
            <a:noFill/>
          </p:spPr>
        </p:sp>
        <p:sp>
          <p:nvSpPr>
            <p:cNvPr id="1661506440" name="TextBox 4">
              <a:hlinkClick r:id="rId3" action="ppaction://hlinksldjump"/>
            </p:cNvPr>
            <p:cNvSpPr txBox="1"/>
            <p:nvPr/>
          </p:nvSpPr>
          <p:spPr bwMode="auto">
            <a:xfrm>
              <a:off x="0" y="-47623"/>
              <a:ext cx="4816593" cy="643444"/>
            </a:xfrm>
            <a:prstGeom prst="halfFrame">
              <a:avLst>
                <a:gd name="adj1" fmla="val 33333"/>
                <a:gd name="adj2" fmla="val 33333"/>
              </a:avLst>
            </a:prstGeom>
            <a:solidFill>
              <a:srgbClr val="A85008"/>
            </a:solidFill>
          </p:spPr>
          <p:txBody>
            <a:bodyPr lIns="50799" tIns="50799" rIns="50799" bIns="50799" rtlCol="0" anchor="ctr"/>
            <a:lstStyle/>
            <a:p>
              <a:pPr algn="ctr">
                <a:lnSpc>
                  <a:spcPts val="2799"/>
                </a:lnSpc>
                <a:defRPr/>
              </a:pPr>
              <a:endParaRPr/>
            </a:p>
          </p:txBody>
        </p:sp>
      </p:grpSp>
      <p:sp>
        <p:nvSpPr>
          <p:cNvPr id="1115707027" name="TextBox 9"/>
          <p:cNvSpPr txBox="1"/>
          <p:nvPr/>
        </p:nvSpPr>
        <p:spPr bwMode="auto">
          <a:xfrm flipH="0" flipV="0">
            <a:off x="131761" y="3314698"/>
            <a:ext cx="6727698" cy="2194919"/>
          </a:xfrm>
          <a:prstGeom prst="rect">
            <a:avLst/>
          </a:prstGeom>
        </p:spPr>
        <p:txBody>
          <a:bodyPr wrap="square" lIns="0" tIns="0" rIns="0" bIns="0" rtlCol="0" anchor="t">
            <a:spAutoFit/>
          </a:bodyPr>
          <a:lstStyle/>
          <a:p>
            <a:pPr>
              <a:defRPr/>
            </a:pPr>
            <a:r>
              <a:rPr sz="3600" b="0" i="0" u="none">
                <a:solidFill>
                  <a:srgbClr val="000000"/>
                </a:solidFill>
                <a:latin typeface="Times New Roman"/>
                <a:ea typeface="Times New Roman"/>
                <a:cs typeface="Times New Roman"/>
              </a:rPr>
              <a:t>An 11-point variance; Cameroon crosses the threshold into Indulgence, while Sri Lanka leans slightly closer to Restraint.</a:t>
            </a:r>
            <a:endParaRPr sz="3600"/>
          </a:p>
        </p:txBody>
      </p:sp>
      <p:sp>
        <p:nvSpPr>
          <p:cNvPr id="697896836" name="TextBox 7"/>
          <p:cNvSpPr txBox="1"/>
          <p:nvPr/>
        </p:nvSpPr>
        <p:spPr bwMode="auto">
          <a:xfrm flipH="0" flipV="0">
            <a:off x="9592992" y="7376053"/>
            <a:ext cx="2236313" cy="508232"/>
          </a:xfrm>
          <a:prstGeom prst="rect">
            <a:avLst/>
          </a:prstGeom>
        </p:spPr>
        <p:txBody>
          <a:bodyPr lIns="0" tIns="0" rIns="0" bIns="0" rtlCol="0" anchor="t">
            <a:spAutoFit/>
          </a:bodyPr>
          <a:lstStyle/>
          <a:p>
            <a:pPr marL="0" lvl="0" indent="0" algn="l">
              <a:lnSpc>
                <a:spcPts val="3998"/>
              </a:lnSpc>
              <a:spcBef>
                <a:spcPts val="0"/>
              </a:spcBef>
              <a:defRPr/>
            </a:pPr>
            <a:r>
              <a:rPr lang="de-DE" sz="4000" u="none" strike="noStrike">
                <a:solidFill>
                  <a:srgbClr val="292149"/>
                </a:solidFill>
                <a:ea typeface="Roca Two Bold"/>
                <a:cs typeface="Roca Two Bold"/>
              </a:rPr>
              <a:t>Cameroon     </a:t>
            </a:r>
            <a:endParaRPr lang="en-US" sz="4000" u="none" strike="noStrike">
              <a:solidFill>
                <a:srgbClr val="292149"/>
              </a:solidFill>
              <a:ea typeface="Roca Two Bold"/>
              <a:cs typeface="Roca Two Bold"/>
            </a:endParaRPr>
          </a:p>
        </p:txBody>
      </p:sp>
      <p:sp>
        <p:nvSpPr>
          <p:cNvPr id="1518677277" name="TextBox 7"/>
          <p:cNvSpPr txBox="1"/>
          <p:nvPr/>
        </p:nvSpPr>
        <p:spPr bwMode="auto">
          <a:xfrm flipH="0" flipV="0">
            <a:off x="14077185" y="7376053"/>
            <a:ext cx="1879619" cy="508232"/>
          </a:xfrm>
          <a:prstGeom prst="rect">
            <a:avLst/>
          </a:prstGeom>
        </p:spPr>
        <p:txBody>
          <a:bodyPr lIns="0" tIns="0" rIns="0" bIns="0" rtlCol="0" anchor="t">
            <a:spAutoFit/>
          </a:bodyPr>
          <a:lstStyle/>
          <a:p>
            <a:pPr marL="0" lvl="0" indent="0" algn="l">
              <a:lnSpc>
                <a:spcPts val="3998"/>
              </a:lnSpc>
              <a:spcBef>
                <a:spcPts val="0"/>
              </a:spcBef>
              <a:defRPr/>
            </a:pPr>
            <a:r>
              <a:rPr lang="de-DE" sz="4000" u="none" strike="noStrike">
                <a:solidFill>
                  <a:srgbClr val="292149"/>
                </a:solidFill>
                <a:ea typeface="Roca Two Bold"/>
                <a:cs typeface="Roca Two Bold"/>
              </a:rPr>
              <a:t>Sri Lanka</a:t>
            </a:r>
            <a:endParaRPr lang="en-US" sz="4000" u="none" strike="noStrike">
              <a:solidFill>
                <a:srgbClr val="292149"/>
              </a:solidFill>
              <a:ea typeface="Roca Two Bold"/>
              <a:cs typeface="Roca Two Bold"/>
            </a:endParaRPr>
          </a:p>
        </p:txBody>
      </p:sp>
      <p:pic>
        <p:nvPicPr>
          <p:cNvPr id="1387992572" name=""/>
          <p:cNvPicPr>
            <a:picLocks noChangeAspect="1"/>
          </p:cNvPicPr>
          <p:nvPr/>
        </p:nvPicPr>
        <p:blipFill rotWithShape="1">
          <a:blip r:embed="rId4"/>
          <a:stretch/>
        </p:blipFill>
        <p:spPr bwMode="auto">
          <a:xfrm>
            <a:off x="6778624" y="2156353"/>
            <a:ext cx="11477624" cy="5172074"/>
          </a:xfrm>
          <a:prstGeom prst="rect">
            <a:avLst/>
          </a:prstGeom>
        </p:spPr>
      </p:pic>
      <p:sp>
        <p:nvSpPr>
          <p:cNvPr id="1429016998" name="TextBox 9"/>
          <p:cNvSpPr txBox="1"/>
          <p:nvPr/>
        </p:nvSpPr>
        <p:spPr bwMode="auto">
          <a:xfrm flipH="0" flipV="0">
            <a:off x="3262365" y="703092"/>
            <a:ext cx="12793908" cy="609959"/>
          </a:xfrm>
          <a:prstGeom prst="rect">
            <a:avLst/>
          </a:prstGeom>
        </p:spPr>
        <p:txBody>
          <a:bodyPr wrap="square" lIns="0" tIns="0" rIns="0" bIns="0" rtlCol="0" anchor="t">
            <a:spAutoFit/>
          </a:bodyPr>
          <a:lstStyle/>
          <a:p>
            <a:pPr>
              <a:defRPr/>
            </a:pPr>
            <a:r>
              <a:rPr sz="4000" b="1" i="0" u="sng">
                <a:solidFill>
                  <a:srgbClr val="000000"/>
                </a:solidFill>
                <a:latin typeface="Times New Roman"/>
                <a:ea typeface="Times New Roman"/>
                <a:cs typeface="Times New Roman"/>
              </a:rPr>
              <a:t>Applying Hofstede’s Framework: Cameroon vs. Sri Lanka</a:t>
            </a:r>
            <a:endParaRPr sz="4000" b="1" u="sng"/>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931042320"/>
                                        </p:tgtEl>
                                        <p:attrNameLst>
                                          <p:attrName>style.visibility</p:attrName>
                                        </p:attrNameLst>
                                      </p:cBhvr>
                                      <p:to>
                                        <p:strVal val="visible"/>
                                      </p:to>
                                    </p:set>
                                    <p:animEffect transition="in" filter="fade">
                                      <p:cBhvr>
                                        <p:cTn id="7" dur="500"/>
                                        <p:tgtEl>
                                          <p:spTgt spid="1931042320"/>
                                        </p:tgtEl>
                                      </p:cBhvr>
                                    </p:animEffect>
                                    <p:anim calcmode="lin" valueType="num">
                                      <p:cBhvr>
                                        <p:cTn id="8" dur="500" fill="hold"/>
                                        <p:tgtEl>
                                          <p:spTgt spid="1931042320"/>
                                        </p:tgtEl>
                                        <p:attrNameLst>
                                          <p:attrName>ppt_x</p:attrName>
                                        </p:attrNameLst>
                                      </p:cBhvr>
                                      <p:tavLst>
                                        <p:tav tm="0">
                                          <p:val>
                                            <p:strVal val="#ppt_x"/>
                                          </p:val>
                                        </p:tav>
                                        <p:tav tm="100000">
                                          <p:val>
                                            <p:strVal val="#ppt_x"/>
                                          </p:val>
                                        </p:tav>
                                      </p:tavLst>
                                    </p:anim>
                                    <p:anim calcmode="lin" valueType="num">
                                      <p:cBhvr>
                                        <p:cTn id="9" dur="500" fill="hold"/>
                                        <p:tgtEl>
                                          <p:spTgt spid="19310423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2075456468" name="Group 2"/>
          <p:cNvGrpSpPr/>
          <p:nvPr/>
        </p:nvGrpSpPr>
        <p:grpSpPr bwMode="auto">
          <a:xfrm>
            <a:off x="380999" y="342900"/>
            <a:ext cx="1066799" cy="614071"/>
            <a:chOff x="0" y="0"/>
            <a:chExt cx="4816593" cy="595819"/>
          </a:xfrm>
          <a:solidFill>
            <a:schemeClr val="accent6">
              <a:lumMod val="40000"/>
              <a:lumOff val="60000"/>
            </a:schemeClr>
          </a:solidFill>
        </p:grpSpPr>
        <p:sp>
          <p:nvSpPr>
            <p:cNvPr id="1714863087" name="Freeform 3"/>
            <p:cNvSpPr/>
            <p:nvPr/>
          </p:nvSpPr>
          <p:spPr bwMode="auto">
            <a:xfrm>
              <a:off x="0" y="0"/>
              <a:ext cx="4816591" cy="595819"/>
            </a:xfrm>
            <a:prstGeom prst="roundRect">
              <a:avLst>
                <a:gd name="adj" fmla="val 16667"/>
              </a:avLst>
            </a:prstGeom>
            <a:noFill/>
          </p:spPr>
        </p:sp>
        <p:sp>
          <p:nvSpPr>
            <p:cNvPr id="123737991" name="TextBox 4">
              <a:hlinkClick r:id="rId3" action="ppaction://hlinksldjump"/>
            </p:cNvPr>
            <p:cNvSpPr txBox="1"/>
            <p:nvPr/>
          </p:nvSpPr>
          <p:spPr bwMode="auto">
            <a:xfrm>
              <a:off x="0" y="-47623"/>
              <a:ext cx="4816593" cy="643444"/>
            </a:xfrm>
            <a:prstGeom prst="halfFrame">
              <a:avLst>
                <a:gd name="adj1" fmla="val 33333"/>
                <a:gd name="adj2" fmla="val 33333"/>
              </a:avLst>
            </a:prstGeom>
            <a:solidFill>
              <a:srgbClr val="A85008"/>
            </a:solidFill>
          </p:spPr>
          <p:txBody>
            <a:bodyPr lIns="50799" tIns="50799" rIns="50799" bIns="50799" rtlCol="0" anchor="ctr"/>
            <a:lstStyle/>
            <a:p>
              <a:pPr algn="ctr">
                <a:lnSpc>
                  <a:spcPts val="2799"/>
                </a:lnSpc>
                <a:defRPr/>
              </a:pPr>
              <a:endParaRPr/>
            </a:p>
          </p:txBody>
        </p:sp>
      </p:grpSp>
      <p:sp>
        <p:nvSpPr>
          <p:cNvPr id="986271352" name="TextBox 9"/>
          <p:cNvSpPr txBox="1"/>
          <p:nvPr/>
        </p:nvSpPr>
        <p:spPr bwMode="auto">
          <a:xfrm flipH="0" flipV="0">
            <a:off x="3262365" y="703092"/>
            <a:ext cx="12796788" cy="609959"/>
          </a:xfrm>
          <a:prstGeom prst="rect">
            <a:avLst/>
          </a:prstGeom>
        </p:spPr>
        <p:txBody>
          <a:bodyPr wrap="square" lIns="0" tIns="0" rIns="0" bIns="0" rtlCol="0" anchor="t">
            <a:spAutoFit/>
          </a:bodyPr>
          <a:lstStyle/>
          <a:p>
            <a:pPr>
              <a:defRPr/>
            </a:pPr>
            <a:r>
              <a:rPr sz="4000" b="1" i="0" u="sng">
                <a:solidFill>
                  <a:srgbClr val="000000"/>
                </a:solidFill>
                <a:latin typeface="Times New Roman"/>
                <a:ea typeface="Times New Roman"/>
                <a:cs typeface="Times New Roman"/>
              </a:rPr>
              <a:t>Shaping Perspective: Everyday Life in Cameroon</a:t>
            </a:r>
            <a:endParaRPr sz="4000" b="1" u="sng"/>
          </a:p>
        </p:txBody>
      </p:sp>
      <p:sp>
        <p:nvSpPr>
          <p:cNvPr id="375345362" name="TextBox 9"/>
          <p:cNvSpPr txBox="1"/>
          <p:nvPr/>
        </p:nvSpPr>
        <p:spPr bwMode="auto">
          <a:xfrm flipH="0" flipV="0">
            <a:off x="636639" y="1609555"/>
            <a:ext cx="12816227" cy="8034095"/>
          </a:xfrm>
          <a:prstGeom prst="rect">
            <a:avLst/>
          </a:prstGeom>
        </p:spPr>
        <p:txBody>
          <a:bodyPr wrap="square" lIns="0" tIns="0" rIns="0" bIns="0" rtlCol="0" anchor="t">
            <a:spAutoFit/>
          </a:bodyPr>
          <a:lstStyle/>
          <a:p>
            <a:pPr marL="482137" indent="-482137">
              <a:buFont typeface="Arial"/>
              <a:buChar char="•"/>
              <a:defRPr/>
            </a:pPr>
            <a:r>
              <a:rPr sz="3600" b="1" i="0" u="none">
                <a:solidFill>
                  <a:srgbClr val="000000"/>
                </a:solidFill>
                <a:latin typeface="Times New Roman"/>
                <a:ea typeface="Times New Roman"/>
                <a:cs typeface="Times New Roman"/>
              </a:rPr>
              <a:t>The Foundation of Perception:</a:t>
            </a:r>
            <a:r>
              <a:rPr sz="3600" b="0" i="0" u="none">
                <a:solidFill>
                  <a:srgbClr val="000000"/>
                </a:solidFill>
                <a:latin typeface="Times New Roman"/>
                <a:ea typeface="Times New Roman"/>
                <a:cs typeface="Times New Roman"/>
              </a:rPr>
              <a:t> Cultural identity isn't just a number on a graph; it is shaped by the unwritten rules of daily survival and celebration.</a:t>
            </a:r>
            <a:endParaRPr sz="3600" b="1" u="sng"/>
          </a:p>
          <a:p>
            <a:pPr marL="482137" indent="-482137">
              <a:buFont typeface="Arial"/>
              <a:buChar char="•"/>
              <a:defRPr/>
            </a:pPr>
            <a:endParaRPr sz="3600" b="1" u="sng"/>
          </a:p>
          <a:p>
            <a:pPr marL="482137" indent="-482137">
              <a:buFont typeface="Arial"/>
              <a:buChar char="•"/>
              <a:defRPr/>
            </a:pPr>
            <a:r>
              <a:rPr sz="3600" b="1" i="0" u="none">
                <a:solidFill>
                  <a:srgbClr val="000000"/>
                </a:solidFill>
                <a:latin typeface="Times New Roman"/>
                <a:ea typeface="Times New Roman"/>
                <a:cs typeface="Times New Roman"/>
              </a:rPr>
              <a:t>Example 1:</a:t>
            </a:r>
            <a:r>
              <a:rPr sz="3600" b="0" i="0" u="none">
                <a:solidFill>
                  <a:srgbClr val="000000"/>
                </a:solidFill>
                <a:latin typeface="Times New Roman"/>
                <a:ea typeface="Times New Roman"/>
                <a:cs typeface="Times New Roman"/>
              </a:rPr>
              <a:t> </a:t>
            </a:r>
            <a:r>
              <a:rPr sz="3600" b="1" i="0" u="none">
                <a:solidFill>
                  <a:srgbClr val="000000"/>
                </a:solidFill>
                <a:latin typeface="Times New Roman"/>
                <a:ea typeface="Times New Roman"/>
                <a:cs typeface="Times New Roman"/>
              </a:rPr>
              <a:t>The </a:t>
            </a:r>
            <a:r>
              <a:rPr sz="3600" b="1" i="1" u="none">
                <a:solidFill>
                  <a:srgbClr val="000000"/>
                </a:solidFill>
                <a:latin typeface="Times New Roman"/>
                <a:ea typeface="Times New Roman"/>
                <a:cs typeface="Times New Roman"/>
              </a:rPr>
              <a:t>Njangi</a:t>
            </a:r>
            <a:r>
              <a:rPr sz="3600" b="1" i="0" u="none">
                <a:solidFill>
                  <a:srgbClr val="000000"/>
                </a:solidFill>
                <a:latin typeface="Times New Roman"/>
                <a:ea typeface="Times New Roman"/>
                <a:cs typeface="Times New Roman"/>
              </a:rPr>
              <a:t> (Traditional Micro-Finance)</a:t>
            </a:r>
            <a:endParaRPr sz="3600" b="1" i="0" u="none">
              <a:solidFill>
                <a:srgbClr val="000000"/>
              </a:solidFill>
              <a:latin typeface="Times New Roman"/>
              <a:ea typeface="Times New Roman"/>
              <a:cs typeface="Times New Roman"/>
            </a:endParaRPr>
          </a:p>
          <a:p>
            <a:pPr marL="482137" indent="-482137">
              <a:buFont typeface="Arial"/>
              <a:buChar char="•"/>
              <a:defRPr/>
            </a:pPr>
            <a:endParaRPr sz="2200" b="1" u="sng"/>
          </a:p>
          <a:p>
            <a:pPr marL="1282237" lvl="2" indent="-482137">
              <a:buFont typeface="Arial"/>
              <a:buChar char="•"/>
              <a:defRPr/>
            </a:pPr>
            <a:r>
              <a:rPr sz="3600" b="0" i="1" u="none">
                <a:solidFill>
                  <a:srgbClr val="000000"/>
                </a:solidFill>
                <a:latin typeface="Times New Roman"/>
                <a:ea typeface="Times New Roman"/>
                <a:cs typeface="Times New Roman"/>
              </a:rPr>
              <a:t>T</a:t>
            </a:r>
            <a:r>
              <a:rPr sz="3600" b="0" i="1" u="none">
                <a:solidFill>
                  <a:srgbClr val="000000"/>
                </a:solidFill>
                <a:latin typeface="Times New Roman"/>
                <a:ea typeface="Times New Roman"/>
                <a:cs typeface="Times New Roman"/>
              </a:rPr>
              <a:t>he Metric:</a:t>
            </a:r>
            <a:r>
              <a:rPr sz="3600" b="0" i="0" u="none">
                <a:solidFill>
                  <a:srgbClr val="000000"/>
                </a:solidFill>
                <a:latin typeface="Times New Roman"/>
                <a:ea typeface="Times New Roman"/>
                <a:cs typeface="Times New Roman"/>
              </a:rPr>
              <a:t> High Collectivism in action.</a:t>
            </a:r>
            <a:endParaRPr sz="3600" b="0" u="sng"/>
          </a:p>
          <a:p>
            <a:pPr marL="1282237" lvl="2" indent="-482137">
              <a:buFont typeface="Arial"/>
              <a:buChar char="•"/>
              <a:defRPr/>
            </a:pPr>
            <a:r>
              <a:rPr sz="3600" b="0" i="1" u="none">
                <a:solidFill>
                  <a:srgbClr val="000000"/>
                </a:solidFill>
                <a:latin typeface="Times New Roman"/>
                <a:ea typeface="Times New Roman"/>
                <a:cs typeface="Times New Roman"/>
              </a:rPr>
              <a:t>The Reality:</a:t>
            </a:r>
            <a:r>
              <a:rPr sz="3600" b="0" i="0" u="none">
                <a:solidFill>
                  <a:srgbClr val="000000"/>
                </a:solidFill>
                <a:latin typeface="Times New Roman"/>
                <a:ea typeface="Times New Roman"/>
                <a:cs typeface="Times New Roman"/>
              </a:rPr>
              <a:t> Community-pooled funds built entirely on mutual trust rather than formal, rigid banking contracts</a:t>
            </a:r>
            <a:r>
              <a:rPr sz="1200" b="0" i="0" u="none">
                <a:solidFill>
                  <a:srgbClr val="000000"/>
                </a:solidFill>
                <a:latin typeface="Times New Roman"/>
                <a:ea typeface="Times New Roman"/>
                <a:cs typeface="Times New Roman"/>
              </a:rPr>
              <a:t>.</a:t>
            </a:r>
            <a:r>
              <a:rPr lang="de-DE" sz="3600" b="0" u="none"/>
              <a:t>.</a:t>
            </a:r>
            <a:endParaRPr sz="3600" b="1" u="none"/>
          </a:p>
          <a:p>
            <a:pPr marL="1282237" lvl="2" indent="-482137">
              <a:buFont typeface="Arial"/>
              <a:buChar char="•"/>
              <a:defRPr/>
            </a:pPr>
            <a:endParaRPr lang="de-DE" sz="3600" b="0" u="none"/>
          </a:p>
          <a:p>
            <a:pPr marL="482137" indent="-482137">
              <a:buFont typeface="Arial"/>
              <a:buChar char="•"/>
              <a:defRPr/>
            </a:pPr>
            <a:r>
              <a:rPr sz="3600" b="1" i="0" u="none">
                <a:solidFill>
                  <a:srgbClr val="000000"/>
                </a:solidFill>
                <a:latin typeface="Times New Roman"/>
                <a:ea typeface="Times New Roman"/>
                <a:cs typeface="Times New Roman"/>
              </a:rPr>
              <a:t>Example 2: Communal Celebrations &amp; Street Vibrancy</a:t>
            </a:r>
            <a:endParaRPr sz="3600"/>
          </a:p>
          <a:p>
            <a:pPr marL="1282237" lvl="2" indent="-482137">
              <a:buFont typeface="Arial"/>
              <a:buChar char="•"/>
              <a:defRPr/>
            </a:pPr>
            <a:r>
              <a:rPr sz="3600" b="0" i="1" u="none">
                <a:solidFill>
                  <a:srgbClr val="000000"/>
                </a:solidFill>
                <a:latin typeface="Times New Roman"/>
                <a:ea typeface="Times New Roman"/>
                <a:cs typeface="Times New Roman"/>
              </a:rPr>
              <a:t>The Metric:</a:t>
            </a:r>
            <a:r>
              <a:rPr sz="3600" b="0" i="0" u="none">
                <a:solidFill>
                  <a:srgbClr val="000000"/>
                </a:solidFill>
                <a:latin typeface="Times New Roman"/>
                <a:ea typeface="Times New Roman"/>
                <a:cs typeface="Times New Roman"/>
              </a:rPr>
              <a:t> High Indulgence and Real-Time Adaptability.</a:t>
            </a:r>
            <a:endParaRPr sz="3600"/>
          </a:p>
          <a:p>
            <a:pPr marL="1282237" lvl="2" indent="-482137">
              <a:buFont typeface="Arial"/>
              <a:buChar char="•"/>
              <a:defRPr/>
            </a:pPr>
            <a:r>
              <a:rPr sz="3600" b="0" i="1" u="none">
                <a:solidFill>
                  <a:srgbClr val="000000"/>
                </a:solidFill>
                <a:latin typeface="Times New Roman"/>
                <a:ea typeface="Times New Roman"/>
                <a:cs typeface="Times New Roman"/>
              </a:rPr>
              <a:t>The Reality:</a:t>
            </a:r>
            <a:r>
              <a:rPr sz="3600" b="0" i="0" u="none">
                <a:solidFill>
                  <a:srgbClr val="000000"/>
                </a:solidFill>
                <a:latin typeface="Times New Roman"/>
                <a:ea typeface="Times New Roman"/>
                <a:cs typeface="Times New Roman"/>
              </a:rPr>
              <a:t> Major life events, music, and social gatherings are public, shared, and highly expressive experiences rather than strictly private affairs.</a:t>
            </a:r>
            <a:endParaRPr sz="3600" b="1" u="non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75456468"/>
                                        </p:tgtEl>
                                        <p:attrNameLst>
                                          <p:attrName>style.visibility</p:attrName>
                                        </p:attrNameLst>
                                      </p:cBhvr>
                                      <p:to>
                                        <p:strVal val="visible"/>
                                      </p:to>
                                    </p:set>
                                    <p:animEffect transition="in" filter="fade">
                                      <p:cBhvr>
                                        <p:cTn id="7" dur="500"/>
                                        <p:tgtEl>
                                          <p:spTgt spid="2075456468"/>
                                        </p:tgtEl>
                                      </p:cBhvr>
                                    </p:animEffect>
                                    <p:anim calcmode="lin" valueType="num">
                                      <p:cBhvr>
                                        <p:cTn id="8" dur="500" fill="hold"/>
                                        <p:tgtEl>
                                          <p:spTgt spid="2075456468"/>
                                        </p:tgtEl>
                                        <p:attrNameLst>
                                          <p:attrName>ppt_x</p:attrName>
                                        </p:attrNameLst>
                                      </p:cBhvr>
                                      <p:tavLst>
                                        <p:tav tm="0">
                                          <p:val>
                                            <p:strVal val="#ppt_x"/>
                                          </p:val>
                                        </p:tav>
                                        <p:tav tm="100000">
                                          <p:val>
                                            <p:strVal val="#ppt_x"/>
                                          </p:val>
                                        </p:tav>
                                      </p:tavLst>
                                    </p:anim>
                                    <p:anim calcmode="lin" valueType="num">
                                      <p:cBhvr>
                                        <p:cTn id="9" dur="500" fill="hold"/>
                                        <p:tgtEl>
                                          <p:spTgt spid="20754564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797300462" name="Group 2"/>
          <p:cNvGrpSpPr/>
          <p:nvPr/>
        </p:nvGrpSpPr>
        <p:grpSpPr bwMode="auto">
          <a:xfrm>
            <a:off x="380999" y="342900"/>
            <a:ext cx="1066799" cy="614071"/>
            <a:chOff x="0" y="0"/>
            <a:chExt cx="4816593" cy="595819"/>
          </a:xfrm>
          <a:solidFill>
            <a:schemeClr val="accent6">
              <a:lumMod val="40000"/>
              <a:lumOff val="60000"/>
            </a:schemeClr>
          </a:solidFill>
        </p:grpSpPr>
        <p:sp>
          <p:nvSpPr>
            <p:cNvPr id="825215980" name="Freeform 3"/>
            <p:cNvSpPr/>
            <p:nvPr/>
          </p:nvSpPr>
          <p:spPr bwMode="auto">
            <a:xfrm>
              <a:off x="0" y="0"/>
              <a:ext cx="4816591" cy="595819"/>
            </a:xfrm>
            <a:prstGeom prst="roundRect">
              <a:avLst>
                <a:gd name="adj" fmla="val 16667"/>
              </a:avLst>
            </a:prstGeom>
            <a:noFill/>
          </p:spPr>
        </p:sp>
        <p:sp>
          <p:nvSpPr>
            <p:cNvPr id="1586298522" name="TextBox 4">
              <a:hlinkClick r:id="rId3" action="ppaction://hlinksldjump"/>
            </p:cNvPr>
            <p:cNvSpPr txBox="1"/>
            <p:nvPr/>
          </p:nvSpPr>
          <p:spPr bwMode="auto">
            <a:xfrm>
              <a:off x="0" y="-47623"/>
              <a:ext cx="4816593" cy="643444"/>
            </a:xfrm>
            <a:prstGeom prst="halfFrame">
              <a:avLst>
                <a:gd name="adj1" fmla="val 33333"/>
                <a:gd name="adj2" fmla="val 33333"/>
              </a:avLst>
            </a:prstGeom>
            <a:solidFill>
              <a:srgbClr val="A85008"/>
            </a:solidFill>
          </p:spPr>
          <p:txBody>
            <a:bodyPr lIns="50799" tIns="50799" rIns="50799" bIns="50799" rtlCol="0" anchor="ctr"/>
            <a:lstStyle/>
            <a:p>
              <a:pPr algn="ctr">
                <a:lnSpc>
                  <a:spcPts val="2799"/>
                </a:lnSpc>
                <a:defRPr/>
              </a:pPr>
              <a:endParaRPr/>
            </a:p>
          </p:txBody>
        </p:sp>
      </p:grpSp>
      <p:sp>
        <p:nvSpPr>
          <p:cNvPr id="1744833106" name="TextBox 9"/>
          <p:cNvSpPr txBox="1"/>
          <p:nvPr/>
        </p:nvSpPr>
        <p:spPr bwMode="auto">
          <a:xfrm flipH="0" flipV="0">
            <a:off x="3262365" y="703092"/>
            <a:ext cx="12796787" cy="609958"/>
          </a:xfrm>
          <a:prstGeom prst="rect">
            <a:avLst/>
          </a:prstGeom>
        </p:spPr>
        <p:txBody>
          <a:bodyPr wrap="square" lIns="0" tIns="0" rIns="0" bIns="0" rtlCol="0" anchor="t">
            <a:spAutoFit/>
          </a:bodyPr>
          <a:lstStyle/>
          <a:p>
            <a:pPr>
              <a:defRPr/>
            </a:pPr>
            <a:r>
              <a:rPr sz="4000" b="1" i="0" u="sng">
                <a:solidFill>
                  <a:srgbClr val="000000"/>
                </a:solidFill>
                <a:latin typeface="Times New Roman"/>
                <a:ea typeface="Times New Roman"/>
                <a:cs typeface="Times New Roman"/>
              </a:rPr>
              <a:t>Shaping Perspective: Everyday Life in Cameroon</a:t>
            </a:r>
            <a:endParaRPr sz="4000" b="1" u="sng"/>
          </a:p>
        </p:txBody>
      </p:sp>
      <p:graphicFrame>
        <p:nvGraphicFramePr>
          <p:cNvPr id="983022560" name=""/>
          <p:cNvGraphicFramePr>
            <a:graphicFrameLocks xmlns:a="http://schemas.openxmlformats.org/drawingml/2006/main"/>
          </p:cNvGraphicFramePr>
          <p:nvPr/>
        </p:nvGraphicFramePr>
        <p:xfrm rot="0">
          <a:off x="7381503" y="2394124"/>
          <a:ext cx="9557492" cy="6464953"/>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97300462"/>
                                        </p:tgtEl>
                                        <p:attrNameLst>
                                          <p:attrName>style.visibility</p:attrName>
                                        </p:attrNameLst>
                                      </p:cBhvr>
                                      <p:to>
                                        <p:strVal val="visible"/>
                                      </p:to>
                                    </p:set>
                                    <p:animEffect transition="in" filter="fade">
                                      <p:cBhvr>
                                        <p:cTn id="7" dur="500"/>
                                        <p:tgtEl>
                                          <p:spTgt spid="797300462"/>
                                        </p:tgtEl>
                                      </p:cBhvr>
                                    </p:animEffect>
                                    <p:anim calcmode="lin" valueType="num">
                                      <p:cBhvr>
                                        <p:cTn id="8" dur="500" fill="hold"/>
                                        <p:tgtEl>
                                          <p:spTgt spid="797300462"/>
                                        </p:tgtEl>
                                        <p:attrNameLst>
                                          <p:attrName>ppt_x</p:attrName>
                                        </p:attrNameLst>
                                      </p:cBhvr>
                                      <p:tavLst>
                                        <p:tav tm="0">
                                          <p:val>
                                            <p:strVal val="#ppt_x"/>
                                          </p:val>
                                        </p:tav>
                                        <p:tav tm="100000">
                                          <p:val>
                                            <p:strVal val="#ppt_x"/>
                                          </p:val>
                                        </p:tav>
                                      </p:tavLst>
                                    </p:anim>
                                    <p:anim calcmode="lin" valueType="num">
                                      <p:cBhvr>
                                        <p:cTn id="9" dur="500" fill="hold"/>
                                        <p:tgtEl>
                                          <p:spTgt spid="7973004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201183"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1419767356" name="TextBox 9"/>
          <p:cNvSpPr txBox="1"/>
          <p:nvPr/>
        </p:nvSpPr>
        <p:spPr bwMode="auto">
          <a:xfrm>
            <a:off x="3505199" y="1257300"/>
            <a:ext cx="8257237" cy="615553"/>
          </a:xfrm>
          <a:prstGeom prst="rect">
            <a:avLst/>
          </a:prstGeom>
        </p:spPr>
        <p:txBody>
          <a:bodyPr wrap="square" lIns="0" tIns="0" rIns="0" bIns="0" rtlCol="0" anchor="t">
            <a:spAutoFit/>
          </a:bodyPr>
          <a:lstStyle/>
          <a:p>
            <a:pPr>
              <a:spcBef>
                <a:spcPts val="0"/>
              </a:spcBef>
              <a:defRPr/>
            </a:pPr>
            <a:r>
              <a:rPr lang="fr-FR" sz="4000" b="1">
                <a:solidFill>
                  <a:srgbClr val="292149"/>
                </a:solidFill>
                <a:latin typeface="+mj-lt"/>
                <a:ea typeface="Touvlo Bold"/>
                <a:cs typeface="Touvlo Bold"/>
              </a:rPr>
              <a:t>Culture &amp; </a:t>
            </a:r>
            <a:r>
              <a:rPr lang="fr-FR" sz="4000" b="1">
                <a:solidFill>
                  <a:srgbClr val="292149"/>
                </a:solidFill>
                <a:latin typeface="+mj-lt"/>
                <a:ea typeface="Touvlo Bold"/>
                <a:cs typeface="Touvlo Bold"/>
              </a:rPr>
              <a:t>Sustainability</a:t>
            </a:r>
            <a:r>
              <a:rPr lang="fr-FR" sz="4000" b="1">
                <a:solidFill>
                  <a:srgbClr val="292149"/>
                </a:solidFill>
                <a:latin typeface="+mj-lt"/>
                <a:ea typeface="Touvlo Bold"/>
                <a:cs typeface="Touvlo Bold"/>
              </a:rPr>
              <a:t> - SDG</a:t>
            </a:r>
            <a:endParaRPr lang="en-US" sz="4000" b="1">
              <a:solidFill>
                <a:srgbClr val="292149"/>
              </a:solidFill>
              <a:latin typeface="+mj-lt"/>
              <a:ea typeface="Touvlo Bold"/>
              <a:cs typeface="Touvlo Bold"/>
            </a:endParaRPr>
          </a:p>
        </p:txBody>
      </p:sp>
      <p:grpSp>
        <p:nvGrpSpPr>
          <p:cNvPr id="1840422459"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40422459"/>
                                        </p:tgtEl>
                                        <p:attrNameLst>
                                          <p:attrName>style.visibility</p:attrName>
                                        </p:attrNameLst>
                                      </p:cBhvr>
                                      <p:to>
                                        <p:strVal val="visible"/>
                                      </p:to>
                                    </p:set>
                                    <p:animEffect transition="in" filter="fade">
                                      <p:cBhvr>
                                        <p:cTn id="7" dur="500"/>
                                        <p:tgtEl>
                                          <p:spTgt spid="1840422459"/>
                                        </p:tgtEl>
                                      </p:cBhvr>
                                    </p:animEffect>
                                    <p:anim calcmode="lin" valueType="num">
                                      <p:cBhvr>
                                        <p:cTn id="8" dur="500" fill="hold"/>
                                        <p:tgtEl>
                                          <p:spTgt spid="1840422459"/>
                                        </p:tgtEl>
                                        <p:attrNameLst>
                                          <p:attrName>ppt_x</p:attrName>
                                        </p:attrNameLst>
                                      </p:cBhvr>
                                      <p:tavLst>
                                        <p:tav tm="0">
                                          <p:val>
                                            <p:strVal val="#ppt_x"/>
                                          </p:val>
                                        </p:tav>
                                        <p:tav tm="100000">
                                          <p:val>
                                            <p:strVal val="#ppt_x"/>
                                          </p:val>
                                        </p:tav>
                                      </p:tavLst>
                                    </p:anim>
                                    <p:anim calcmode="lin" valueType="num">
                                      <p:cBhvr>
                                        <p:cTn id="9" dur="500" fill="hold"/>
                                        <p:tgtEl>
                                          <p:spTgt spid="18404224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189782"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228386350" name="TextBox 9"/>
          <p:cNvSpPr txBox="1"/>
          <p:nvPr/>
        </p:nvSpPr>
        <p:spPr bwMode="auto">
          <a:xfrm>
            <a:off x="3505199" y="1257300"/>
            <a:ext cx="8257237" cy="615553"/>
          </a:xfrm>
          <a:prstGeom prst="rect">
            <a:avLst/>
          </a:prstGeom>
        </p:spPr>
        <p:txBody>
          <a:bodyPr wrap="square" lIns="0" tIns="0" rIns="0" bIns="0" rtlCol="0" anchor="t">
            <a:spAutoFit/>
          </a:bodyPr>
          <a:lstStyle/>
          <a:p>
            <a:pPr>
              <a:spcBef>
                <a:spcPts val="0"/>
              </a:spcBef>
              <a:defRPr/>
            </a:pPr>
            <a:r>
              <a:rPr lang="fr-FR" sz="4000" b="1">
                <a:solidFill>
                  <a:srgbClr val="292149"/>
                </a:solidFill>
                <a:latin typeface="+mj-lt"/>
                <a:ea typeface="Touvlo Bold"/>
                <a:cs typeface="Touvlo Bold"/>
              </a:rPr>
              <a:t>Video</a:t>
            </a:r>
            <a:r>
              <a:rPr lang="fr-FR" sz="4000" b="1">
                <a:solidFill>
                  <a:srgbClr val="292149"/>
                </a:solidFill>
                <a:latin typeface="+mj-lt"/>
                <a:ea typeface="Touvlo Bold"/>
                <a:cs typeface="Touvlo Bold"/>
              </a:rPr>
              <a:t> </a:t>
            </a:r>
            <a:r>
              <a:rPr lang="fr-FR" sz="4000" b="1">
                <a:solidFill>
                  <a:srgbClr val="292149"/>
                </a:solidFill>
                <a:latin typeface="+mj-lt"/>
                <a:ea typeface="Touvlo Bold"/>
                <a:cs typeface="Touvlo Bold"/>
              </a:rPr>
              <a:t>Scenarios - </a:t>
            </a:r>
            <a:r>
              <a:rPr lang="fr-FR" sz="4000" b="1">
                <a:solidFill>
                  <a:srgbClr val="292149"/>
                </a:solidFill>
                <a:latin typeface="+mj-lt"/>
                <a:ea typeface="Touvlo Bold"/>
                <a:cs typeface="Touvlo Bold"/>
              </a:rPr>
              <a:t>Cameroon</a:t>
            </a:r>
            <a:endParaRPr lang="en-US" sz="4000" b="1">
              <a:solidFill>
                <a:srgbClr val="292149"/>
              </a:solidFill>
              <a:latin typeface="+mj-lt"/>
              <a:ea typeface="Touvlo Bold"/>
              <a:cs typeface="Touvlo Bold"/>
            </a:endParaRPr>
          </a:p>
        </p:txBody>
      </p:sp>
      <p:grpSp>
        <p:nvGrpSpPr>
          <p:cNvPr id="1380851081"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80851081"/>
                                        </p:tgtEl>
                                        <p:attrNameLst>
                                          <p:attrName>style.visibility</p:attrName>
                                        </p:attrNameLst>
                                      </p:cBhvr>
                                      <p:to>
                                        <p:strVal val="visible"/>
                                      </p:to>
                                    </p:set>
                                    <p:animEffect transition="in" filter="fade">
                                      <p:cBhvr>
                                        <p:cTn id="7" dur="500"/>
                                        <p:tgtEl>
                                          <p:spTgt spid="1380851081"/>
                                        </p:tgtEl>
                                      </p:cBhvr>
                                    </p:animEffect>
                                    <p:anim calcmode="lin" valueType="num">
                                      <p:cBhvr>
                                        <p:cTn id="8" dur="500" fill="hold"/>
                                        <p:tgtEl>
                                          <p:spTgt spid="1380851081"/>
                                        </p:tgtEl>
                                        <p:attrNameLst>
                                          <p:attrName>ppt_x</p:attrName>
                                        </p:attrNameLst>
                                      </p:cBhvr>
                                      <p:tavLst>
                                        <p:tav tm="0">
                                          <p:val>
                                            <p:strVal val="#ppt_x"/>
                                          </p:val>
                                        </p:tav>
                                        <p:tav tm="100000">
                                          <p:val>
                                            <p:strVal val="#ppt_x"/>
                                          </p:val>
                                        </p:tav>
                                      </p:tavLst>
                                    </p:anim>
                                    <p:anim calcmode="lin" valueType="num">
                                      <p:cBhvr>
                                        <p:cTn id="9" dur="500" fill="hold"/>
                                        <p:tgtEl>
                                          <p:spTgt spid="13808510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1533131" name="TextBox 7"/>
          <p:cNvSpPr txBox="1"/>
          <p:nvPr/>
        </p:nvSpPr>
        <p:spPr bwMode="auto">
          <a:xfrm>
            <a:off x="3505199" y="3695700"/>
            <a:ext cx="7786941" cy="520142"/>
          </a:xfrm>
          <a:prstGeom prst="rect">
            <a:avLst/>
          </a:prstGeom>
        </p:spPr>
        <p:txBody>
          <a:bodyPr lIns="0" tIns="0" rIns="0" bIns="0" rtlCol="0" anchor="t">
            <a:spAutoFit/>
          </a:bodyPr>
          <a:lstStyle/>
          <a:p>
            <a:pPr marL="0" lvl="0" indent="0" algn="l">
              <a:lnSpc>
                <a:spcPts val="3999"/>
              </a:lnSpc>
              <a:spcBef>
                <a:spcPts val="0"/>
              </a:spcBef>
              <a:defRPr/>
            </a:pPr>
            <a:r>
              <a:rPr lang="en-US" sz="4000" u="none" strike="noStrike">
                <a:solidFill>
                  <a:srgbClr val="292149"/>
                </a:solidFill>
                <a:ea typeface="Roca Two Bold"/>
                <a:cs typeface="Roca Two Bold"/>
              </a:rPr>
              <a:t>How</a:t>
            </a:r>
            <a:endParaRPr lang="en-US" sz="4000" u="none" strike="noStrike">
              <a:solidFill>
                <a:srgbClr val="292149"/>
              </a:solidFill>
              <a:ea typeface="Roca Two Bold"/>
              <a:cs typeface="Roca Two Bold"/>
            </a:endParaRPr>
          </a:p>
        </p:txBody>
      </p:sp>
      <p:sp>
        <p:nvSpPr>
          <p:cNvPr id="151020357" name="TextBox 9"/>
          <p:cNvSpPr txBox="1"/>
          <p:nvPr/>
        </p:nvSpPr>
        <p:spPr bwMode="auto">
          <a:xfrm>
            <a:off x="3505199" y="1257300"/>
            <a:ext cx="8257237" cy="615553"/>
          </a:xfrm>
          <a:prstGeom prst="rect">
            <a:avLst/>
          </a:prstGeom>
        </p:spPr>
        <p:txBody>
          <a:bodyPr wrap="square" lIns="0" tIns="0" rIns="0" bIns="0" rtlCol="0" anchor="t">
            <a:spAutoFit/>
          </a:bodyPr>
          <a:lstStyle/>
          <a:p>
            <a:pPr>
              <a:spcBef>
                <a:spcPts val="0"/>
              </a:spcBef>
              <a:defRPr/>
            </a:pPr>
            <a:r>
              <a:rPr lang="fr-FR" sz="4000" b="1">
                <a:solidFill>
                  <a:srgbClr val="292149"/>
                </a:solidFill>
                <a:latin typeface="+mj-lt"/>
                <a:ea typeface="Touvlo Bold"/>
                <a:cs typeface="Touvlo Bold"/>
              </a:rPr>
              <a:t>Video</a:t>
            </a:r>
            <a:r>
              <a:rPr lang="fr-FR" sz="4000" b="1">
                <a:solidFill>
                  <a:srgbClr val="292149"/>
                </a:solidFill>
                <a:latin typeface="+mj-lt"/>
                <a:ea typeface="Touvlo Bold"/>
                <a:cs typeface="Touvlo Bold"/>
              </a:rPr>
              <a:t> </a:t>
            </a:r>
            <a:r>
              <a:rPr lang="fr-FR" sz="4000" b="1">
                <a:solidFill>
                  <a:srgbClr val="292149"/>
                </a:solidFill>
                <a:latin typeface="+mj-lt"/>
                <a:ea typeface="Touvlo Bold"/>
                <a:cs typeface="Touvlo Bold"/>
              </a:rPr>
              <a:t>Scenarios – Sri Lanka</a:t>
            </a:r>
            <a:endParaRPr lang="en-US" sz="4000" b="1">
              <a:solidFill>
                <a:srgbClr val="292149"/>
              </a:solidFill>
              <a:latin typeface="+mj-lt"/>
              <a:ea typeface="Touvlo Bold"/>
              <a:cs typeface="Touvlo Bold"/>
            </a:endParaRPr>
          </a:p>
        </p:txBody>
      </p:sp>
      <p:grpSp>
        <p:nvGrpSpPr>
          <p:cNvPr id="722088791" name="Group 2"/>
          <p:cNvGrpSpPr/>
          <p:nvPr/>
        </p:nvGrpSpPr>
        <p:grpSpPr bwMode="auto">
          <a:xfrm>
            <a:off x="381000" y="342900"/>
            <a:ext cx="1066800" cy="614072"/>
            <a:chOff x="0" y="0"/>
            <a:chExt cx="4816593" cy="595820"/>
          </a:xfrm>
          <a:solidFill>
            <a:schemeClr val="accent6">
              <a:lumMod val="40000"/>
              <a:lumOff val="60000"/>
            </a:schemeClr>
          </a:solidFill>
        </p:grpSpPr>
        <p:sp>
          <p:nvSpPr>
            <p:cNvPr id="10" name="Freeform 3"/>
            <p:cNvSpPr/>
            <p:nvPr/>
          </p:nvSpPr>
          <p:spPr bwMode="auto">
            <a:xfrm>
              <a:off x="0" y="0"/>
              <a:ext cx="4816592" cy="595820"/>
            </a:xfrm>
            <a:prstGeom prst="roundRect">
              <a:avLst>
                <a:gd name="adj" fmla="val 16667"/>
              </a:avLst>
            </a:prstGeom>
            <a:noFill/>
          </p:spPr>
        </p:sp>
        <p:sp>
          <p:nvSpPr>
            <p:cNvPr id="11" name="TextBox 4">
              <a:hlinkClick r:id="rId3"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22088791"/>
                                        </p:tgtEl>
                                        <p:attrNameLst>
                                          <p:attrName>style.visibility</p:attrName>
                                        </p:attrNameLst>
                                      </p:cBhvr>
                                      <p:to>
                                        <p:strVal val="visible"/>
                                      </p:to>
                                    </p:set>
                                    <p:animEffect transition="in" filter="fade">
                                      <p:cBhvr>
                                        <p:cTn id="7" dur="500"/>
                                        <p:tgtEl>
                                          <p:spTgt spid="722088791"/>
                                        </p:tgtEl>
                                      </p:cBhvr>
                                    </p:animEffect>
                                    <p:anim calcmode="lin" valueType="num">
                                      <p:cBhvr>
                                        <p:cTn id="8" dur="500" fill="hold"/>
                                        <p:tgtEl>
                                          <p:spTgt spid="722088791"/>
                                        </p:tgtEl>
                                        <p:attrNameLst>
                                          <p:attrName>ppt_x</p:attrName>
                                        </p:attrNameLst>
                                      </p:cBhvr>
                                      <p:tavLst>
                                        <p:tav tm="0">
                                          <p:val>
                                            <p:strVal val="#ppt_x"/>
                                          </p:val>
                                        </p:tav>
                                        <p:tav tm="100000">
                                          <p:val>
                                            <p:strVal val="#ppt_x"/>
                                          </p:val>
                                        </p:tav>
                                      </p:tavLst>
                                    </p:anim>
                                    <p:anim calcmode="lin" valueType="num">
                                      <p:cBhvr>
                                        <p:cTn id="9" dur="500" fill="hold"/>
                                        <p:tgtEl>
                                          <p:spTgt spid="7220887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DF8F5"/>
        </a:solidFill>
      </p:bgPr>
    </p:bg>
    <p:spTree>
      <p:nvGrpSpPr>
        <p:cNvPr id="1" name=""/>
        <p:cNvGrpSpPr/>
        <p:nvPr/>
      </p:nvGrpSpPr>
      <p:grpSpPr bwMode="auto">
        <a:xfrm>
          <a:off x="0" y="0"/>
          <a:ext cx="0" cy="0"/>
          <a:chOff x="0" y="0"/>
          <a:chExt cx="0" cy="0"/>
        </a:xfrm>
      </p:grpSpPr>
      <p:sp>
        <p:nvSpPr>
          <p:cNvPr id="1513178035" name="TextBox 3"/>
          <p:cNvSpPr txBox="1"/>
          <p:nvPr/>
        </p:nvSpPr>
        <p:spPr bwMode="auto">
          <a:xfrm>
            <a:off x="1028700" y="866775"/>
            <a:ext cx="8115300" cy="848360"/>
          </a:xfrm>
          <a:prstGeom prst="rect">
            <a:avLst/>
          </a:prstGeom>
        </p:spPr>
        <p:txBody>
          <a:bodyPr lIns="0" tIns="0" rIns="0" bIns="0" rtlCol="0" anchor="t">
            <a:spAutoFit/>
          </a:bodyPr>
          <a:lstStyle/>
          <a:p>
            <a:pPr marL="0" lvl="0" indent="0" algn="l">
              <a:lnSpc>
                <a:spcPts val="6399"/>
              </a:lnSpc>
              <a:spcBef>
                <a:spcPts val="0"/>
              </a:spcBef>
              <a:defRPr/>
            </a:pPr>
            <a:r>
              <a:rPr lang="en-US" sz="6400" u="none" strike="noStrike" spc="-383">
                <a:solidFill>
                  <a:srgbClr val="FDF8F5"/>
                </a:solidFill>
                <a:latin typeface="Philosopher"/>
                <a:ea typeface="Philosopher"/>
                <a:cs typeface="Philosopher"/>
              </a:rPr>
              <a:t>Schedule Table</a:t>
            </a:r>
            <a:endParaRPr/>
          </a:p>
        </p:txBody>
      </p:sp>
      <p:sp>
        <p:nvSpPr>
          <p:cNvPr id="1596567571" name="TextBox 5"/>
          <p:cNvSpPr txBox="1"/>
          <p:nvPr/>
        </p:nvSpPr>
        <p:spPr bwMode="auto">
          <a:xfrm>
            <a:off x="1028700" y="1890031"/>
            <a:ext cx="5264197" cy="500380"/>
          </a:xfrm>
          <a:prstGeom prst="rect">
            <a:avLst/>
          </a:prstGeom>
        </p:spPr>
        <p:txBody>
          <a:bodyPr lIns="0" tIns="0" rIns="0" bIns="0" rtlCol="0" anchor="t">
            <a:spAutoFit/>
          </a:bodyPr>
          <a:lstStyle/>
          <a:p>
            <a:pPr algn="l">
              <a:lnSpc>
                <a:spcPts val="3919"/>
              </a:lnSpc>
              <a:spcBef>
                <a:spcPts val="0"/>
              </a:spcBef>
              <a:defRPr/>
            </a:pPr>
            <a:r>
              <a:rPr lang="en-US" sz="2800" b="1" spc="279">
                <a:solidFill>
                  <a:srgbClr val="FDF8F5"/>
                </a:solidFill>
                <a:latin typeface="Roboto Bold"/>
                <a:ea typeface="Roboto Bold"/>
                <a:cs typeface="Roboto Bold"/>
              </a:rPr>
              <a:t>DAY 3</a:t>
            </a:r>
            <a:endParaRPr/>
          </a:p>
        </p:txBody>
      </p:sp>
      <p:grpSp>
        <p:nvGrpSpPr>
          <p:cNvPr id="759466692" name="Group 13"/>
          <p:cNvGrpSpPr/>
          <p:nvPr/>
        </p:nvGrpSpPr>
        <p:grpSpPr bwMode="auto">
          <a:xfrm>
            <a:off x="8534400" y="4071583"/>
            <a:ext cx="8648700" cy="2113354"/>
            <a:chOff x="8564656" y="6678757"/>
            <a:chExt cx="8648700" cy="2113354"/>
          </a:xfrm>
        </p:grpSpPr>
        <p:sp>
          <p:nvSpPr>
            <p:cNvPr id="6" name="TextBox 6"/>
            <p:cNvSpPr txBox="1"/>
            <p:nvPr/>
          </p:nvSpPr>
          <p:spPr bwMode="auto">
            <a:xfrm>
              <a:off x="8591550" y="6678757"/>
              <a:ext cx="8621806" cy="923330"/>
            </a:xfrm>
            <a:prstGeom prst="rect">
              <a:avLst/>
            </a:prstGeom>
            <a:grpFill/>
          </p:spPr>
          <p:txBody>
            <a:bodyPr wrap="square" lIns="0" tIns="0" rIns="0" bIns="0" rtlCol="0" anchor="ctr">
              <a:spAutoFit/>
            </a:bodyPr>
            <a:lstStyle/>
            <a:p>
              <a:pPr>
                <a:defRPr/>
              </a:pPr>
              <a:r>
                <a:rPr lang="en-US" sz="6000" b="1" spc="-251">
                  <a:latin typeface="+mj-lt"/>
                  <a:ea typeface="Philosopher"/>
                  <a:cs typeface="Philosopher"/>
                </a:rPr>
                <a:t>Conclusion</a:t>
              </a:r>
              <a:endParaRPr lang="en-US" sz="6000" b="1" spc="-251">
                <a:latin typeface="+mj-lt"/>
                <a:ea typeface="Philosopher"/>
                <a:cs typeface="Philosopher"/>
              </a:endParaRPr>
            </a:p>
          </p:txBody>
        </p:sp>
        <p:sp>
          <p:nvSpPr>
            <p:cNvPr id="7" name="TextBox 7"/>
            <p:cNvSpPr txBox="1"/>
            <p:nvPr/>
          </p:nvSpPr>
          <p:spPr bwMode="auto">
            <a:xfrm>
              <a:off x="8564656" y="7684115"/>
              <a:ext cx="8648700" cy="1107996"/>
            </a:xfrm>
            <a:prstGeom prst="rect">
              <a:avLst/>
            </a:prstGeom>
            <a:grpFill/>
          </p:spPr>
          <p:txBody>
            <a:bodyPr wrap="square" lIns="0" tIns="0" rIns="0" bIns="0" rtlCol="0" anchor="t">
              <a:spAutoFit/>
            </a:bodyPr>
            <a:lstStyle/>
            <a:p>
              <a:pPr>
                <a:defRPr/>
              </a:pPr>
              <a:r>
                <a:rPr lang="en-US" sz="3600">
                  <a:ea typeface="Roboto"/>
                  <a:cs typeface="Roboto"/>
                </a:rPr>
                <a:t>Intercultural understanding is essential for sustainable global cooperation.</a:t>
              </a:r>
              <a:endParaRPr lang="en-US" sz="3600">
                <a:ea typeface="Roboto"/>
                <a:cs typeface="Roboto"/>
              </a:endParaRPr>
            </a:p>
          </p:txBody>
        </p:sp>
      </p:grpSp>
      <p:pic>
        <p:nvPicPr>
          <p:cNvPr id="923175686" name="Picture 9" descr="Kamerunberg – Wikipedia"/>
          <p:cNvPicPr/>
          <p:nvPr/>
        </p:nvPicPr>
        <p:blipFill rotWithShape="1">
          <a:blip r:embed="rId3"/>
          <a:srcRect l="25463" t="-69" r="28241" b="69"/>
          <a:stretch/>
        </p:blipFill>
        <p:spPr bwMode="auto">
          <a:xfrm>
            <a:off x="0" y="-38100"/>
            <a:ext cx="7315200" cy="10332720"/>
          </a:xfrm>
          <a:prstGeom prst="rect">
            <a:avLst/>
          </a:prstGeom>
          <a:noFill/>
          <a:ln>
            <a:noFill/>
          </a:ln>
        </p:spPr>
      </p:pic>
      <p:sp>
        <p:nvSpPr>
          <p:cNvPr id="1880794476" name="Rectangle 11"/>
          <p:cNvSpPr/>
          <p:nvPr/>
        </p:nvSpPr>
        <p:spPr bwMode="auto">
          <a:xfrm>
            <a:off x="381000" y="322547"/>
            <a:ext cx="2980560" cy="369332"/>
          </a:xfrm>
          <a:prstGeom prst="rect">
            <a:avLst/>
          </a:prstGeom>
        </p:spPr>
        <p:txBody>
          <a:bodyPr wrap="none">
            <a:spAutoFit/>
          </a:bodyPr>
          <a:lstStyle/>
          <a:p>
            <a:pPr>
              <a:defRPr/>
            </a:pPr>
            <a:r>
              <a:rPr lang="en-US" b="1"/>
              <a:t>Cameroon: Mount </a:t>
            </a:r>
            <a:r>
              <a:rPr lang="en-US" b="1"/>
              <a:t>Cameroon</a:t>
            </a:r>
            <a:endParaRPr/>
          </a:p>
        </p:txBody>
      </p:sp>
      <p:pic>
        <p:nvPicPr>
          <p:cNvPr id="920666043" name="Picture 4" descr="World Day for Cultural Diversity for Dialogue and Development"/>
          <p:cNvPicPr>
            <a:picLocks noChangeAspect="1" noChangeArrowheads="1"/>
          </p:cNvPicPr>
          <p:nvPr/>
        </p:nvPicPr>
        <p:blipFill rotWithShape="1">
          <a:blip r:embed="rId4"/>
          <a:stretch/>
        </p:blipFill>
        <p:spPr bwMode="auto">
          <a:xfrm>
            <a:off x="11811000" y="3238500"/>
            <a:ext cx="2036255" cy="1541605"/>
          </a:xfrm>
          <a:prstGeom prst="rect">
            <a:avLst/>
          </a:prstGeom>
          <a:noFill/>
        </p:spPr>
      </p:pic>
      <p:sp>
        <p:nvSpPr>
          <p:cNvPr id="1195682797" name="Rectangle 28"/>
          <p:cNvSpPr/>
          <p:nvPr/>
        </p:nvSpPr>
        <p:spPr bwMode="auto">
          <a:xfrm>
            <a:off x="0" y="9779974"/>
            <a:ext cx="7174336" cy="388696"/>
          </a:xfrm>
          <a:prstGeom prst="rect">
            <a:avLst/>
          </a:prstGeom>
        </p:spPr>
        <p:txBody>
          <a:bodyPr wrap="none">
            <a:spAutoFit/>
          </a:bodyPr>
          <a:lstStyle/>
          <a:p>
            <a:pPr>
              <a:lnSpc>
                <a:spcPct val="107000"/>
              </a:lnSpc>
              <a:spcAft>
                <a:spcPts val="800"/>
              </a:spcAft>
              <a:defRPr/>
            </a:pPr>
            <a:r>
              <a:rPr lang="en-US">
                <a:solidFill>
                  <a:schemeClr val="bg1"/>
                </a:solidFill>
                <a:latin typeface="Calibri"/>
                <a:ea typeface="Calibri"/>
                <a:cs typeface="Times New Roman"/>
              </a:rPr>
              <a:t>@https://www.britannica.com/place/Cameroon#/media/1/90925/120740</a:t>
            </a:r>
            <a:endParaRPr/>
          </a:p>
        </p:txBody>
      </p:sp>
      <p:grpSp>
        <p:nvGrpSpPr>
          <p:cNvPr id="1755778734" name="Group 2"/>
          <p:cNvGrpSpPr/>
          <p:nvPr/>
        </p:nvGrpSpPr>
        <p:grpSpPr bwMode="auto">
          <a:xfrm>
            <a:off x="152400" y="165255"/>
            <a:ext cx="1066800" cy="614072"/>
            <a:chOff x="0" y="0"/>
            <a:chExt cx="4816593" cy="595820"/>
          </a:xfrm>
          <a:solidFill>
            <a:schemeClr val="accent6">
              <a:lumMod val="40000"/>
              <a:lumOff val="60000"/>
            </a:schemeClr>
          </a:solidFill>
        </p:grpSpPr>
        <p:sp>
          <p:nvSpPr>
            <p:cNvPr id="34" name="Freeform 3"/>
            <p:cNvSpPr/>
            <p:nvPr/>
          </p:nvSpPr>
          <p:spPr bwMode="auto">
            <a:xfrm>
              <a:off x="0" y="0"/>
              <a:ext cx="4816592" cy="595820"/>
            </a:xfrm>
            <a:prstGeom prst="roundRect">
              <a:avLst>
                <a:gd name="adj" fmla="val 16667"/>
              </a:avLst>
            </a:prstGeom>
            <a:noFill/>
          </p:spPr>
        </p:sp>
        <p:sp>
          <p:nvSpPr>
            <p:cNvPr id="35" name="TextBox 4">
              <a:hlinkClick r:id="rId5"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755778734"/>
                                        </p:tgtEl>
                                        <p:attrNameLst>
                                          <p:attrName>style.visibility</p:attrName>
                                        </p:attrNameLst>
                                      </p:cBhvr>
                                      <p:to>
                                        <p:strVal val="visible"/>
                                      </p:to>
                                    </p:set>
                                    <p:animEffect transition="in" filter="fade">
                                      <p:cBhvr>
                                        <p:cTn id="7" dur="500"/>
                                        <p:tgtEl>
                                          <p:spTgt spid="1755778734"/>
                                        </p:tgtEl>
                                      </p:cBhvr>
                                    </p:animEffect>
                                    <p:anim calcmode="lin" valueType="num">
                                      <p:cBhvr>
                                        <p:cTn id="8" dur="500" fill="hold"/>
                                        <p:tgtEl>
                                          <p:spTgt spid="1755778734"/>
                                        </p:tgtEl>
                                        <p:attrNameLst>
                                          <p:attrName>ppt_x</p:attrName>
                                        </p:attrNameLst>
                                      </p:cBhvr>
                                      <p:tavLst>
                                        <p:tav tm="0">
                                          <p:val>
                                            <p:strVal val="#ppt_x"/>
                                          </p:val>
                                        </p:tav>
                                        <p:tav tm="100000">
                                          <p:val>
                                            <p:strVal val="#ppt_x"/>
                                          </p:val>
                                        </p:tav>
                                      </p:tavLst>
                                    </p:anim>
                                    <p:anim calcmode="lin" valueType="num">
                                      <p:cBhvr>
                                        <p:cTn id="9" dur="500" fill="hold"/>
                                        <p:tgtEl>
                                          <p:spTgt spid="17557787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3803820" name="Picture 5" descr="Rhumsiki Rock, Cameroon – AFRICA, THE PLACE TO BE!!"/>
          <p:cNvPicPr/>
          <p:nvPr/>
        </p:nvPicPr>
        <p:blipFill rotWithShape="1">
          <a:blip r:embed="rId3"/>
          <a:stretch/>
        </p:blipFill>
        <p:spPr bwMode="auto">
          <a:xfrm>
            <a:off x="0" y="0"/>
            <a:ext cx="18288000" cy="10287000"/>
          </a:xfrm>
          <a:prstGeom prst="rect">
            <a:avLst/>
          </a:prstGeom>
          <a:noFill/>
          <a:ln>
            <a:noFill/>
          </a:ln>
        </p:spPr>
      </p:pic>
      <p:sp>
        <p:nvSpPr>
          <p:cNvPr id="638408997" name="TextBox 3"/>
          <p:cNvSpPr txBox="1"/>
          <p:nvPr/>
        </p:nvSpPr>
        <p:spPr bwMode="auto">
          <a:xfrm>
            <a:off x="609600" y="3238500"/>
            <a:ext cx="11487827" cy="3295774"/>
          </a:xfrm>
          <a:prstGeom prst="rect">
            <a:avLst/>
          </a:prstGeom>
        </p:spPr>
        <p:txBody>
          <a:bodyPr lIns="0" tIns="0" rIns="0" bIns="0" rtlCol="0" anchor="ctr">
            <a:spAutoFit/>
          </a:bodyPr>
          <a:lstStyle/>
          <a:p>
            <a:pPr algn="ctr">
              <a:lnSpc>
                <a:spcPts val="25699"/>
              </a:lnSpc>
              <a:spcBef>
                <a:spcPts val="0"/>
              </a:spcBef>
              <a:defRPr/>
            </a:pPr>
            <a:r>
              <a:rPr lang="en-US" sz="18350" spc="-1101">
                <a:solidFill>
                  <a:srgbClr val="FFFFFF"/>
                </a:solidFill>
                <a:latin typeface="+mj-lt"/>
                <a:ea typeface="Philosopher"/>
                <a:cs typeface="Philosopher"/>
              </a:rPr>
              <a:t>Thank You</a:t>
            </a:r>
            <a:endParaRPr lang="en-US" sz="18350" spc="-1101">
              <a:solidFill>
                <a:srgbClr val="FFFFFF"/>
              </a:solidFill>
              <a:latin typeface="+mj-lt"/>
              <a:ea typeface="Philosopher"/>
              <a:cs typeface="Philosopher"/>
            </a:endParaRPr>
          </a:p>
        </p:txBody>
      </p:sp>
      <p:sp>
        <p:nvSpPr>
          <p:cNvPr id="1105659808" name="Rectangle 6"/>
          <p:cNvSpPr/>
          <p:nvPr/>
        </p:nvSpPr>
        <p:spPr bwMode="auto">
          <a:xfrm>
            <a:off x="10820400" y="9539155"/>
            <a:ext cx="7174336" cy="388696"/>
          </a:xfrm>
          <a:prstGeom prst="rect">
            <a:avLst/>
          </a:prstGeom>
        </p:spPr>
        <p:txBody>
          <a:bodyPr wrap="none">
            <a:spAutoFit/>
          </a:bodyPr>
          <a:lstStyle/>
          <a:p>
            <a:pPr>
              <a:lnSpc>
                <a:spcPct val="107000"/>
              </a:lnSpc>
              <a:spcAft>
                <a:spcPts val="800"/>
              </a:spcAft>
              <a:defRPr/>
            </a:pPr>
            <a:r>
              <a:rPr lang="en-US">
                <a:solidFill>
                  <a:schemeClr val="bg1"/>
                </a:solidFill>
                <a:latin typeface="Calibri"/>
                <a:ea typeface="Calibri"/>
                <a:cs typeface="Times New Roman"/>
              </a:rPr>
              <a:t>@https://www.britannica.com/place/Cameroon#/media/1/90925/120740</a:t>
            </a:r>
            <a:endParaRPr/>
          </a:p>
        </p:txBody>
      </p:sp>
      <p:sp>
        <p:nvSpPr>
          <p:cNvPr id="1501381377" name="Rectangle 9"/>
          <p:cNvSpPr/>
          <p:nvPr/>
        </p:nvSpPr>
        <p:spPr bwMode="auto">
          <a:xfrm>
            <a:off x="762000" y="800100"/>
            <a:ext cx="3242170" cy="369332"/>
          </a:xfrm>
          <a:prstGeom prst="rect">
            <a:avLst/>
          </a:prstGeom>
        </p:spPr>
        <p:txBody>
          <a:bodyPr wrap="none">
            <a:spAutoFit/>
          </a:bodyPr>
          <a:lstStyle/>
          <a:p>
            <a:pPr>
              <a:defRPr/>
            </a:pPr>
            <a:r>
              <a:rPr lang="en-US" b="1">
                <a:solidFill>
                  <a:schemeClr val="tx2"/>
                </a:solidFill>
              </a:rPr>
              <a:t>Cameroon: </a:t>
            </a:r>
            <a:r>
              <a:rPr lang="en-US" b="1">
                <a:solidFill>
                  <a:schemeClr val="tx2"/>
                </a:solidFill>
              </a:rPr>
              <a:t>Mandara</a:t>
            </a:r>
            <a:r>
              <a:rPr lang="en-US" b="1">
                <a:solidFill>
                  <a:schemeClr val="tx2"/>
                </a:solidFill>
              </a:rPr>
              <a:t> </a:t>
            </a:r>
            <a:r>
              <a:rPr lang="en-US" b="1">
                <a:solidFill>
                  <a:schemeClr val="tx2"/>
                </a:solidFill>
              </a:rPr>
              <a:t>Mountains</a:t>
            </a:r>
            <a:endParaRPr/>
          </a:p>
        </p:txBody>
      </p:sp>
      <p:grpSp>
        <p:nvGrpSpPr>
          <p:cNvPr id="1872164753" name="Group 2"/>
          <p:cNvGrpSpPr/>
          <p:nvPr/>
        </p:nvGrpSpPr>
        <p:grpSpPr bwMode="auto">
          <a:xfrm>
            <a:off x="381000" y="342900"/>
            <a:ext cx="1066800" cy="614072"/>
            <a:chOff x="0" y="0"/>
            <a:chExt cx="4816593" cy="595820"/>
          </a:xfrm>
          <a:solidFill>
            <a:schemeClr val="accent6">
              <a:lumMod val="40000"/>
              <a:lumOff val="60000"/>
            </a:schemeClr>
          </a:solidFill>
        </p:grpSpPr>
        <p:sp>
          <p:nvSpPr>
            <p:cNvPr id="15" name="Freeform 3"/>
            <p:cNvSpPr/>
            <p:nvPr/>
          </p:nvSpPr>
          <p:spPr bwMode="auto">
            <a:xfrm>
              <a:off x="0" y="0"/>
              <a:ext cx="4816592" cy="595820"/>
            </a:xfrm>
            <a:prstGeom prst="roundRect">
              <a:avLst>
                <a:gd name="adj" fmla="val 16667"/>
              </a:avLst>
            </a:prstGeom>
            <a:noFill/>
          </p:spPr>
        </p:sp>
        <p:sp>
          <p:nvSpPr>
            <p:cNvPr id="16" name="TextBox 4">
              <a:hlinkClick r:id="rId4"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72164753"/>
                                        </p:tgtEl>
                                        <p:attrNameLst>
                                          <p:attrName>style.visibility</p:attrName>
                                        </p:attrNameLst>
                                      </p:cBhvr>
                                      <p:to>
                                        <p:strVal val="visible"/>
                                      </p:to>
                                    </p:set>
                                    <p:animEffect transition="in" filter="fade">
                                      <p:cBhvr>
                                        <p:cTn id="7" dur="500"/>
                                        <p:tgtEl>
                                          <p:spTgt spid="1872164753"/>
                                        </p:tgtEl>
                                      </p:cBhvr>
                                    </p:animEffect>
                                    <p:anim calcmode="lin" valueType="num">
                                      <p:cBhvr>
                                        <p:cTn id="8" dur="500" fill="hold"/>
                                        <p:tgtEl>
                                          <p:spTgt spid="1872164753"/>
                                        </p:tgtEl>
                                        <p:attrNameLst>
                                          <p:attrName>ppt_x</p:attrName>
                                        </p:attrNameLst>
                                      </p:cBhvr>
                                      <p:tavLst>
                                        <p:tav tm="0">
                                          <p:val>
                                            <p:strVal val="#ppt_x"/>
                                          </p:val>
                                        </p:tav>
                                        <p:tav tm="100000">
                                          <p:val>
                                            <p:strVal val="#ppt_x"/>
                                          </p:val>
                                        </p:tav>
                                      </p:tavLst>
                                    </p:anim>
                                    <p:anim calcmode="lin" valueType="num">
                                      <p:cBhvr>
                                        <p:cTn id="9" dur="500" fill="hold"/>
                                        <p:tgtEl>
                                          <p:spTgt spid="18721647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42047833" name="Picture 43"/>
          <p:cNvPicPr>
            <a:picLocks noChangeAspect="1"/>
          </p:cNvPicPr>
          <p:nvPr/>
        </p:nvPicPr>
        <p:blipFill rotWithShape="1">
          <a:blip r:embed="rId3"/>
          <a:stretch/>
        </p:blipFill>
        <p:spPr bwMode="auto">
          <a:xfrm>
            <a:off x="0" y="0"/>
            <a:ext cx="18288000" cy="10287000"/>
          </a:xfrm>
          <a:prstGeom prst="rect">
            <a:avLst/>
          </a:prstGeom>
        </p:spPr>
      </p:pic>
      <p:sp>
        <p:nvSpPr>
          <p:cNvPr id="1519836742" name="TextBox 27"/>
          <p:cNvSpPr txBox="1"/>
          <p:nvPr/>
        </p:nvSpPr>
        <p:spPr bwMode="auto">
          <a:xfrm>
            <a:off x="1333500" y="2019300"/>
            <a:ext cx="15621000" cy="1064394"/>
          </a:xfrm>
          <a:prstGeom prst="rect">
            <a:avLst/>
          </a:prstGeom>
        </p:spPr>
        <p:txBody>
          <a:bodyPr wrap="square" lIns="0" tIns="0" rIns="0" bIns="0" rtlCol="0" anchor="ctr">
            <a:spAutoFit/>
          </a:bodyPr>
          <a:lstStyle/>
          <a:p>
            <a:pPr algn="ctr">
              <a:lnSpc>
                <a:spcPts val="8280"/>
              </a:lnSpc>
              <a:defRPr/>
            </a:pPr>
            <a:r>
              <a:rPr lang="en-US" sz="9000">
                <a:solidFill>
                  <a:schemeClr val="bg1"/>
                </a:solidFill>
                <a:latin typeface="+mj-lt"/>
                <a:ea typeface="Roca Two"/>
                <a:cs typeface="Roca Two"/>
              </a:rPr>
              <a:t>Questions &amp; Discussion</a:t>
            </a:r>
            <a:endParaRPr lang="en-US" sz="9000">
              <a:solidFill>
                <a:schemeClr val="bg1"/>
              </a:solidFill>
              <a:latin typeface="+mj-lt"/>
              <a:ea typeface="Roca Two"/>
              <a:cs typeface="Roca Two"/>
            </a:endParaRPr>
          </a:p>
        </p:txBody>
      </p:sp>
      <p:sp>
        <p:nvSpPr>
          <p:cNvPr id="235450699" name="Rectangle 49"/>
          <p:cNvSpPr/>
          <p:nvPr/>
        </p:nvSpPr>
        <p:spPr bwMode="auto">
          <a:xfrm>
            <a:off x="609600" y="9486900"/>
            <a:ext cx="5612306" cy="369332"/>
          </a:xfrm>
          <a:prstGeom prst="rect">
            <a:avLst/>
          </a:prstGeom>
        </p:spPr>
        <p:txBody>
          <a:bodyPr wrap="none">
            <a:spAutoFit/>
          </a:bodyPr>
          <a:lstStyle/>
          <a:p>
            <a:pPr>
              <a:defRPr/>
            </a:pPr>
            <a:r>
              <a:rPr lang="en-US" b="1">
                <a:solidFill>
                  <a:schemeClr val="bg1"/>
                </a:solidFill>
              </a:rPr>
              <a:t>Sri Lanka: </a:t>
            </a:r>
            <a:r>
              <a:rPr lang="en-US" b="1">
                <a:solidFill>
                  <a:schemeClr val="bg1"/>
                </a:solidFill>
              </a:rPr>
              <a:t>Sigiriya</a:t>
            </a:r>
            <a:r>
              <a:rPr lang="en-US" b="1">
                <a:solidFill>
                  <a:schemeClr val="bg1"/>
                </a:solidFill>
              </a:rPr>
              <a:t> – An UNESCO </a:t>
            </a:r>
            <a:r>
              <a:rPr lang="en-US" b="1">
                <a:solidFill>
                  <a:schemeClr val="bg1"/>
                </a:solidFill>
              </a:rPr>
              <a:t>listed World Heritage Site</a:t>
            </a:r>
            <a:endParaRPr/>
          </a:p>
        </p:txBody>
      </p:sp>
      <p:sp>
        <p:nvSpPr>
          <p:cNvPr id="215203397" name="Rectangle 55"/>
          <p:cNvSpPr/>
          <p:nvPr/>
        </p:nvSpPr>
        <p:spPr bwMode="auto">
          <a:xfrm>
            <a:off x="16278289" y="9486900"/>
            <a:ext cx="1352422" cy="369332"/>
          </a:xfrm>
          <a:prstGeom prst="rect">
            <a:avLst/>
          </a:prstGeom>
        </p:spPr>
        <p:txBody>
          <a:bodyPr wrap="none">
            <a:spAutoFit/>
          </a:bodyPr>
          <a:lstStyle/>
          <a:p>
            <a:pPr>
              <a:defRPr/>
            </a:pPr>
            <a:r>
              <a:rPr lang="en-US">
                <a:solidFill>
                  <a:schemeClr val="bg1"/>
                </a:solidFill>
              </a:rPr>
              <a:t>@Dani </a:t>
            </a:r>
            <a:r>
              <a:rPr lang="en-US">
                <a:solidFill>
                  <a:schemeClr val="bg1"/>
                </a:solidFill>
              </a:rPr>
              <a:t>Redd</a:t>
            </a:r>
            <a:endParaRPr/>
          </a:p>
        </p:txBody>
      </p:sp>
      <p:grpSp>
        <p:nvGrpSpPr>
          <p:cNvPr id="1251153686" name="Group 2"/>
          <p:cNvGrpSpPr/>
          <p:nvPr/>
        </p:nvGrpSpPr>
        <p:grpSpPr bwMode="auto">
          <a:xfrm>
            <a:off x="381000" y="342900"/>
            <a:ext cx="1066800" cy="614072"/>
            <a:chOff x="0" y="0"/>
            <a:chExt cx="4816593" cy="595820"/>
          </a:xfrm>
          <a:solidFill>
            <a:schemeClr val="accent6">
              <a:lumMod val="40000"/>
              <a:lumOff val="60000"/>
            </a:schemeClr>
          </a:solidFill>
        </p:grpSpPr>
        <p:sp>
          <p:nvSpPr>
            <p:cNvPr id="64" name="Freeform 3"/>
            <p:cNvSpPr/>
            <p:nvPr/>
          </p:nvSpPr>
          <p:spPr bwMode="auto">
            <a:xfrm>
              <a:off x="0" y="0"/>
              <a:ext cx="4816592" cy="595820"/>
            </a:xfrm>
            <a:prstGeom prst="roundRect">
              <a:avLst>
                <a:gd name="adj" fmla="val 16667"/>
              </a:avLst>
            </a:prstGeom>
            <a:noFill/>
          </p:spPr>
        </p:sp>
        <p:sp>
          <p:nvSpPr>
            <p:cNvPr id="65" name="TextBox 4">
              <a:hlinkClick r:id="rId4" action="ppaction://hlinksldjump"/>
            </p:cNvPr>
            <p:cNvSpPr txBox="1"/>
            <p:nvPr/>
          </p:nvSpPr>
          <p:spPr bwMode="auto">
            <a:xfrm>
              <a:off x="0" y="-47625"/>
              <a:ext cx="4816593" cy="643445"/>
            </a:xfrm>
            <a:prstGeom prst="halfFrame">
              <a:avLst>
                <a:gd name="adj1" fmla="val 33333"/>
                <a:gd name="adj2" fmla="val 33333"/>
              </a:avLst>
            </a:prstGeom>
            <a:solidFill>
              <a:srgbClr val="A85008"/>
            </a:solidFill>
          </p:spPr>
          <p:txBody>
            <a:bodyPr lIns="50800" tIns="50800" rIns="50800" bIns="50800" rtlCol="0" anchor="ctr"/>
            <a:lstStyle/>
            <a:p>
              <a:pPr algn="ctr">
                <a:lnSpc>
                  <a:spcPts val="2800"/>
                </a:lnSpc>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51153686"/>
                                        </p:tgtEl>
                                        <p:attrNameLst>
                                          <p:attrName>style.visibility</p:attrName>
                                        </p:attrNameLst>
                                      </p:cBhvr>
                                      <p:to>
                                        <p:strVal val="visible"/>
                                      </p:to>
                                    </p:set>
                                    <p:animEffect transition="in" filter="fade">
                                      <p:cBhvr>
                                        <p:cTn id="7" dur="500"/>
                                        <p:tgtEl>
                                          <p:spTgt spid="1251153686"/>
                                        </p:tgtEl>
                                      </p:cBhvr>
                                    </p:animEffect>
                                    <p:anim calcmode="lin" valueType="num">
                                      <p:cBhvr>
                                        <p:cTn id="8" dur="500" fill="hold"/>
                                        <p:tgtEl>
                                          <p:spTgt spid="1251153686"/>
                                        </p:tgtEl>
                                        <p:attrNameLst>
                                          <p:attrName>ppt_x</p:attrName>
                                        </p:attrNameLst>
                                      </p:cBhvr>
                                      <p:tavLst>
                                        <p:tav tm="0">
                                          <p:val>
                                            <p:strVal val="#ppt_x"/>
                                          </p:val>
                                        </p:tav>
                                        <p:tav tm="100000">
                                          <p:val>
                                            <p:strVal val="#ppt_x"/>
                                          </p:val>
                                        </p:tav>
                                      </p:tavLst>
                                    </p:anim>
                                    <p:anim calcmode="lin" valueType="num">
                                      <p:cBhvr>
                                        <p:cTn id="9" dur="500" fill="hold"/>
                                        <p:tgtEl>
                                          <p:spTgt spid="125115368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26</Slides>
  <Notes>26</Notes>
  <HiddenSlides>0</HiddenSlides>
  <MMClips>2</MMClips>
  <ScaleCrop>0</ScaleCrop>
  <HeadingPairs>
    <vt:vector size="4" baseType="variant">
      <vt:variant>
        <vt:lpstr>Theme</vt:lpstr>
      </vt:variant>
      <vt:variant>
        <vt:i4>1</vt:i4>
      </vt:variant>
      <vt:variant>
        <vt:lpstr>Slide Titles</vt:lpstr>
      </vt:variant>
      <vt:variant>
        <vt:i4>26</vt:i4>
      </vt:variant>
    </vt:vector>
  </HeadingPairs>
  <TitlesOfParts>
    <vt:vector size="2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identifier>DAHK23U-YQM</dc:identifier>
  <cp:lastModifiedBy/>
  <cp:revision>64</cp:revision>
  <dcterms:created xsi:type="dcterms:W3CDTF">2006-08-16T00:00:00Z</dcterms:created>
  <dcterms:modified xsi:type="dcterms:W3CDTF">2026-05-29T12:43:38Z</dcterms:modified>
</cp:coreProperties>
</file>